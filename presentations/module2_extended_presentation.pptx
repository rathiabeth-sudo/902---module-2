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extended deck explains Module 2 from first principles: what antennas and slot / DGS antennas are, why AI helps, which inputs the models use, the stage-by-stage pipeline, every executed output, and what it means for engineers. All numbers come from the executed runs in the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moves from physics to data to AI to engineering value. Yellow bubbles like this one carry the presenter's explanation for each slide; the same text is in the speaker notes. Every number shown later is read from the executed results, not typed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judge an antenna by where it resonates, how well it is matched (S11), how wide its usable band is, and how much power it radiates (gain, efficiency). These same quantities are what Module 2's AI learns to predict from the design dimensions. −10 dB S11 is the standard matching criterion; the −20 dB 'High' class is a project assumption.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 patch has three main dimensions; a hybrid-slotted DGS antenna has dozens (slot lengths, widths, offsets, DGS shape). Every extra dimension multiplies the number of full-wave simulations needed to explore the design. That combinatorial growth is exactly where a fast AI surrogate earns its place. The target topology here is hybrid-slotted DGS; the executed prototype uses public patch and dual-slot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does not replace the solver: it learns from solver results, then screens new candidates almost instantly. Speeds on this slide were measured on the project laptop (src/timing.py). Only the short-listed designs go back to full-wave simulation, so fewer expensive runs are needed. The orange step is required: AI proposals are hypotheses until simulated and measured.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is a fixed sequence of stages, each a script in the repository, so anyone can rerun it end to end. Stages 1-5 are classic supervised machine learning on tabular data. Stage 6 is where text enters: the AI's numbers are turned into readable engineering sentences. Stage 7 links to Module 1 (image features) and searches for new designs.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is a numerical-text module: its inputs are numbers and its text is an output. So linguistic analysis of input text (tokenising, parsing, sentiment) is not used - there is no input text to analyse. The 'semantic' step happens when writing: rules decide what a number means for an engineer (in n78? matched?). Vectorisation is numeric: each design becomes a vector the models can learn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public HFSS dataset of hybrid-slotted DGS antennas exists, so two verified public simulation datasets stand in. The patch sweep gives full S11 curves; the Mendeley set adds slots, gain and efficiency. Raw files are re-downloaded by script with checksums, so the data trail is reproducible. Module 2 uses the same locked split as Module 1, so test results refer to the same designs.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numeric data, 'noise removal' means finding values that cannot be physical and handling them by a fixed, documented rule. Rows are flagged rather than silently deleted, so the decision can be audited. Reducing each 1,000-point curve to four engineering targets removes ripple and keeps what engineers care about.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features in the machine-learning sense: the numbers the model receives. Patch models use 5 inputs; the slotted (Mendeley) models use 10 dimensions plus frequency. Engineered ratios (W/L, feed ratio) encode physics the trees would otherwise have to discover. The image embedding is used only in the fusion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Vectorisation turns each design into a fixed-length list of numbers. Linear models and the MLP need standardised inputs (mean 0, SD 1, fitted on training data only); trees do not. For fusion, the 384 image numbers and 5 design numbers are joined into one 389-number vector. Right chart: permutation importance - every input matters, length most for resonance.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model families compete; the one with the lowest validation error wins - here the random forest for every target. The test split is used once, after the choice, so the reported accuracy is not tuned to it. GroupKFold keeps all 16 frequencies of a Mendeley design in the same fold, preventing leakage. NSGA-II is not trained: it searches using the trained surrogates.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Resonance is predicted well (R² 0.89, error 0.35 GHz) and bandwidth well (R² 0.83). Matching depth (S11) is harder (R² 0.54) because it changes sharply with feed impedance. On wider, unseen patches (OOD) accuracy collapses - surrogates are only trustworthy inside their training range. Dots close to the red line = accurate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slotted antenna the forests predict S11, gain and radiation efficiency from the 10 dimensions and frequency. Adding the slot and substrate dimensions roughly halves the error of a frequency-only model - the geometry matters. Scores are optimistic: the data vary one dimension at a time around one design (grouped 5-fold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read sentences faster than tables, so each prediction is also written as a short summary. This is data-to-text generation with rules and templates - deliberately not a large language model, which could invent values. Each summary puts prediction and simulation side by side and ends by asking for full-wave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predict the matching class (Poor / Acceptable / High). Fusion scored 0.737, below the image embedding alone (0.775), so the pre-registered hypothesis H6 is not supported. The image-only MLP beats Module 1's own ViT head (0.581): the ViT features are better than its classifier suggested. Adding 5 numbers to 384 image numbers added redundancy rather than new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NSGA-II found 100 trade-off designs, from 299 to 2754 mm². Each dot is a compromise: smaller area costs bandwidth or match depth. All proposals sit close to simulated designs (median 0.08 SD) - interpolations, not miracles. These are predictions only: NOT simulated. They are a shortlist for HFSS.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changes where the engineer spends time: less waiting for sweeps, more judging a ranked shortlist. It complements, not replaces, HFSS - every promising design is still simulated and measured. The out-of-distribution test shows engineers exactly when not to trust the surrogate. Text summaries make results readable for non-specialists and reports.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E1-E3 are the planned evaluation criteria; H6 was pre-registered before any fusion result existed. Three criteria met, one hypothesis not supported - reported as found, not adjusted. The limitations define the next step: a proper HFSS hybrid-slotted DGS dataset.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shows that parameter-based AI surrogates can screen antenna designs in milliseconds, explain themselves in plain text, and propose candidates for a 5G band - with clear limits. The next step is the HFSS hybrid-slotted DGS dataset.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are cited with their licences, as their terms require. Reiter &amp; Dale describe the data-to-text pipeline (content selection, realisation) used for the summaries. Full reference list and DOIs are in the Module 2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A4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CFE2F3"/>
                </a:solidFill>
                <a:latin typeface="Calibri"/>
              </a:rPr>
              <a:t>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FFFFFF"/>
                </a:solidFill>
                <a:latin typeface="Calibri"/>
              </a:rPr>
              <a:t>Fast, explainable antenna screening with AI</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CFE2F3"/>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CFE2F3"/>
                </a:solidFill>
                <a:latin typeface="Calibri"/>
              </a:rPr>
              <a:t>1 / 21</a:t>
            </a:r>
          </a:p>
        </p:txBody>
      </p:sp>
      <p:sp>
        <p:nvSpPr>
          <p:cNvPr id="6" name="TextBox 5"/>
          <p:cNvSpPr txBox="1"/>
          <p:nvPr/>
        </p:nvSpPr>
        <p:spPr>
          <a:xfrm>
            <a:off x="548640" y="1371600"/>
            <a:ext cx="10789920" cy="914400"/>
          </a:xfrm>
          <a:prstGeom prst="rect">
            <a:avLst/>
          </a:prstGeom>
          <a:noFill/>
        </p:spPr>
        <p:txBody>
          <a:bodyPr wrap="square" anchor="t" lIns="45720" rIns="45720">
            <a:spAutoFit/>
          </a:bodyPr>
          <a:lstStyle/>
          <a:p>
            <a:pPr algn="l"/>
            <a:r>
              <a:rPr sz="1800" b="0">
                <a:solidFill>
                  <a:srgbClr val="CFE2F3"/>
                </a:solidFill>
                <a:latin typeface="Calibri"/>
              </a:rPr>
              <a:t>Module 2 - Numerical-Text Surrogate Modelling, Multimodal Fusion and NSGA-II Optimisation of Compact Patch Antennas for 5G and Emerging 6G Networks (extended presentation)</a:t>
            </a:r>
          </a:p>
        </p:txBody>
      </p:sp>
      <p:sp>
        <p:nvSpPr>
          <p:cNvPr id="7" name="Rounded Rectangle 6"/>
          <p:cNvSpPr/>
          <p:nvPr/>
        </p:nvSpPr>
        <p:spPr>
          <a:xfrm>
            <a:off x="548640" y="2514600"/>
            <a:ext cx="2606040" cy="141732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06040"/>
            <a:ext cx="2377440" cy="640080"/>
          </a:xfrm>
          <a:prstGeom prst="rect">
            <a:avLst/>
          </a:prstGeom>
          <a:noFill/>
        </p:spPr>
        <p:txBody>
          <a:bodyPr wrap="square" anchor="t" lIns="45720" rIns="45720">
            <a:spAutoFit/>
          </a:bodyPr>
          <a:lstStyle/>
          <a:p>
            <a:pPr algn="l"/>
            <a:r>
              <a:rPr sz="3400" b="1">
                <a:solidFill>
                  <a:srgbClr val="FFFFFF"/>
                </a:solidFill>
                <a:latin typeface="Calibri"/>
              </a:rPr>
              <a:t>2,051</a:t>
            </a:r>
          </a:p>
        </p:txBody>
      </p:sp>
      <p:sp>
        <p:nvSpPr>
          <p:cNvPr id="9" name="TextBox 8"/>
          <p:cNvSpPr txBox="1"/>
          <p:nvPr/>
        </p:nvSpPr>
        <p:spPr>
          <a:xfrm>
            <a:off x="731520" y="3291840"/>
            <a:ext cx="2377440" cy="548640"/>
          </a:xfrm>
          <a:prstGeom prst="rect">
            <a:avLst/>
          </a:prstGeom>
          <a:noFill/>
        </p:spPr>
        <p:txBody>
          <a:bodyPr wrap="square" anchor="t" lIns="45720" rIns="45720">
            <a:spAutoFit/>
          </a:bodyPr>
          <a:lstStyle/>
          <a:p>
            <a:pPr algn="l"/>
            <a:r>
              <a:rPr sz="1400" b="0">
                <a:solidFill>
                  <a:srgbClr val="CFE2F3"/>
                </a:solidFill>
                <a:latin typeface="Calibri"/>
              </a:rPr>
              <a:t>simulated patch designs</a:t>
            </a:r>
          </a:p>
        </p:txBody>
      </p:sp>
      <p:sp>
        <p:nvSpPr>
          <p:cNvPr id="10" name="Rounded Rectangle 9"/>
          <p:cNvSpPr/>
          <p:nvPr/>
        </p:nvSpPr>
        <p:spPr>
          <a:xfrm>
            <a:off x="3383280" y="2514600"/>
            <a:ext cx="2606040" cy="141732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2606040"/>
            <a:ext cx="2377440" cy="640080"/>
          </a:xfrm>
          <a:prstGeom prst="rect">
            <a:avLst/>
          </a:prstGeom>
          <a:noFill/>
        </p:spPr>
        <p:txBody>
          <a:bodyPr wrap="square" anchor="t" lIns="45720" rIns="45720">
            <a:spAutoFit/>
          </a:bodyPr>
          <a:lstStyle/>
          <a:p>
            <a:pPr algn="l"/>
            <a:r>
              <a:rPr sz="3400" b="1">
                <a:solidFill>
                  <a:srgbClr val="FFFFFF"/>
                </a:solidFill>
                <a:latin typeface="Calibri"/>
              </a:rPr>
              <a:t>103 × 16</a:t>
            </a:r>
          </a:p>
        </p:txBody>
      </p:sp>
      <p:sp>
        <p:nvSpPr>
          <p:cNvPr id="12" name="TextBox 11"/>
          <p:cNvSpPr txBox="1"/>
          <p:nvPr/>
        </p:nvSpPr>
        <p:spPr>
          <a:xfrm>
            <a:off x="3566160" y="3291840"/>
            <a:ext cx="2377440" cy="548640"/>
          </a:xfrm>
          <a:prstGeom prst="rect">
            <a:avLst/>
          </a:prstGeom>
          <a:noFill/>
        </p:spPr>
        <p:txBody>
          <a:bodyPr wrap="square" anchor="t" lIns="45720" rIns="45720">
            <a:spAutoFit/>
          </a:bodyPr>
          <a:lstStyle/>
          <a:p>
            <a:pPr algn="l"/>
            <a:r>
              <a:rPr sz="1400" b="0">
                <a:solidFill>
                  <a:srgbClr val="CFE2F3"/>
                </a:solidFill>
                <a:latin typeface="Calibri"/>
              </a:rPr>
              <a:t>slotted designs × frequencies</a:t>
            </a:r>
          </a:p>
        </p:txBody>
      </p:sp>
      <p:sp>
        <p:nvSpPr>
          <p:cNvPr id="13" name="Rounded Rectangle 12"/>
          <p:cNvSpPr/>
          <p:nvPr/>
        </p:nvSpPr>
        <p:spPr>
          <a:xfrm>
            <a:off x="6217920" y="2514600"/>
            <a:ext cx="2606040" cy="141732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606040"/>
            <a:ext cx="2377440" cy="640080"/>
          </a:xfrm>
          <a:prstGeom prst="rect">
            <a:avLst/>
          </a:prstGeom>
          <a:noFill/>
        </p:spPr>
        <p:txBody>
          <a:bodyPr wrap="square" anchor="t" lIns="45720" rIns="45720">
            <a:spAutoFit/>
          </a:bodyPr>
          <a:lstStyle/>
          <a:p>
            <a:pPr algn="l"/>
            <a:r>
              <a:rPr sz="3400" b="1">
                <a:solidFill>
                  <a:srgbClr val="FFFFFF"/>
                </a:solidFill>
                <a:latin typeface="Calibri"/>
              </a:rPr>
              <a:t>R² 0.89</a:t>
            </a:r>
          </a:p>
        </p:txBody>
      </p:sp>
      <p:sp>
        <p:nvSpPr>
          <p:cNvPr id="15" name="TextBox 14"/>
          <p:cNvSpPr txBox="1"/>
          <p:nvPr/>
        </p:nvSpPr>
        <p:spPr>
          <a:xfrm>
            <a:off x="6400800" y="3291840"/>
            <a:ext cx="2377440" cy="548640"/>
          </a:xfrm>
          <a:prstGeom prst="rect">
            <a:avLst/>
          </a:prstGeom>
          <a:noFill/>
        </p:spPr>
        <p:txBody>
          <a:bodyPr wrap="square" anchor="t" lIns="45720" rIns="45720">
            <a:spAutoFit/>
          </a:bodyPr>
          <a:lstStyle/>
          <a:p>
            <a:pPr algn="l"/>
            <a:r>
              <a:rPr sz="1400" b="0">
                <a:solidFill>
                  <a:srgbClr val="CFE2F3"/>
                </a:solidFill>
                <a:latin typeface="Calibri"/>
              </a:rPr>
              <a:t>resonance prediction (test)</a:t>
            </a:r>
          </a:p>
        </p:txBody>
      </p:sp>
      <p:sp>
        <p:nvSpPr>
          <p:cNvPr id="16" name="Rounded Rectangle 15"/>
          <p:cNvSpPr/>
          <p:nvPr/>
        </p:nvSpPr>
        <p:spPr>
          <a:xfrm>
            <a:off x="9052560" y="2514600"/>
            <a:ext cx="2606040" cy="141732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2606040"/>
            <a:ext cx="2377440" cy="640080"/>
          </a:xfrm>
          <a:prstGeom prst="rect">
            <a:avLst/>
          </a:prstGeom>
          <a:noFill/>
        </p:spPr>
        <p:txBody>
          <a:bodyPr wrap="square" anchor="t" lIns="45720" rIns="45720">
            <a:spAutoFit/>
          </a:bodyPr>
          <a:lstStyle/>
          <a:p>
            <a:pPr algn="l"/>
            <a:r>
              <a:rPr sz="3400" b="1">
                <a:solidFill>
                  <a:srgbClr val="FFFFFF"/>
                </a:solidFill>
                <a:latin typeface="Calibri"/>
              </a:rPr>
              <a:t>100</a:t>
            </a:r>
          </a:p>
        </p:txBody>
      </p:sp>
      <p:sp>
        <p:nvSpPr>
          <p:cNvPr id="18" name="TextBox 17"/>
          <p:cNvSpPr txBox="1"/>
          <p:nvPr/>
        </p:nvSpPr>
        <p:spPr>
          <a:xfrm>
            <a:off x="9235440" y="3291840"/>
            <a:ext cx="2377440" cy="548640"/>
          </a:xfrm>
          <a:prstGeom prst="rect">
            <a:avLst/>
          </a:prstGeom>
          <a:noFill/>
        </p:spPr>
        <p:txBody>
          <a:bodyPr wrap="square" anchor="t" lIns="45720" rIns="45720">
            <a:spAutoFit/>
          </a:bodyPr>
          <a:lstStyle/>
          <a:p>
            <a:pPr algn="l"/>
            <a:r>
              <a:rPr sz="1400" b="0">
                <a:solidFill>
                  <a:srgbClr val="CFE2F3"/>
                </a:solidFill>
                <a:latin typeface="Calibri"/>
              </a:rPr>
              <a:t>AI design proposals for 5G n78</a:t>
            </a:r>
          </a:p>
        </p:txBody>
      </p:sp>
      <p:sp>
        <p:nvSpPr>
          <p:cNvPr id="19" name="TextBox 18"/>
          <p:cNvSpPr txBox="1"/>
          <p:nvPr/>
        </p:nvSpPr>
        <p:spPr>
          <a:xfrm>
            <a:off x="548640" y="4343400"/>
            <a:ext cx="10789920" cy="1097280"/>
          </a:xfrm>
          <a:prstGeom prst="rect">
            <a:avLst/>
          </a:prstGeom>
          <a:noFill/>
        </p:spPr>
        <p:txBody>
          <a:bodyPr wrap="square" anchor="t" lIns="45720" rIns="45720">
            <a:spAutoFit/>
          </a:bodyPr>
          <a:lstStyle/>
          <a:p>
            <a:pPr algn="l"/>
            <a:r>
              <a:rPr sz="2000" b="1">
                <a:solidFill>
                  <a:srgbClr val="FFFFFF"/>
                </a:solidFill>
                <a:latin typeface="Calibri"/>
              </a:rPr>
              <a:t>Ms. Rathi Devadhas</a:t>
            </a:r>
          </a:p>
          <a:p>
            <a:pPr algn="l"/>
            <a:r>
              <a:rPr sz="1500" b="0">
                <a:solidFill>
                  <a:srgbClr val="CFE2F3"/>
                </a:solidFill>
                <a:latin typeface="Calibri"/>
              </a:rPr>
              <a:t>Student ID 1737089  ·  Master of Applied Artificial Intelligence  ·  28 October 2026</a:t>
            </a:r>
          </a:p>
          <a:p>
            <a:pPr algn="l"/>
            <a:r>
              <a:rPr sz="1300" b="0">
                <a:solidFill>
                  <a:srgbClr val="CFE2F3"/>
                </a:solidFill>
                <a:latin typeface="Calibri"/>
              </a:rPr>
              <a:t>https://github.com/rathiabeth-sudo/902---Module-2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OVERVIEW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Agenda</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2 / 21</a:t>
            </a:r>
          </a:p>
        </p:txBody>
      </p:sp>
      <p:sp>
        <p:nvSpPr>
          <p:cNvPr id="6" name="Rounded Rectangle 5"/>
          <p:cNvSpPr/>
          <p:nvPr/>
        </p:nvSpPr>
        <p:spPr>
          <a:xfrm>
            <a:off x="548640" y="1463040"/>
            <a:ext cx="3749039" cy="1261872"/>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37360"/>
            <a:ext cx="685800" cy="685800"/>
          </a:xfrm>
          <a:prstGeom prst="ellipse">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t>1</a:t>
            </a:r>
          </a:p>
        </p:txBody>
      </p:sp>
      <p:sp>
        <p:nvSpPr>
          <p:cNvPr id="8" name="TextBox 7"/>
          <p:cNvSpPr txBox="1"/>
          <p:nvPr/>
        </p:nvSpPr>
        <p:spPr>
          <a:xfrm>
            <a:off x="1600200" y="1645920"/>
            <a:ext cx="2606040" cy="411480"/>
          </a:xfrm>
          <a:prstGeom prst="rect">
            <a:avLst/>
          </a:prstGeom>
          <a:noFill/>
        </p:spPr>
        <p:txBody>
          <a:bodyPr wrap="square" anchor="t" lIns="45720" rIns="45720">
            <a:spAutoFit/>
          </a:bodyPr>
          <a:lstStyle/>
          <a:p>
            <a:pPr algn="l"/>
            <a:r>
              <a:rPr sz="1700" b="1">
                <a:solidFill>
                  <a:srgbClr val="0B2A4A"/>
                </a:solidFill>
                <a:latin typeface="Calibri"/>
              </a:rPr>
              <a:t>Antenna basics</a:t>
            </a:r>
          </a:p>
        </p:txBody>
      </p:sp>
      <p:sp>
        <p:nvSpPr>
          <p:cNvPr id="9" name="TextBox 8"/>
          <p:cNvSpPr txBox="1"/>
          <p:nvPr/>
        </p:nvSpPr>
        <p:spPr>
          <a:xfrm>
            <a:off x="1600200" y="2057400"/>
            <a:ext cx="2606040" cy="640080"/>
          </a:xfrm>
          <a:prstGeom prst="rect">
            <a:avLst/>
          </a:prstGeom>
          <a:noFill/>
        </p:spPr>
        <p:txBody>
          <a:bodyPr wrap="square" anchor="t" lIns="45720" rIns="45720">
            <a:spAutoFit/>
          </a:bodyPr>
          <a:lstStyle/>
          <a:p>
            <a:pPr algn="l"/>
            <a:r>
              <a:rPr sz="1300" b="0">
                <a:solidFill>
                  <a:srgbClr val="5F6B76"/>
                </a:solidFill>
                <a:latin typeface="Calibri"/>
              </a:rPr>
              <a:t>antenna, slot antenna, hybrid-slotted DGS antenna</a:t>
            </a:r>
          </a:p>
        </p:txBody>
      </p:sp>
      <p:sp>
        <p:nvSpPr>
          <p:cNvPr id="10" name="Rounded Rectangle 9"/>
          <p:cNvSpPr/>
          <p:nvPr/>
        </p:nvSpPr>
        <p:spPr>
          <a:xfrm>
            <a:off x="4526279" y="1463040"/>
            <a:ext cx="3749039" cy="1261872"/>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09159" y="1737360"/>
            <a:ext cx="685800" cy="685800"/>
          </a:xfrm>
          <a:prstGeom prst="ellipse">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t>2</a:t>
            </a:r>
          </a:p>
        </p:txBody>
      </p:sp>
      <p:sp>
        <p:nvSpPr>
          <p:cNvPr id="12" name="TextBox 11"/>
          <p:cNvSpPr txBox="1"/>
          <p:nvPr/>
        </p:nvSpPr>
        <p:spPr>
          <a:xfrm>
            <a:off x="5577839" y="1645920"/>
            <a:ext cx="2606040" cy="411480"/>
          </a:xfrm>
          <a:prstGeom prst="rect">
            <a:avLst/>
          </a:prstGeom>
          <a:noFill/>
        </p:spPr>
        <p:txBody>
          <a:bodyPr wrap="square" anchor="t" lIns="45720" rIns="45720">
            <a:spAutoFit/>
          </a:bodyPr>
          <a:lstStyle/>
          <a:p>
            <a:pPr algn="l"/>
            <a:r>
              <a:rPr sz="1700" b="1">
                <a:solidFill>
                  <a:srgbClr val="0B2A4A"/>
                </a:solidFill>
                <a:latin typeface="Calibri"/>
              </a:rPr>
              <a:t>Why AI for antenna design</a:t>
            </a:r>
          </a:p>
        </p:txBody>
      </p:sp>
      <p:sp>
        <p:nvSpPr>
          <p:cNvPr id="13" name="TextBox 12"/>
          <p:cNvSpPr txBox="1"/>
          <p:nvPr/>
        </p:nvSpPr>
        <p:spPr>
          <a:xfrm>
            <a:off x="5577839" y="2057400"/>
            <a:ext cx="2606040" cy="640080"/>
          </a:xfrm>
          <a:prstGeom prst="rect">
            <a:avLst/>
          </a:prstGeom>
          <a:noFill/>
        </p:spPr>
        <p:txBody>
          <a:bodyPr wrap="square" anchor="t" lIns="45720" rIns="45720">
            <a:spAutoFit/>
          </a:bodyPr>
          <a:lstStyle/>
          <a:p>
            <a:pPr algn="l"/>
            <a:r>
              <a:rPr sz="1300" b="0">
                <a:solidFill>
                  <a:srgbClr val="5F6B76"/>
                </a:solidFill>
                <a:latin typeface="Calibri"/>
              </a:rPr>
              <a:t>conventional loop vs AI-assisted screening</a:t>
            </a:r>
          </a:p>
        </p:txBody>
      </p:sp>
      <p:sp>
        <p:nvSpPr>
          <p:cNvPr id="14" name="Rounded Rectangle 13"/>
          <p:cNvSpPr/>
          <p:nvPr/>
        </p:nvSpPr>
        <p:spPr>
          <a:xfrm>
            <a:off x="548640" y="2926080"/>
            <a:ext cx="3749039" cy="1261872"/>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3200400"/>
            <a:ext cx="685800" cy="685800"/>
          </a:xfrm>
          <a:prstGeom prst="ellipse">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t>3</a:t>
            </a:r>
          </a:p>
        </p:txBody>
      </p:sp>
      <p:sp>
        <p:nvSpPr>
          <p:cNvPr id="16" name="TextBox 15"/>
          <p:cNvSpPr txBox="1"/>
          <p:nvPr/>
        </p:nvSpPr>
        <p:spPr>
          <a:xfrm>
            <a:off x="1600200" y="3108960"/>
            <a:ext cx="2606040" cy="411480"/>
          </a:xfrm>
          <a:prstGeom prst="rect">
            <a:avLst/>
          </a:prstGeom>
          <a:noFill/>
        </p:spPr>
        <p:txBody>
          <a:bodyPr wrap="square" anchor="t" lIns="45720" rIns="45720">
            <a:spAutoFit/>
          </a:bodyPr>
          <a:lstStyle/>
          <a:p>
            <a:pPr algn="l"/>
            <a:r>
              <a:rPr sz="1700" b="1">
                <a:solidFill>
                  <a:srgbClr val="0B2A4A"/>
                </a:solidFill>
                <a:latin typeface="Calibri"/>
              </a:rPr>
              <a:t>Pipeline stages</a:t>
            </a:r>
          </a:p>
        </p:txBody>
      </p:sp>
      <p:sp>
        <p:nvSpPr>
          <p:cNvPr id="17" name="TextBox 16"/>
          <p:cNvSpPr txBox="1"/>
          <p:nvPr/>
        </p:nvSpPr>
        <p:spPr>
          <a:xfrm>
            <a:off x="1600200" y="3520440"/>
            <a:ext cx="2606040" cy="640080"/>
          </a:xfrm>
          <a:prstGeom prst="rect">
            <a:avLst/>
          </a:prstGeom>
          <a:noFill/>
        </p:spPr>
        <p:txBody>
          <a:bodyPr wrap="square" anchor="t" lIns="45720" rIns="45720">
            <a:spAutoFit/>
          </a:bodyPr>
          <a:lstStyle/>
          <a:p>
            <a:pPr algn="l"/>
            <a:r>
              <a:rPr sz="1300" b="0">
                <a:solidFill>
                  <a:srgbClr val="5F6B76"/>
                </a:solidFill>
                <a:latin typeface="Calibri"/>
              </a:rPr>
              <a:t>acquisition → cleaning → vectorisation → training → text</a:t>
            </a:r>
          </a:p>
        </p:txBody>
      </p:sp>
      <p:sp>
        <p:nvSpPr>
          <p:cNvPr id="18" name="Rounded Rectangle 17"/>
          <p:cNvSpPr/>
          <p:nvPr/>
        </p:nvSpPr>
        <p:spPr>
          <a:xfrm>
            <a:off x="4526279" y="2926080"/>
            <a:ext cx="3749039" cy="1261872"/>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09159" y="3200400"/>
            <a:ext cx="685800" cy="685800"/>
          </a:xfrm>
          <a:prstGeom prst="ellipse">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t>4</a:t>
            </a:r>
          </a:p>
        </p:txBody>
      </p:sp>
      <p:sp>
        <p:nvSpPr>
          <p:cNvPr id="20" name="TextBox 19"/>
          <p:cNvSpPr txBox="1"/>
          <p:nvPr/>
        </p:nvSpPr>
        <p:spPr>
          <a:xfrm>
            <a:off x="5577839" y="3108960"/>
            <a:ext cx="2606040" cy="411480"/>
          </a:xfrm>
          <a:prstGeom prst="rect">
            <a:avLst/>
          </a:prstGeom>
          <a:noFill/>
        </p:spPr>
        <p:txBody>
          <a:bodyPr wrap="square" anchor="t" lIns="45720" rIns="45720">
            <a:spAutoFit/>
          </a:bodyPr>
          <a:lstStyle/>
          <a:p>
            <a:pPr algn="l"/>
            <a:r>
              <a:rPr sz="1700" b="1">
                <a:solidFill>
                  <a:srgbClr val="0B2A4A"/>
                </a:solidFill>
                <a:latin typeface="Calibri"/>
              </a:rPr>
              <a:t>Inputs and features</a:t>
            </a:r>
          </a:p>
        </p:txBody>
      </p:sp>
      <p:sp>
        <p:nvSpPr>
          <p:cNvPr id="21" name="TextBox 20"/>
          <p:cNvSpPr txBox="1"/>
          <p:nvPr/>
        </p:nvSpPr>
        <p:spPr>
          <a:xfrm>
            <a:off x="5577839" y="3520440"/>
            <a:ext cx="2606040" cy="640080"/>
          </a:xfrm>
          <a:prstGeom prst="rect">
            <a:avLst/>
          </a:prstGeom>
          <a:noFill/>
        </p:spPr>
        <p:txBody>
          <a:bodyPr wrap="square" anchor="t" lIns="45720" rIns="45720">
            <a:spAutoFit/>
          </a:bodyPr>
          <a:lstStyle/>
          <a:p>
            <a:pPr algn="l"/>
            <a:r>
              <a:rPr sz="1300" b="0">
                <a:solidFill>
                  <a:srgbClr val="5F6B76"/>
                </a:solidFill>
                <a:latin typeface="Calibri"/>
              </a:rPr>
              <a:t>what the AI sees, and why each parameter matters</a:t>
            </a:r>
          </a:p>
        </p:txBody>
      </p:sp>
      <p:sp>
        <p:nvSpPr>
          <p:cNvPr id="22" name="Rounded Rectangle 21"/>
          <p:cNvSpPr/>
          <p:nvPr/>
        </p:nvSpPr>
        <p:spPr>
          <a:xfrm>
            <a:off x="548640" y="4389120"/>
            <a:ext cx="3749039" cy="1261872"/>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4663440"/>
            <a:ext cx="685800" cy="685800"/>
          </a:xfrm>
          <a:prstGeom prst="ellipse">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t>5</a:t>
            </a:r>
          </a:p>
        </p:txBody>
      </p:sp>
      <p:sp>
        <p:nvSpPr>
          <p:cNvPr id="24" name="TextBox 23"/>
          <p:cNvSpPr txBox="1"/>
          <p:nvPr/>
        </p:nvSpPr>
        <p:spPr>
          <a:xfrm>
            <a:off x="1600200" y="4572000"/>
            <a:ext cx="2606040" cy="411480"/>
          </a:xfrm>
          <a:prstGeom prst="rect">
            <a:avLst/>
          </a:prstGeom>
          <a:noFill/>
        </p:spPr>
        <p:txBody>
          <a:bodyPr wrap="square" anchor="t" lIns="45720" rIns="45720">
            <a:spAutoFit/>
          </a:bodyPr>
          <a:lstStyle/>
          <a:p>
            <a:pPr algn="l"/>
            <a:r>
              <a:rPr sz="1700" b="1">
                <a:solidFill>
                  <a:srgbClr val="0B2A4A"/>
                </a:solidFill>
                <a:latin typeface="Calibri"/>
              </a:rPr>
              <a:t>Outputs</a:t>
            </a:r>
          </a:p>
        </p:txBody>
      </p:sp>
      <p:sp>
        <p:nvSpPr>
          <p:cNvPr id="25" name="TextBox 24"/>
          <p:cNvSpPr txBox="1"/>
          <p:nvPr/>
        </p:nvSpPr>
        <p:spPr>
          <a:xfrm>
            <a:off x="1600200" y="4983480"/>
            <a:ext cx="2606040" cy="640080"/>
          </a:xfrm>
          <a:prstGeom prst="rect">
            <a:avLst/>
          </a:prstGeom>
          <a:noFill/>
        </p:spPr>
        <p:txBody>
          <a:bodyPr wrap="square" anchor="t" lIns="45720" rIns="45720">
            <a:spAutoFit/>
          </a:bodyPr>
          <a:lstStyle/>
          <a:p>
            <a:pPr algn="l"/>
            <a:r>
              <a:rPr sz="1300" b="0">
                <a:solidFill>
                  <a:srgbClr val="5F6B76"/>
                </a:solidFill>
                <a:latin typeface="Calibri"/>
              </a:rPr>
              <a:t>surrogate accuracy, text summaries, fusion, NSGA-II designs</a:t>
            </a:r>
          </a:p>
        </p:txBody>
      </p:sp>
      <p:sp>
        <p:nvSpPr>
          <p:cNvPr id="26" name="Rounded Rectangle 25"/>
          <p:cNvSpPr/>
          <p:nvPr/>
        </p:nvSpPr>
        <p:spPr>
          <a:xfrm>
            <a:off x="4526279" y="4389120"/>
            <a:ext cx="3749039" cy="1261872"/>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09159" y="4663440"/>
            <a:ext cx="685800" cy="685800"/>
          </a:xfrm>
          <a:prstGeom prst="ellipse">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t>6</a:t>
            </a:r>
          </a:p>
        </p:txBody>
      </p:sp>
      <p:sp>
        <p:nvSpPr>
          <p:cNvPr id="28" name="TextBox 27"/>
          <p:cNvSpPr txBox="1"/>
          <p:nvPr/>
        </p:nvSpPr>
        <p:spPr>
          <a:xfrm>
            <a:off x="5577839" y="4572000"/>
            <a:ext cx="2606040" cy="411480"/>
          </a:xfrm>
          <a:prstGeom prst="rect">
            <a:avLst/>
          </a:prstGeom>
          <a:noFill/>
        </p:spPr>
        <p:txBody>
          <a:bodyPr wrap="square" anchor="t" lIns="45720" rIns="45720">
            <a:spAutoFit/>
          </a:bodyPr>
          <a:lstStyle/>
          <a:p>
            <a:pPr algn="l"/>
            <a:r>
              <a:rPr sz="1700" b="1">
                <a:solidFill>
                  <a:srgbClr val="0B2A4A"/>
                </a:solidFill>
                <a:latin typeface="Calibri"/>
              </a:rPr>
              <a:t>Value for engineers</a:t>
            </a:r>
          </a:p>
        </p:txBody>
      </p:sp>
      <p:sp>
        <p:nvSpPr>
          <p:cNvPr id="29" name="TextBox 28"/>
          <p:cNvSpPr txBox="1"/>
          <p:nvPr/>
        </p:nvSpPr>
        <p:spPr>
          <a:xfrm>
            <a:off x="5577839" y="4983480"/>
            <a:ext cx="2606040" cy="640080"/>
          </a:xfrm>
          <a:prstGeom prst="rect">
            <a:avLst/>
          </a:prstGeom>
          <a:noFill/>
        </p:spPr>
        <p:txBody>
          <a:bodyPr wrap="square" anchor="t" lIns="45720" rIns="45720">
            <a:spAutoFit/>
          </a:bodyPr>
          <a:lstStyle/>
          <a:p>
            <a:pPr algn="l"/>
            <a:r>
              <a:rPr sz="1300" b="0">
                <a:solidFill>
                  <a:srgbClr val="5F6B76"/>
                </a:solidFill>
                <a:latin typeface="Calibri"/>
              </a:rPr>
              <a:t>benefits, limits and the path to HFSS validation</a:t>
            </a:r>
          </a:p>
        </p:txBody>
      </p:sp>
      <p:sp>
        <p:nvSpPr>
          <p:cNvPr id="30" name="Note bubble"/>
          <p:cNvSpPr/>
          <p:nvPr/>
        </p:nvSpPr>
        <p:spPr>
          <a:xfrm>
            <a:off x="8641080" y="1417320"/>
            <a:ext cx="3017520" cy="3035808"/>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The deck moves from physics to data to AI to engineering value.</a:t>
            </a:r>
          </a:p>
          <a:p>
            <a:pPr>
              <a:spcBef>
                <a:spcPts val="500"/>
              </a:spcBef>
            </a:pPr>
            <a:r>
              <a:rPr sz="1300">
                <a:solidFill>
                  <a:srgbClr val="0B2A4A"/>
                </a:solidFill>
                <a:latin typeface="Calibri"/>
              </a:rPr>
              <a:t>Yellow bubbles like this one carry the presenter's explanation for each slide; the same text is in the speaker notes.</a:t>
            </a:r>
          </a:p>
          <a:p>
            <a:pPr>
              <a:spcBef>
                <a:spcPts val="500"/>
              </a:spcBef>
            </a:pPr>
            <a:r>
              <a:rPr sz="1300">
                <a:solidFill>
                  <a:srgbClr val="0B2A4A"/>
                </a:solidFill>
                <a:latin typeface="Calibri"/>
              </a:rPr>
              <a:t>Every number shown later is read from the executed results, not typed by 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1 · ANTENNA BASICS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What is an antenna, and how is it judged?</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3 / 21</a:t>
            </a:r>
          </a:p>
        </p:txBody>
      </p:sp>
      <p:sp>
        <p:nvSpPr>
          <p:cNvPr id="6" name="Rounded Rectangle 5"/>
          <p:cNvSpPr/>
          <p:nvPr/>
        </p:nvSpPr>
        <p:spPr>
          <a:xfrm>
            <a:off x="548640" y="1417320"/>
            <a:ext cx="7818120" cy="114300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90472"/>
            <a:ext cx="7543800" cy="365760"/>
          </a:xfrm>
          <a:prstGeom prst="rect">
            <a:avLst/>
          </a:prstGeom>
          <a:noFill/>
        </p:spPr>
        <p:txBody>
          <a:bodyPr wrap="square" anchor="t" lIns="45720" rIns="45720">
            <a:spAutoFit/>
          </a:bodyPr>
          <a:lstStyle/>
          <a:p>
            <a:pPr algn="l"/>
            <a:r>
              <a:rPr sz="1500" b="1">
                <a:solidFill>
                  <a:srgbClr val="2F6FAE"/>
                </a:solidFill>
                <a:latin typeface="Calibri"/>
              </a:rPr>
              <a:t>Definition</a:t>
            </a:r>
          </a:p>
        </p:txBody>
      </p:sp>
      <p:sp>
        <p:nvSpPr>
          <p:cNvPr id="8" name="TextBox 7"/>
          <p:cNvSpPr txBox="1"/>
          <p:nvPr/>
        </p:nvSpPr>
        <p:spPr>
          <a:xfrm>
            <a:off x="685800" y="1856232"/>
            <a:ext cx="7543800" cy="640080"/>
          </a:xfrm>
          <a:prstGeom prst="rect">
            <a:avLst/>
          </a:prstGeom>
          <a:noFill/>
        </p:spPr>
        <p:txBody>
          <a:bodyPr wrap="square" anchor="t" lIns="45720" rIns="45720">
            <a:spAutoFit/>
          </a:bodyPr>
          <a:lstStyle/>
          <a:p>
            <a:pPr algn="l"/>
            <a:r>
              <a:rPr sz="1300" b="0">
                <a:solidFill>
                  <a:srgbClr val="0B2A4A"/>
                </a:solidFill>
                <a:latin typeface="Calibri"/>
              </a:rPr>
              <a:t>An antenna converts guided electrical signals into radiated electromagnetic waves (and back). A microstrip patch antenna is a flat copper patch on a dielectric substrate above a ground plane - cheap, thin and easy to print on a PCB.</a:t>
            </a:r>
          </a:p>
        </p:txBody>
      </p:sp>
      <p:graphicFrame>
        <p:nvGraphicFramePr>
          <p:cNvPr id="9" name="Table 8"/>
          <p:cNvGraphicFramePr>
            <a:graphicFrameLocks noGrp="1"/>
          </p:cNvGraphicFramePr>
          <p:nvPr/>
        </p:nvGraphicFramePr>
        <p:xfrm>
          <a:off x="548640" y="2743200"/>
          <a:ext cx="7818120" cy="2752344"/>
        </p:xfrm>
        <a:graphic>
          <a:graphicData uri="http://schemas.openxmlformats.org/drawingml/2006/table">
            <a:tbl>
              <a:tblPr firstRow="1" bandRow="1">
                <a:tableStyleId>{5C22544A-7EE6-4342-B048-85BDC9FD1C3A}</a:tableStyleId>
              </a:tblPr>
              <a:tblGrid>
                <a:gridCol w="2103120"/>
                <a:gridCol w="3520440"/>
                <a:gridCol w="2194560"/>
              </a:tblGrid>
              <a:tr h="393192">
                <a:tc>
                  <a:txBody>
                    <a:bodyPr/>
                    <a:lstStyle/>
                    <a:p>
                      <a:pPr algn="l"/>
                      <a:r>
                        <a:rPr sz="1200" b="1">
                          <a:solidFill>
                            <a:srgbClr val="FFFFFF"/>
                          </a:solidFill>
                          <a:latin typeface="Calibri"/>
                        </a:rPr>
                        <a:t>Performance term</a:t>
                      </a:r>
                    </a:p>
                  </a:txBody>
                  <a:tcPr marT="22000" marB="22000" marL="60000" marR="60000" anchor="ctr">
                    <a:solidFill>
                      <a:srgbClr val="0B2A4A"/>
                    </a:solidFill>
                  </a:tcPr>
                </a:tc>
                <a:tc>
                  <a:txBody>
                    <a:bodyPr/>
                    <a:lstStyle/>
                    <a:p>
                      <a:pPr algn="l"/>
                      <a:r>
                        <a:rPr sz="1200" b="1">
                          <a:solidFill>
                            <a:srgbClr val="FFFFFF"/>
                          </a:solidFill>
                          <a:latin typeface="Calibri"/>
                        </a:rPr>
                        <a:t>What it means</a:t>
                      </a:r>
                    </a:p>
                  </a:txBody>
                  <a:tcPr marT="22000" marB="22000" marL="60000" marR="60000" anchor="ctr">
                    <a:solidFill>
                      <a:srgbClr val="0B2A4A"/>
                    </a:solidFill>
                  </a:tcPr>
                </a:tc>
                <a:tc>
                  <a:txBody>
                    <a:bodyPr/>
                    <a:lstStyle/>
                    <a:p>
                      <a:pPr algn="l"/>
                      <a:r>
                        <a:rPr sz="1200" b="1">
                          <a:solidFill>
                            <a:srgbClr val="FFFFFF"/>
                          </a:solidFill>
                          <a:latin typeface="Calibri"/>
                        </a:rPr>
                        <a:t>Used in this project as</a:t>
                      </a:r>
                    </a:p>
                  </a:txBody>
                  <a:tcPr marT="22000" marB="22000" marL="60000" marR="60000" anchor="ctr">
                    <a:solidFill>
                      <a:srgbClr val="0B2A4A"/>
                    </a:solidFill>
                  </a:tcPr>
                </a:tc>
              </a:tr>
              <a:tr h="393192">
                <a:tc>
                  <a:txBody>
                    <a:bodyPr/>
                    <a:lstStyle/>
                    <a:p>
                      <a:pPr algn="l"/>
                      <a:r>
                        <a:rPr sz="1200" b="1">
                          <a:solidFill>
                            <a:srgbClr val="0B2A4A"/>
                          </a:solidFill>
                          <a:latin typeface="Calibri"/>
                        </a:rPr>
                        <a:t>Resonant frequency f_res</a:t>
                      </a:r>
                    </a:p>
                  </a:txBody>
                  <a:tcPr marT="22000" marB="22000" marL="60000" marR="60000" anchor="ctr">
                    <a:solidFill>
                      <a:srgbClr val="EAF2FA"/>
                    </a:solidFill>
                  </a:tcPr>
                </a:tc>
                <a:tc>
                  <a:txBody>
                    <a:bodyPr/>
                    <a:lstStyle/>
                    <a:p>
                      <a:pPr algn="l"/>
                      <a:r>
                        <a:rPr sz="1200" b="0">
                          <a:solidFill>
                            <a:srgbClr val="0B2A4A"/>
                          </a:solidFill>
                          <a:latin typeface="Calibri"/>
                        </a:rPr>
                        <a:t>frequency where the antenna is matched and radiates best</a:t>
                      </a:r>
                    </a:p>
                  </a:txBody>
                  <a:tcPr marT="22000" marB="22000" marL="60000" marR="60000" anchor="ctr">
                    <a:solidFill>
                      <a:srgbClr val="EAF2FA"/>
                    </a:solidFill>
                  </a:tcPr>
                </a:tc>
                <a:tc>
                  <a:txBody>
                    <a:bodyPr/>
                    <a:lstStyle/>
                    <a:p>
                      <a:pPr algn="l"/>
                      <a:r>
                        <a:rPr sz="1200" b="0">
                          <a:solidFill>
                            <a:srgbClr val="0B2A4A"/>
                          </a:solidFill>
                          <a:latin typeface="Calibri"/>
                        </a:rPr>
                        <a:t>regression target (GHz)</a:t>
                      </a:r>
                    </a:p>
                  </a:txBody>
                  <a:tcPr marT="22000" marB="22000" marL="60000" marR="60000" anchor="ctr">
                    <a:solidFill>
                      <a:srgbClr val="EAF2FA"/>
                    </a:solidFill>
                  </a:tcPr>
                </a:tc>
              </a:tr>
              <a:tr h="393192">
                <a:tc>
                  <a:txBody>
                    <a:bodyPr/>
                    <a:lstStyle/>
                    <a:p>
                      <a:pPr algn="l"/>
                      <a:r>
                        <a:rPr sz="1200" b="1">
                          <a:solidFill>
                            <a:srgbClr val="0B2A4A"/>
                          </a:solidFill>
                          <a:latin typeface="Calibri"/>
                        </a:rPr>
                        <a:t>S11 / return loss</a:t>
                      </a:r>
                    </a:p>
                  </a:txBody>
                  <a:tcPr marT="22000" marB="22000" marL="60000" marR="60000" anchor="ctr">
                    <a:solidFill>
                      <a:srgbClr val="FFFFFF"/>
                    </a:solidFill>
                  </a:tcPr>
                </a:tc>
                <a:tc>
                  <a:txBody>
                    <a:bodyPr/>
                    <a:lstStyle/>
                    <a:p>
                      <a:pPr algn="l"/>
                      <a:r>
                        <a:rPr sz="1200" b="0">
                          <a:solidFill>
                            <a:srgbClr val="0B2A4A"/>
                          </a:solidFill>
                          <a:latin typeface="Calibri"/>
                        </a:rPr>
                        <a:t>share of power reflected back; lower dB = better match</a:t>
                      </a:r>
                    </a:p>
                  </a:txBody>
                  <a:tcPr marT="22000" marB="22000" marL="60000" marR="60000" anchor="ctr">
                    <a:solidFill>
                      <a:srgbClr val="FFFFFF"/>
                    </a:solidFill>
                  </a:tcPr>
                </a:tc>
                <a:tc>
                  <a:txBody>
                    <a:bodyPr/>
                    <a:lstStyle/>
                    <a:p>
                      <a:pPr algn="l"/>
                      <a:r>
                        <a:rPr sz="1200" b="0">
                          <a:solidFill>
                            <a:srgbClr val="0B2A4A"/>
                          </a:solidFill>
                          <a:latin typeface="Calibri"/>
                        </a:rPr>
                        <a:t>target (dB) + class label</a:t>
                      </a:r>
                    </a:p>
                  </a:txBody>
                  <a:tcPr marT="22000" marB="22000" marL="60000" marR="60000" anchor="ctr">
                    <a:solidFill>
                      <a:srgbClr val="FFFFFF"/>
                    </a:solidFill>
                  </a:tcPr>
                </a:tc>
              </a:tr>
              <a:tr h="393192">
                <a:tc>
                  <a:txBody>
                    <a:bodyPr/>
                    <a:lstStyle/>
                    <a:p>
                      <a:pPr algn="l"/>
                      <a:r>
                        <a:rPr sz="1200" b="1">
                          <a:solidFill>
                            <a:srgbClr val="0B2A4A"/>
                          </a:solidFill>
                          <a:latin typeface="Calibri"/>
                        </a:rPr>
                        <a:t>−10 dB bandwidth</a:t>
                      </a:r>
                    </a:p>
                  </a:txBody>
                  <a:tcPr marT="22000" marB="22000" marL="60000" marR="60000" anchor="ctr">
                    <a:solidFill>
                      <a:srgbClr val="EAF2FA"/>
                    </a:solidFill>
                  </a:tcPr>
                </a:tc>
                <a:tc>
                  <a:txBody>
                    <a:bodyPr/>
                    <a:lstStyle/>
                    <a:p>
                      <a:pPr algn="l"/>
                      <a:r>
                        <a:rPr sz="1200" b="0">
                          <a:solidFill>
                            <a:srgbClr val="0B2A4A"/>
                          </a:solidFill>
                          <a:latin typeface="Calibri"/>
                        </a:rPr>
                        <a:t>frequency range with S11 &lt; −10 dB (VSWR ≈ 1.9)</a:t>
                      </a:r>
                    </a:p>
                  </a:txBody>
                  <a:tcPr marT="22000" marB="22000" marL="60000" marR="60000" anchor="ctr">
                    <a:solidFill>
                      <a:srgbClr val="EAF2FA"/>
                    </a:solidFill>
                  </a:tcPr>
                </a:tc>
                <a:tc>
                  <a:txBody>
                    <a:bodyPr/>
                    <a:lstStyle/>
                    <a:p>
                      <a:pPr algn="l"/>
                      <a:r>
                        <a:rPr sz="1200" b="0">
                          <a:solidFill>
                            <a:srgbClr val="0B2A4A"/>
                          </a:solidFill>
                          <a:latin typeface="Calibri"/>
                        </a:rPr>
                        <a:t>regression target (MHz)</a:t>
                      </a:r>
                    </a:p>
                  </a:txBody>
                  <a:tcPr marT="22000" marB="22000" marL="60000" marR="60000" anchor="ctr">
                    <a:solidFill>
                      <a:srgbClr val="EAF2FA"/>
                    </a:solidFill>
                  </a:tcPr>
                </a:tc>
              </a:tr>
              <a:tr h="393192">
                <a:tc>
                  <a:txBody>
                    <a:bodyPr/>
                    <a:lstStyle/>
                    <a:p>
                      <a:pPr algn="l"/>
                      <a:r>
                        <a:rPr sz="1200" b="1">
                          <a:solidFill>
                            <a:srgbClr val="0B2A4A"/>
                          </a:solidFill>
                          <a:latin typeface="Calibri"/>
                        </a:rPr>
                        <a:t>Gain</a:t>
                      </a:r>
                    </a:p>
                  </a:txBody>
                  <a:tcPr marT="22000" marB="22000" marL="60000" marR="60000" anchor="ctr">
                    <a:solidFill>
                      <a:srgbClr val="FFFFFF"/>
                    </a:solidFill>
                  </a:tcPr>
                </a:tc>
                <a:tc>
                  <a:txBody>
                    <a:bodyPr/>
                    <a:lstStyle/>
                    <a:p>
                      <a:pPr algn="l"/>
                      <a:r>
                        <a:rPr sz="1200" b="0">
                          <a:solidFill>
                            <a:srgbClr val="0B2A4A"/>
                          </a:solidFill>
                          <a:latin typeface="Calibri"/>
                        </a:rPr>
                        <a:t>radiated power in the best direction vs an isotropic source</a:t>
                      </a:r>
                    </a:p>
                  </a:txBody>
                  <a:tcPr marT="22000" marB="22000" marL="60000" marR="60000" anchor="ctr">
                    <a:solidFill>
                      <a:srgbClr val="FFFFFF"/>
                    </a:solidFill>
                  </a:tcPr>
                </a:tc>
                <a:tc>
                  <a:txBody>
                    <a:bodyPr/>
                    <a:lstStyle/>
                    <a:p>
                      <a:pPr algn="l"/>
                      <a:r>
                        <a:rPr sz="1200" b="0">
                          <a:solidFill>
                            <a:srgbClr val="0B2A4A"/>
                          </a:solidFill>
                          <a:latin typeface="Calibri"/>
                        </a:rPr>
                        <a:t>target (dBi), Mendeley</a:t>
                      </a:r>
                    </a:p>
                  </a:txBody>
                  <a:tcPr marT="22000" marB="22000" marL="60000" marR="60000" anchor="ctr">
                    <a:solidFill>
                      <a:srgbClr val="FFFFFF"/>
                    </a:solidFill>
                  </a:tcPr>
                </a:tc>
              </a:tr>
              <a:tr h="393192">
                <a:tc>
                  <a:txBody>
                    <a:bodyPr/>
                    <a:lstStyle/>
                    <a:p>
                      <a:pPr algn="l"/>
                      <a:r>
                        <a:rPr sz="1200" b="1">
                          <a:solidFill>
                            <a:srgbClr val="0B2A4A"/>
                          </a:solidFill>
                          <a:latin typeface="Calibri"/>
                        </a:rPr>
                        <a:t>Radiation efficiency</a:t>
                      </a:r>
                    </a:p>
                  </a:txBody>
                  <a:tcPr marT="22000" marB="22000" marL="60000" marR="60000" anchor="ctr">
                    <a:solidFill>
                      <a:srgbClr val="EAF2FA"/>
                    </a:solidFill>
                  </a:tcPr>
                </a:tc>
                <a:tc>
                  <a:txBody>
                    <a:bodyPr/>
                    <a:lstStyle/>
                    <a:p>
                      <a:pPr algn="l"/>
                      <a:r>
                        <a:rPr sz="1200" b="0">
                          <a:solidFill>
                            <a:srgbClr val="0B2A4A"/>
                          </a:solidFill>
                          <a:latin typeface="Calibri"/>
                        </a:rPr>
                        <a:t>radiated power / accepted power (0–1)</a:t>
                      </a:r>
                    </a:p>
                  </a:txBody>
                  <a:tcPr marT="22000" marB="22000" marL="60000" marR="60000" anchor="ctr">
                    <a:solidFill>
                      <a:srgbClr val="EAF2FA"/>
                    </a:solidFill>
                  </a:tcPr>
                </a:tc>
                <a:tc>
                  <a:txBody>
                    <a:bodyPr/>
                    <a:lstStyle/>
                    <a:p>
                      <a:pPr algn="l"/>
                      <a:r>
                        <a:rPr sz="1200" b="0">
                          <a:solidFill>
                            <a:srgbClr val="0B2A4A"/>
                          </a:solidFill>
                          <a:latin typeface="Calibri"/>
                        </a:rPr>
                        <a:t>target, Mendeley</a:t>
                      </a:r>
                    </a:p>
                  </a:txBody>
                  <a:tcPr marT="22000" marB="22000" marL="60000" marR="60000" anchor="ctr">
                    <a:solidFill>
                      <a:srgbClr val="EAF2FA"/>
                    </a:solidFill>
                  </a:tcPr>
                </a:tc>
              </a:tr>
              <a:tr h="393192">
                <a:tc>
                  <a:txBody>
                    <a:bodyPr/>
                    <a:lstStyle/>
                    <a:p>
                      <a:pPr algn="l"/>
                      <a:r>
                        <a:rPr sz="1200" b="1">
                          <a:solidFill>
                            <a:srgbClr val="0B2A4A"/>
                          </a:solidFill>
                          <a:latin typeface="Calibri"/>
                        </a:rPr>
                        <a:t>Band (5G / 6G)</a:t>
                      </a:r>
                    </a:p>
                  </a:txBody>
                  <a:tcPr marT="22000" marB="22000" marL="60000" marR="60000" anchor="ctr">
                    <a:solidFill>
                      <a:srgbClr val="FFFFFF"/>
                    </a:solidFill>
                  </a:tcPr>
                </a:tc>
                <a:tc>
                  <a:txBody>
                    <a:bodyPr/>
                    <a:lstStyle/>
                    <a:p>
                      <a:pPr algn="l"/>
                      <a:r>
                        <a:rPr sz="1200" b="0">
                          <a:solidFill>
                            <a:srgbClr val="0B2A4A"/>
                          </a:solidFill>
                          <a:latin typeface="Calibri"/>
                        </a:rPr>
                        <a:t>n78 3.3–3.8 GHz; FR1 ≤ 7.125 GHz; FR3 above</a:t>
                      </a:r>
                    </a:p>
                  </a:txBody>
                  <a:tcPr marT="22000" marB="22000" marL="60000" marR="60000" anchor="ctr">
                    <a:solidFill>
                      <a:srgbClr val="FFFFFF"/>
                    </a:solidFill>
                  </a:tcPr>
                </a:tc>
                <a:tc>
                  <a:txBody>
                    <a:bodyPr/>
                    <a:lstStyle/>
                    <a:p>
                      <a:pPr algn="l"/>
                      <a:r>
                        <a:rPr sz="1200" b="0">
                          <a:solidFill>
                            <a:srgbClr val="0B2A4A"/>
                          </a:solidFill>
                          <a:latin typeface="Calibri"/>
                        </a:rPr>
                        <a:t>label and NSGA-II constraint</a:t>
                      </a:r>
                    </a:p>
                  </a:txBody>
                  <a:tcPr marT="22000" marB="22000" marL="60000" marR="60000" anchor="ctr">
                    <a:solidFill>
                      <a:srgbClr val="FFFFFF"/>
                    </a:solidFill>
                  </a:tcPr>
                </a:tc>
              </a:tr>
            </a:tbl>
          </a:graphicData>
        </a:graphic>
      </p:graphicFrame>
      <p:sp>
        <p:nvSpPr>
          <p:cNvPr id="10" name="Note bubble"/>
          <p:cNvSpPr/>
          <p:nvPr/>
        </p:nvSpPr>
        <p:spPr>
          <a:xfrm>
            <a:off x="8641080" y="1417320"/>
            <a:ext cx="3017520" cy="3483864"/>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Engineers judge an antenna by where it resonates, how well it is matched (S11), how wide its usable band is, and how much power it radiates (gain, efficiency).</a:t>
            </a:r>
          </a:p>
          <a:p>
            <a:pPr>
              <a:spcBef>
                <a:spcPts val="500"/>
              </a:spcBef>
            </a:pPr>
            <a:r>
              <a:rPr sz="1300">
                <a:solidFill>
                  <a:srgbClr val="0B2A4A"/>
                </a:solidFill>
                <a:latin typeface="Calibri"/>
              </a:rPr>
              <a:t>These same quantities are what Module 2's AI learns to predict from the design dimensions.</a:t>
            </a:r>
          </a:p>
          <a:p>
            <a:pPr>
              <a:spcBef>
                <a:spcPts val="500"/>
              </a:spcBef>
            </a:pPr>
            <a:r>
              <a:rPr sz="1300">
                <a:solidFill>
                  <a:srgbClr val="0B2A4A"/>
                </a:solidFill>
                <a:latin typeface="Calibri"/>
              </a:rPr>
              <a:t>−10 dB S11 is the standard matching criterion; the −20 dB 'High' class is a project assumption.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1 · ANTENNA BASICS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Slot antennas and hybrid-slotted DGS antennas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4 / 21</a:t>
            </a:r>
          </a:p>
        </p:txBody>
      </p:sp>
      <p:pic>
        <p:nvPicPr>
          <p:cNvPr id="6" name="Picture 5" descr="antenna_types.png"/>
          <p:cNvPicPr>
            <a:picLocks noChangeAspect="1"/>
          </p:cNvPicPr>
          <p:nvPr/>
        </p:nvPicPr>
        <p:blipFill>
          <a:blip r:embed="rId2"/>
          <a:stretch>
            <a:fillRect/>
          </a:stretch>
        </p:blipFill>
        <p:spPr>
          <a:xfrm>
            <a:off x="548640" y="1325880"/>
            <a:ext cx="7818120" cy="2766412"/>
          </a:xfrm>
          <a:prstGeom prst="rect">
            <a:avLst/>
          </a:prstGeom>
        </p:spPr>
      </p:pic>
      <p:sp>
        <p:nvSpPr>
          <p:cNvPr id="7" name="Rounded Rectangle 6"/>
          <p:cNvSpPr/>
          <p:nvPr/>
        </p:nvSpPr>
        <p:spPr>
          <a:xfrm>
            <a:off x="548640" y="4206240"/>
            <a:ext cx="2514600" cy="1874519"/>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279392"/>
            <a:ext cx="2240280" cy="365760"/>
          </a:xfrm>
          <a:prstGeom prst="rect">
            <a:avLst/>
          </a:prstGeom>
          <a:noFill/>
        </p:spPr>
        <p:txBody>
          <a:bodyPr wrap="square" anchor="t" lIns="45720" rIns="45720">
            <a:spAutoFit/>
          </a:bodyPr>
          <a:lstStyle/>
          <a:p>
            <a:pPr algn="l"/>
            <a:r>
              <a:rPr sz="1500" b="1">
                <a:solidFill>
                  <a:srgbClr val="2F6FAE"/>
                </a:solidFill>
                <a:latin typeface="Calibri"/>
              </a:rPr>
              <a:t>Slot antenna</a:t>
            </a:r>
          </a:p>
        </p:txBody>
      </p:sp>
      <p:sp>
        <p:nvSpPr>
          <p:cNvPr id="9" name="TextBox 8"/>
          <p:cNvSpPr txBox="1"/>
          <p:nvPr/>
        </p:nvSpPr>
        <p:spPr>
          <a:xfrm>
            <a:off x="685800" y="4645152"/>
            <a:ext cx="2240280" cy="1371599"/>
          </a:xfrm>
          <a:prstGeom prst="rect">
            <a:avLst/>
          </a:prstGeom>
          <a:noFill/>
        </p:spPr>
        <p:txBody>
          <a:bodyPr wrap="square" anchor="t" lIns="45720" rIns="45720">
            <a:spAutoFit/>
          </a:bodyPr>
          <a:lstStyle/>
          <a:p>
            <a:pPr algn="l"/>
            <a:r>
              <a:rPr sz="1200" b="0">
                <a:solidFill>
                  <a:srgbClr val="0B2A4A"/>
                </a:solidFill>
                <a:latin typeface="Calibri"/>
              </a:rPr>
              <a:t>Slots cut in the patch (or a slot as the radiator) lengthen the current path: lower resonance for the same size, and extra or wider bands.</a:t>
            </a:r>
          </a:p>
        </p:txBody>
      </p:sp>
      <p:sp>
        <p:nvSpPr>
          <p:cNvPr id="10" name="Rounded Rectangle 9"/>
          <p:cNvSpPr/>
          <p:nvPr/>
        </p:nvSpPr>
        <p:spPr>
          <a:xfrm>
            <a:off x="3182112" y="4206240"/>
            <a:ext cx="2514600" cy="1874519"/>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9272" y="4279392"/>
            <a:ext cx="2240280" cy="365760"/>
          </a:xfrm>
          <a:prstGeom prst="rect">
            <a:avLst/>
          </a:prstGeom>
          <a:noFill/>
        </p:spPr>
        <p:txBody>
          <a:bodyPr wrap="square" anchor="t" lIns="45720" rIns="45720">
            <a:spAutoFit/>
          </a:bodyPr>
          <a:lstStyle/>
          <a:p>
            <a:pPr algn="l"/>
            <a:r>
              <a:rPr sz="1500" b="1">
                <a:solidFill>
                  <a:srgbClr val="2F6FAE"/>
                </a:solidFill>
                <a:latin typeface="Calibri"/>
              </a:rPr>
              <a:t>Defected ground (DGS)</a:t>
            </a:r>
          </a:p>
        </p:txBody>
      </p:sp>
      <p:sp>
        <p:nvSpPr>
          <p:cNvPr id="12" name="TextBox 11"/>
          <p:cNvSpPr txBox="1"/>
          <p:nvPr/>
        </p:nvSpPr>
        <p:spPr>
          <a:xfrm>
            <a:off x="3319272" y="4645152"/>
            <a:ext cx="2240280" cy="1371599"/>
          </a:xfrm>
          <a:prstGeom prst="rect">
            <a:avLst/>
          </a:prstGeom>
          <a:noFill/>
        </p:spPr>
        <p:txBody>
          <a:bodyPr wrap="square" anchor="t" lIns="45720" rIns="45720">
            <a:spAutoFit/>
          </a:bodyPr>
          <a:lstStyle/>
          <a:p>
            <a:pPr algn="l"/>
            <a:r>
              <a:rPr sz="1200" b="0">
                <a:solidFill>
                  <a:srgbClr val="0B2A4A"/>
                </a:solidFill>
                <a:latin typeface="Calibri"/>
              </a:rPr>
              <a:t>Shapes etched into the ground plane (dumbbell, slot) change the ground current: better matching, filtering, smaller size.</a:t>
            </a:r>
          </a:p>
        </p:txBody>
      </p:sp>
      <p:sp>
        <p:nvSpPr>
          <p:cNvPr id="13" name="Rounded Rectangle 12"/>
          <p:cNvSpPr/>
          <p:nvPr/>
        </p:nvSpPr>
        <p:spPr>
          <a:xfrm>
            <a:off x="5815583" y="4206240"/>
            <a:ext cx="2514600" cy="1874519"/>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52743" y="4279392"/>
            <a:ext cx="2240280" cy="365760"/>
          </a:xfrm>
          <a:prstGeom prst="rect">
            <a:avLst/>
          </a:prstGeom>
          <a:noFill/>
        </p:spPr>
        <p:txBody>
          <a:bodyPr wrap="square" anchor="t" lIns="45720" rIns="45720">
            <a:spAutoFit/>
          </a:bodyPr>
          <a:lstStyle/>
          <a:p>
            <a:pPr algn="l"/>
            <a:r>
              <a:rPr sz="1500" b="1">
                <a:solidFill>
                  <a:srgbClr val="2F6FAE"/>
                </a:solidFill>
                <a:latin typeface="Calibri"/>
              </a:rPr>
              <a:t>Hybrid-slotted DGS</a:t>
            </a:r>
          </a:p>
        </p:txBody>
      </p:sp>
      <p:sp>
        <p:nvSpPr>
          <p:cNvPr id="15" name="TextBox 14"/>
          <p:cNvSpPr txBox="1"/>
          <p:nvPr/>
        </p:nvSpPr>
        <p:spPr>
          <a:xfrm>
            <a:off x="5952743" y="4645152"/>
            <a:ext cx="2240280" cy="1371599"/>
          </a:xfrm>
          <a:prstGeom prst="rect">
            <a:avLst/>
          </a:prstGeom>
          <a:noFill/>
        </p:spPr>
        <p:txBody>
          <a:bodyPr wrap="square" anchor="t" lIns="45720" rIns="45720">
            <a:spAutoFit/>
          </a:bodyPr>
          <a:lstStyle/>
          <a:p>
            <a:pPr algn="l"/>
            <a:r>
              <a:rPr sz="1200" b="0">
                <a:solidFill>
                  <a:srgbClr val="0B2A4A"/>
                </a:solidFill>
                <a:latin typeface="Calibri"/>
              </a:rPr>
              <a:t>Both together - slotted patch plus DGS. Very compact and multiband, but dozens of coupled dimensions to tune.</a:t>
            </a:r>
          </a:p>
        </p:txBody>
      </p:sp>
      <p:sp>
        <p:nvSpPr>
          <p:cNvPr id="16" name="Note bubble"/>
          <p:cNvSpPr/>
          <p:nvPr/>
        </p:nvSpPr>
        <p:spPr>
          <a:xfrm>
            <a:off x="8641080" y="1417320"/>
            <a:ext cx="3017520" cy="4238244"/>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A plain patch has three main dimensions; a hybrid-slotted DGS antenna has dozens (slot lengths, widths, offsets, DGS shape).</a:t>
            </a:r>
          </a:p>
          <a:p>
            <a:pPr>
              <a:spcBef>
                <a:spcPts val="500"/>
              </a:spcBef>
            </a:pPr>
            <a:r>
              <a:rPr sz="1300">
                <a:solidFill>
                  <a:srgbClr val="0B2A4A"/>
                </a:solidFill>
                <a:latin typeface="Calibri"/>
              </a:rPr>
              <a:t>Every extra dimension multiplies the number of full-wave simulations needed to explore the design.</a:t>
            </a:r>
          </a:p>
          <a:p>
            <a:pPr>
              <a:spcBef>
                <a:spcPts val="500"/>
              </a:spcBef>
            </a:pPr>
            <a:r>
              <a:rPr sz="1300">
                <a:solidFill>
                  <a:srgbClr val="0B2A4A"/>
                </a:solidFill>
                <a:latin typeface="Calibri"/>
              </a:rPr>
              <a:t>That combinatorial growth is exactly where a fast AI surrogate earns its place.</a:t>
            </a:r>
          </a:p>
          <a:p>
            <a:pPr>
              <a:spcBef>
                <a:spcPts val="500"/>
              </a:spcBef>
            </a:pPr>
            <a:r>
              <a:rPr sz="1300">
                <a:solidFill>
                  <a:srgbClr val="0B2A4A"/>
                </a:solidFill>
                <a:latin typeface="Calibri"/>
              </a:rPr>
              <a:t>The target topology here is hybrid-slotted DGS; the executed prototype uses public patch and dual-slot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2 · WHY AI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Why AI helps: from slow loops to fast screening</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5 / 21</a:t>
            </a:r>
          </a:p>
        </p:txBody>
      </p:sp>
      <p:sp>
        <p:nvSpPr>
          <p:cNvPr id="6" name="TextBox 5"/>
          <p:cNvSpPr txBox="1"/>
          <p:nvPr/>
        </p:nvSpPr>
        <p:spPr>
          <a:xfrm>
            <a:off x="548640" y="1371600"/>
            <a:ext cx="7818120" cy="365760"/>
          </a:xfrm>
          <a:prstGeom prst="rect">
            <a:avLst/>
          </a:prstGeom>
          <a:noFill/>
        </p:spPr>
        <p:txBody>
          <a:bodyPr wrap="square" anchor="t" lIns="45720" rIns="45720">
            <a:spAutoFit/>
          </a:bodyPr>
          <a:lstStyle/>
          <a:p>
            <a:pPr algn="l"/>
            <a:r>
              <a:rPr sz="1600" b="1">
                <a:solidFill>
                  <a:srgbClr val="5F6B76"/>
                </a:solidFill>
                <a:latin typeface="Calibri"/>
              </a:rPr>
              <a:t>Conventional design loop</a:t>
            </a:r>
          </a:p>
        </p:txBody>
      </p:sp>
      <p:sp>
        <p:nvSpPr>
          <p:cNvPr id="7" name="Pentagon 6"/>
          <p:cNvSpPr/>
          <p:nvPr/>
        </p:nvSpPr>
        <p:spPr>
          <a:xfrm>
            <a:off x="548640" y="1783080"/>
            <a:ext cx="1519732" cy="731520"/>
          </a:xfrm>
          <a:prstGeom prst="homePlate">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3080"/>
            <a:ext cx="1373428" cy="731520"/>
          </a:xfrm>
          <a:prstGeom prst="rect">
            <a:avLst/>
          </a:prstGeom>
          <a:noFill/>
        </p:spPr>
        <p:txBody>
          <a:bodyPr wrap="square" lIns="27432" rIns="27432" anchor="ctr">
            <a:spAutoFit/>
          </a:bodyPr>
          <a:lstStyle/>
          <a:p>
            <a:pPr algn="ctr"/>
            <a:r>
              <a:rPr sz="1200" b="1">
                <a:solidFill>
                  <a:srgbClr val="0B2A4A"/>
                </a:solidFill>
                <a:latin typeface="Calibri"/>
              </a:rPr>
              <a:t>Pick sizes</a:t>
            </a:r>
          </a:p>
        </p:txBody>
      </p:sp>
      <p:sp>
        <p:nvSpPr>
          <p:cNvPr id="9" name="Chevron 8"/>
          <p:cNvSpPr/>
          <p:nvPr/>
        </p:nvSpPr>
        <p:spPr>
          <a:xfrm>
            <a:off x="2123236" y="1783080"/>
            <a:ext cx="1519732" cy="731520"/>
          </a:xfrm>
          <a:prstGeom prst="chevron">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24404" y="1783080"/>
            <a:ext cx="1172260" cy="731520"/>
          </a:xfrm>
          <a:prstGeom prst="rect">
            <a:avLst/>
          </a:prstGeom>
          <a:noFill/>
        </p:spPr>
        <p:txBody>
          <a:bodyPr wrap="square" lIns="27432" rIns="27432" anchor="ctr">
            <a:spAutoFit/>
          </a:bodyPr>
          <a:lstStyle/>
          <a:p>
            <a:pPr algn="ctr"/>
            <a:r>
              <a:rPr sz="1200" b="1">
                <a:solidFill>
                  <a:srgbClr val="0B2A4A"/>
                </a:solidFill>
                <a:latin typeface="Calibri"/>
              </a:rPr>
              <a:t>Full-wave run</a:t>
            </a:r>
          </a:p>
        </p:txBody>
      </p:sp>
      <p:sp>
        <p:nvSpPr>
          <p:cNvPr id="11" name="Chevron 10"/>
          <p:cNvSpPr/>
          <p:nvPr/>
        </p:nvSpPr>
        <p:spPr>
          <a:xfrm>
            <a:off x="3697833" y="1783080"/>
            <a:ext cx="1519732" cy="731520"/>
          </a:xfrm>
          <a:prstGeom prst="chevron">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99001" y="1783080"/>
            <a:ext cx="1172260" cy="731520"/>
          </a:xfrm>
          <a:prstGeom prst="rect">
            <a:avLst/>
          </a:prstGeom>
          <a:noFill/>
        </p:spPr>
        <p:txBody>
          <a:bodyPr wrap="square" lIns="27432" rIns="27432" anchor="ctr">
            <a:spAutoFit/>
          </a:bodyPr>
          <a:lstStyle/>
          <a:p>
            <a:pPr algn="ctr"/>
            <a:r>
              <a:rPr sz="1200" b="1">
                <a:solidFill>
                  <a:srgbClr val="0B2A4A"/>
                </a:solidFill>
                <a:latin typeface="Calibri"/>
              </a:rPr>
              <a:t>Read S11</a:t>
            </a:r>
          </a:p>
        </p:txBody>
      </p:sp>
      <p:sp>
        <p:nvSpPr>
          <p:cNvPr id="13" name="Chevron 12"/>
          <p:cNvSpPr/>
          <p:nvPr/>
        </p:nvSpPr>
        <p:spPr>
          <a:xfrm>
            <a:off x="5272430" y="1783080"/>
            <a:ext cx="1519732" cy="731520"/>
          </a:xfrm>
          <a:prstGeom prst="chevron">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73598" y="1783080"/>
            <a:ext cx="1172260" cy="731520"/>
          </a:xfrm>
          <a:prstGeom prst="rect">
            <a:avLst/>
          </a:prstGeom>
          <a:noFill/>
        </p:spPr>
        <p:txBody>
          <a:bodyPr wrap="square" lIns="27432" rIns="27432" anchor="ctr">
            <a:spAutoFit/>
          </a:bodyPr>
          <a:lstStyle/>
          <a:p>
            <a:pPr algn="ctr"/>
            <a:r>
              <a:rPr sz="1200" b="1">
                <a:solidFill>
                  <a:srgbClr val="0B2A4A"/>
                </a:solidFill>
                <a:latin typeface="Calibri"/>
              </a:rPr>
              <a:t>Tweak</a:t>
            </a:r>
          </a:p>
        </p:txBody>
      </p:sp>
      <p:sp>
        <p:nvSpPr>
          <p:cNvPr id="15" name="Chevron 14"/>
          <p:cNvSpPr/>
          <p:nvPr/>
        </p:nvSpPr>
        <p:spPr>
          <a:xfrm>
            <a:off x="6847027" y="1783080"/>
            <a:ext cx="1519732" cy="731520"/>
          </a:xfrm>
          <a:prstGeom prst="chevron">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8195" y="1783080"/>
            <a:ext cx="1172260" cy="731520"/>
          </a:xfrm>
          <a:prstGeom prst="rect">
            <a:avLst/>
          </a:prstGeom>
          <a:noFill/>
        </p:spPr>
        <p:txBody>
          <a:bodyPr wrap="square" lIns="27432" rIns="27432" anchor="ctr">
            <a:spAutoFit/>
          </a:bodyPr>
          <a:lstStyle/>
          <a:p>
            <a:pPr algn="ctr"/>
            <a:r>
              <a:rPr sz="1200" b="1">
                <a:solidFill>
                  <a:srgbClr val="0B2A4A"/>
                </a:solidFill>
                <a:latin typeface="Calibri"/>
              </a:rPr>
              <a:t>Repeat</a:t>
            </a:r>
          </a:p>
        </p:txBody>
      </p:sp>
      <p:sp>
        <p:nvSpPr>
          <p:cNvPr id="17" name="TextBox 16"/>
          <p:cNvSpPr txBox="1"/>
          <p:nvPr/>
        </p:nvSpPr>
        <p:spPr>
          <a:xfrm>
            <a:off x="548640" y="2606040"/>
            <a:ext cx="7818120" cy="365760"/>
          </a:xfrm>
          <a:prstGeom prst="rect">
            <a:avLst/>
          </a:prstGeom>
          <a:noFill/>
        </p:spPr>
        <p:txBody>
          <a:bodyPr wrap="square" anchor="t" lIns="45720" rIns="45720">
            <a:spAutoFit/>
          </a:bodyPr>
          <a:lstStyle/>
          <a:p>
            <a:pPr algn="l"/>
            <a:r>
              <a:rPr sz="1300" b="0">
                <a:solidFill>
                  <a:srgbClr val="5F6B76"/>
                </a:solidFill>
                <a:latin typeface="Calibri"/>
              </a:rPr>
              <a:t>Each candidate typically costs minutes to hours of solver time; sweeps grow exponentially with the number of dimensions.</a:t>
            </a:r>
          </a:p>
        </p:txBody>
      </p:sp>
      <p:sp>
        <p:nvSpPr>
          <p:cNvPr id="18" name="TextBox 17"/>
          <p:cNvSpPr txBox="1"/>
          <p:nvPr/>
        </p:nvSpPr>
        <p:spPr>
          <a:xfrm>
            <a:off x="548640" y="3154680"/>
            <a:ext cx="7818120" cy="365760"/>
          </a:xfrm>
          <a:prstGeom prst="rect">
            <a:avLst/>
          </a:prstGeom>
          <a:noFill/>
        </p:spPr>
        <p:txBody>
          <a:bodyPr wrap="square" anchor="t" lIns="45720" rIns="45720">
            <a:spAutoFit/>
          </a:bodyPr>
          <a:lstStyle/>
          <a:p>
            <a:pPr algn="l"/>
            <a:r>
              <a:rPr sz="1600" b="1">
                <a:solidFill>
                  <a:srgbClr val="2F6FAE"/>
                </a:solidFill>
                <a:latin typeface="Calibri"/>
              </a:rPr>
              <a:t>AI-assisted loop (Module 2)</a:t>
            </a:r>
          </a:p>
        </p:txBody>
      </p:sp>
      <p:sp>
        <p:nvSpPr>
          <p:cNvPr id="19" name="Pentagon 18"/>
          <p:cNvSpPr/>
          <p:nvPr/>
        </p:nvSpPr>
        <p:spPr>
          <a:xfrm>
            <a:off x="548640" y="3566160"/>
            <a:ext cx="1519732" cy="731520"/>
          </a:xfrm>
          <a:prstGeom prst="homePlat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566160"/>
            <a:ext cx="1373428" cy="731520"/>
          </a:xfrm>
          <a:prstGeom prst="rect">
            <a:avLst/>
          </a:prstGeom>
          <a:noFill/>
        </p:spPr>
        <p:txBody>
          <a:bodyPr wrap="square" lIns="27432" rIns="27432" anchor="ctr">
            <a:spAutoFit/>
          </a:bodyPr>
          <a:lstStyle/>
          <a:p>
            <a:pPr algn="ctr"/>
            <a:r>
              <a:rPr sz="1200" b="1">
                <a:solidFill>
                  <a:srgbClr val="FFFFFF"/>
                </a:solidFill>
                <a:latin typeface="Calibri"/>
              </a:rPr>
              <a:t>Simulate once</a:t>
            </a:r>
          </a:p>
        </p:txBody>
      </p:sp>
      <p:sp>
        <p:nvSpPr>
          <p:cNvPr id="21" name="Chevron 20"/>
          <p:cNvSpPr/>
          <p:nvPr/>
        </p:nvSpPr>
        <p:spPr>
          <a:xfrm>
            <a:off x="2123236" y="3566160"/>
            <a:ext cx="1519732" cy="73152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24404" y="3566160"/>
            <a:ext cx="1172260" cy="731520"/>
          </a:xfrm>
          <a:prstGeom prst="rect">
            <a:avLst/>
          </a:prstGeom>
          <a:noFill/>
        </p:spPr>
        <p:txBody>
          <a:bodyPr wrap="square" lIns="27432" rIns="27432" anchor="ctr">
            <a:spAutoFit/>
          </a:bodyPr>
          <a:lstStyle/>
          <a:p>
            <a:pPr algn="ctr"/>
            <a:r>
              <a:rPr sz="1200" b="1">
                <a:solidFill>
                  <a:srgbClr val="FFFFFF"/>
                </a:solidFill>
                <a:latin typeface="Calibri"/>
              </a:rPr>
              <a:t>Train</a:t>
            </a:r>
          </a:p>
        </p:txBody>
      </p:sp>
      <p:sp>
        <p:nvSpPr>
          <p:cNvPr id="23" name="Chevron 22"/>
          <p:cNvSpPr/>
          <p:nvPr/>
        </p:nvSpPr>
        <p:spPr>
          <a:xfrm>
            <a:off x="3697833" y="3566160"/>
            <a:ext cx="1519732" cy="73152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99001" y="3566160"/>
            <a:ext cx="1172260" cy="731520"/>
          </a:xfrm>
          <a:prstGeom prst="rect">
            <a:avLst/>
          </a:prstGeom>
          <a:noFill/>
        </p:spPr>
        <p:txBody>
          <a:bodyPr wrap="square" lIns="27432" rIns="27432" anchor="ctr">
            <a:spAutoFit/>
          </a:bodyPr>
          <a:lstStyle/>
          <a:p>
            <a:pPr algn="ctr"/>
            <a:r>
              <a:rPr sz="1200" b="1">
                <a:solidFill>
                  <a:srgbClr val="FFFFFF"/>
                </a:solidFill>
                <a:latin typeface="Calibri"/>
              </a:rPr>
              <a:t>Screen 1000s</a:t>
            </a:r>
          </a:p>
        </p:txBody>
      </p:sp>
      <p:sp>
        <p:nvSpPr>
          <p:cNvPr id="25" name="Chevron 24"/>
          <p:cNvSpPr/>
          <p:nvPr/>
        </p:nvSpPr>
        <p:spPr>
          <a:xfrm>
            <a:off x="5272430" y="3566160"/>
            <a:ext cx="1519732" cy="73152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73598" y="3566160"/>
            <a:ext cx="1172260" cy="731520"/>
          </a:xfrm>
          <a:prstGeom prst="rect">
            <a:avLst/>
          </a:prstGeom>
          <a:noFill/>
        </p:spPr>
        <p:txBody>
          <a:bodyPr wrap="square" lIns="27432" rIns="27432" anchor="ctr">
            <a:spAutoFit/>
          </a:bodyPr>
          <a:lstStyle/>
          <a:p>
            <a:pPr algn="ctr"/>
            <a:r>
              <a:rPr sz="1200" b="1">
                <a:solidFill>
                  <a:srgbClr val="FFFFFF"/>
                </a:solidFill>
                <a:latin typeface="Calibri"/>
              </a:rPr>
              <a:t>NSGA-II</a:t>
            </a:r>
          </a:p>
        </p:txBody>
      </p:sp>
      <p:sp>
        <p:nvSpPr>
          <p:cNvPr id="27" name="Chevron 26"/>
          <p:cNvSpPr/>
          <p:nvPr/>
        </p:nvSpPr>
        <p:spPr>
          <a:xfrm>
            <a:off x="6847027" y="3566160"/>
            <a:ext cx="1519732" cy="731520"/>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8195" y="3566160"/>
            <a:ext cx="1172260" cy="731520"/>
          </a:xfrm>
          <a:prstGeom prst="rect">
            <a:avLst/>
          </a:prstGeom>
          <a:noFill/>
        </p:spPr>
        <p:txBody>
          <a:bodyPr wrap="square" lIns="27432" rIns="27432" anchor="ctr">
            <a:spAutoFit/>
          </a:bodyPr>
          <a:lstStyle/>
          <a:p>
            <a:pPr algn="ctr"/>
            <a:r>
              <a:rPr sz="1200" b="1">
                <a:solidFill>
                  <a:srgbClr val="FFFFFF"/>
                </a:solidFill>
                <a:latin typeface="Calibri"/>
              </a:rPr>
              <a:t>HFSS check</a:t>
            </a:r>
          </a:p>
        </p:txBody>
      </p:sp>
      <p:sp>
        <p:nvSpPr>
          <p:cNvPr id="29" name="Rounded Rectangle 28"/>
          <p:cNvSpPr/>
          <p:nvPr/>
        </p:nvSpPr>
        <p:spPr>
          <a:xfrm>
            <a:off x="548640" y="4572000"/>
            <a:ext cx="2514600" cy="132588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617720"/>
            <a:ext cx="2286000" cy="594360"/>
          </a:xfrm>
          <a:prstGeom prst="rect">
            <a:avLst/>
          </a:prstGeom>
          <a:noFill/>
        </p:spPr>
        <p:txBody>
          <a:bodyPr wrap="square" anchor="t" lIns="45720" rIns="45720">
            <a:spAutoFit/>
          </a:bodyPr>
          <a:lstStyle/>
          <a:p>
            <a:pPr algn="l"/>
            <a:r>
              <a:rPr sz="3000" b="1">
                <a:solidFill>
                  <a:srgbClr val="0B2A4A"/>
                </a:solidFill>
                <a:latin typeface="Calibri"/>
              </a:rPr>
              <a:t>0.7 s</a:t>
            </a:r>
          </a:p>
        </p:txBody>
      </p:sp>
      <p:sp>
        <p:nvSpPr>
          <p:cNvPr id="31" name="TextBox 30"/>
          <p:cNvSpPr txBox="1"/>
          <p:nvPr/>
        </p:nvSpPr>
        <p:spPr>
          <a:xfrm>
            <a:off x="685800" y="5212080"/>
            <a:ext cx="2286000" cy="640080"/>
          </a:xfrm>
          <a:prstGeom prst="rect">
            <a:avLst/>
          </a:prstGeom>
          <a:noFill/>
        </p:spPr>
        <p:txBody>
          <a:bodyPr wrap="square" anchor="t" lIns="45720" rIns="45720">
            <a:spAutoFit/>
          </a:bodyPr>
          <a:lstStyle/>
          <a:p>
            <a:pPr algn="l"/>
            <a:r>
              <a:rPr sz="1200" b="0">
                <a:solidFill>
                  <a:srgbClr val="5F6B76"/>
                </a:solidFill>
                <a:latin typeface="Calibri"/>
              </a:rPr>
              <a:t>to predict all 4 outputs for 262 test designs</a:t>
            </a:r>
          </a:p>
        </p:txBody>
      </p:sp>
      <p:sp>
        <p:nvSpPr>
          <p:cNvPr id="32" name="Rounded Rectangle 31"/>
          <p:cNvSpPr/>
          <p:nvPr/>
        </p:nvSpPr>
        <p:spPr>
          <a:xfrm>
            <a:off x="3182112" y="4572000"/>
            <a:ext cx="2514600" cy="132588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19272" y="4617720"/>
            <a:ext cx="2286000" cy="594360"/>
          </a:xfrm>
          <a:prstGeom prst="rect">
            <a:avLst/>
          </a:prstGeom>
          <a:noFill/>
        </p:spPr>
        <p:txBody>
          <a:bodyPr wrap="square" anchor="t" lIns="45720" rIns="45720">
            <a:spAutoFit/>
          </a:bodyPr>
          <a:lstStyle/>
          <a:p>
            <a:pPr algn="l"/>
            <a:r>
              <a:rPr sz="3000" b="1">
                <a:solidFill>
                  <a:srgbClr val="0B2A4A"/>
                </a:solidFill>
                <a:latin typeface="Calibri"/>
              </a:rPr>
              <a:t>≈3 ms</a:t>
            </a:r>
          </a:p>
        </p:txBody>
      </p:sp>
      <p:sp>
        <p:nvSpPr>
          <p:cNvPr id="34" name="TextBox 33"/>
          <p:cNvSpPr txBox="1"/>
          <p:nvPr/>
        </p:nvSpPr>
        <p:spPr>
          <a:xfrm>
            <a:off x="3319272" y="5212080"/>
            <a:ext cx="2286000" cy="640080"/>
          </a:xfrm>
          <a:prstGeom prst="rect">
            <a:avLst/>
          </a:prstGeom>
          <a:noFill/>
        </p:spPr>
        <p:txBody>
          <a:bodyPr wrap="square" anchor="t" lIns="45720" rIns="45720">
            <a:spAutoFit/>
          </a:bodyPr>
          <a:lstStyle/>
          <a:p>
            <a:pPr algn="l"/>
            <a:r>
              <a:rPr sz="1200" b="0">
                <a:solidFill>
                  <a:srgbClr val="5F6B76"/>
                </a:solidFill>
                <a:latin typeface="Calibri"/>
              </a:rPr>
              <a:t>per design in a batch (measured, laptop CPU)</a:t>
            </a:r>
          </a:p>
        </p:txBody>
      </p:sp>
      <p:sp>
        <p:nvSpPr>
          <p:cNvPr id="35" name="Rounded Rectangle 34"/>
          <p:cNvSpPr/>
          <p:nvPr/>
        </p:nvSpPr>
        <p:spPr>
          <a:xfrm>
            <a:off x="5815583" y="4572000"/>
            <a:ext cx="2514600" cy="132588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52743" y="4617720"/>
            <a:ext cx="2286000" cy="594360"/>
          </a:xfrm>
          <a:prstGeom prst="rect">
            <a:avLst/>
          </a:prstGeom>
          <a:noFill/>
        </p:spPr>
        <p:txBody>
          <a:bodyPr wrap="square" anchor="t" lIns="45720" rIns="45720">
            <a:spAutoFit/>
          </a:bodyPr>
          <a:lstStyle/>
          <a:p>
            <a:pPr algn="l"/>
            <a:r>
              <a:rPr sz="3000" b="1">
                <a:solidFill>
                  <a:srgbClr val="0B2A4A"/>
                </a:solidFill>
                <a:latin typeface="Calibri"/>
              </a:rPr>
              <a:t>0.8 s</a:t>
            </a:r>
          </a:p>
        </p:txBody>
      </p:sp>
      <p:sp>
        <p:nvSpPr>
          <p:cNvPr id="37" name="TextBox 36"/>
          <p:cNvSpPr txBox="1"/>
          <p:nvPr/>
        </p:nvSpPr>
        <p:spPr>
          <a:xfrm>
            <a:off x="5952743" y="5212080"/>
            <a:ext cx="2286000" cy="640080"/>
          </a:xfrm>
          <a:prstGeom prst="rect">
            <a:avLst/>
          </a:prstGeom>
          <a:noFill/>
        </p:spPr>
        <p:txBody>
          <a:bodyPr wrap="square" anchor="t" lIns="45720" rIns="45720">
            <a:spAutoFit/>
          </a:bodyPr>
          <a:lstStyle/>
          <a:p>
            <a:pPr algn="l"/>
            <a:r>
              <a:rPr sz="1200" b="0">
                <a:solidFill>
                  <a:srgbClr val="5F6B76"/>
                </a:solidFill>
                <a:latin typeface="Calibri"/>
              </a:rPr>
              <a:t>to train one 400-tree random forest</a:t>
            </a:r>
          </a:p>
        </p:txBody>
      </p:sp>
      <p:sp>
        <p:nvSpPr>
          <p:cNvPr id="38" name="Note bubble"/>
          <p:cNvSpPr/>
          <p:nvPr/>
        </p:nvSpPr>
        <p:spPr>
          <a:xfrm>
            <a:off x="8641080" y="1417320"/>
            <a:ext cx="3017520" cy="4014215"/>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The AI does not replace the solver: it learns from solver results, then screens new candidates almost instantly.</a:t>
            </a:r>
          </a:p>
          <a:p>
            <a:pPr>
              <a:spcBef>
                <a:spcPts val="500"/>
              </a:spcBef>
            </a:pPr>
            <a:r>
              <a:rPr sz="1300">
                <a:solidFill>
                  <a:srgbClr val="0B2A4A"/>
                </a:solidFill>
                <a:latin typeface="Calibri"/>
              </a:rPr>
              <a:t>Speeds on this slide were measured on the project laptop (src/timing.py).</a:t>
            </a:r>
          </a:p>
          <a:p>
            <a:pPr>
              <a:spcBef>
                <a:spcPts val="500"/>
              </a:spcBef>
            </a:pPr>
            <a:r>
              <a:rPr sz="1300">
                <a:solidFill>
                  <a:srgbClr val="0B2A4A"/>
                </a:solidFill>
                <a:latin typeface="Calibri"/>
              </a:rPr>
              <a:t>Only the short-listed designs go back to full-wave simulation, so fewer expensive runs are needed.</a:t>
            </a:r>
          </a:p>
          <a:p>
            <a:pPr>
              <a:spcBef>
                <a:spcPts val="500"/>
              </a:spcBef>
            </a:pPr>
            <a:r>
              <a:rPr sz="1300">
                <a:solidFill>
                  <a:srgbClr val="0B2A4A"/>
                </a:solidFill>
                <a:latin typeface="Calibri"/>
              </a:rPr>
              <a:t>The orange step is required: AI proposals are hypotheses until simulated and measured.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3 · PIPELINE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The Module 2 pipeline: seven stages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6 / 21</a:t>
            </a:r>
          </a:p>
        </p:txBody>
      </p:sp>
      <p:sp>
        <p:nvSpPr>
          <p:cNvPr id="6" name="Pentagon 5"/>
          <p:cNvSpPr/>
          <p:nvPr/>
        </p:nvSpPr>
        <p:spPr>
          <a:xfrm>
            <a:off x="548640" y="1463040"/>
            <a:ext cx="1913382" cy="960120"/>
          </a:xfrm>
          <a:prstGeom prst="homePlat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1767078" cy="960120"/>
          </a:xfrm>
          <a:prstGeom prst="rect">
            <a:avLst/>
          </a:prstGeom>
          <a:noFill/>
        </p:spPr>
        <p:txBody>
          <a:bodyPr wrap="square" lIns="27432" rIns="27432" anchor="ctr">
            <a:spAutoFit/>
          </a:bodyPr>
          <a:lstStyle/>
          <a:p>
            <a:pPr algn="ctr"/>
            <a:r>
              <a:rPr sz="1300" b="1">
                <a:solidFill>
                  <a:srgbClr val="FFFFFF"/>
                </a:solidFill>
                <a:latin typeface="Calibri"/>
              </a:rPr>
              <a:t>1 Acquisition</a:t>
            </a:r>
          </a:p>
        </p:txBody>
      </p:sp>
      <p:sp>
        <p:nvSpPr>
          <p:cNvPr id="8" name="Chevron 7"/>
          <p:cNvSpPr/>
          <p:nvPr/>
        </p:nvSpPr>
        <p:spPr>
          <a:xfrm>
            <a:off x="2516886" y="1463040"/>
            <a:ext cx="1913382" cy="96012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18054" y="1463040"/>
            <a:ext cx="1565910" cy="960120"/>
          </a:xfrm>
          <a:prstGeom prst="rect">
            <a:avLst/>
          </a:prstGeom>
          <a:noFill/>
        </p:spPr>
        <p:txBody>
          <a:bodyPr wrap="square" lIns="27432" rIns="27432" anchor="ctr">
            <a:spAutoFit/>
          </a:bodyPr>
          <a:lstStyle/>
          <a:p>
            <a:pPr algn="ctr"/>
            <a:r>
              <a:rPr sz="1300" b="1">
                <a:solidFill>
                  <a:srgbClr val="FFFFFF"/>
                </a:solidFill>
                <a:latin typeface="Calibri"/>
              </a:rPr>
              <a:t>2 Cleaning</a:t>
            </a:r>
          </a:p>
        </p:txBody>
      </p:sp>
      <p:sp>
        <p:nvSpPr>
          <p:cNvPr id="10" name="Chevron 9"/>
          <p:cNvSpPr/>
          <p:nvPr/>
        </p:nvSpPr>
        <p:spPr>
          <a:xfrm>
            <a:off x="4485132" y="1463040"/>
            <a:ext cx="1913382" cy="96012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6300" y="1463040"/>
            <a:ext cx="1565910" cy="960120"/>
          </a:xfrm>
          <a:prstGeom prst="rect">
            <a:avLst/>
          </a:prstGeom>
          <a:noFill/>
        </p:spPr>
        <p:txBody>
          <a:bodyPr wrap="square" lIns="27432" rIns="27432" anchor="ctr">
            <a:spAutoFit/>
          </a:bodyPr>
          <a:lstStyle/>
          <a:p>
            <a:pPr algn="ctr"/>
            <a:r>
              <a:rPr sz="1300" b="1">
                <a:solidFill>
                  <a:srgbClr val="FFFFFF"/>
                </a:solidFill>
                <a:latin typeface="Calibri"/>
              </a:rPr>
              <a:t>3 Vectorisation</a:t>
            </a:r>
          </a:p>
        </p:txBody>
      </p:sp>
      <p:sp>
        <p:nvSpPr>
          <p:cNvPr id="12" name="Chevron 11"/>
          <p:cNvSpPr/>
          <p:nvPr/>
        </p:nvSpPr>
        <p:spPr>
          <a:xfrm>
            <a:off x="6453378" y="1463040"/>
            <a:ext cx="1913382" cy="96012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4546" y="1463040"/>
            <a:ext cx="1565910" cy="960120"/>
          </a:xfrm>
          <a:prstGeom prst="rect">
            <a:avLst/>
          </a:prstGeom>
          <a:noFill/>
        </p:spPr>
        <p:txBody>
          <a:bodyPr wrap="square" lIns="27432" rIns="27432" anchor="ctr">
            <a:spAutoFit/>
          </a:bodyPr>
          <a:lstStyle/>
          <a:p>
            <a:pPr algn="ctr"/>
            <a:r>
              <a:rPr sz="1300" b="1">
                <a:solidFill>
                  <a:srgbClr val="FFFFFF"/>
                </a:solidFill>
                <a:latin typeface="Calibri"/>
              </a:rPr>
              <a:t>4 Training</a:t>
            </a:r>
          </a:p>
        </p:txBody>
      </p:sp>
      <p:sp>
        <p:nvSpPr>
          <p:cNvPr id="14" name="Pentagon 13"/>
          <p:cNvSpPr/>
          <p:nvPr/>
        </p:nvSpPr>
        <p:spPr>
          <a:xfrm>
            <a:off x="548640" y="2606040"/>
            <a:ext cx="2569464" cy="960120"/>
          </a:xfrm>
          <a:prstGeom prst="homePlate">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606040"/>
            <a:ext cx="2423160" cy="960120"/>
          </a:xfrm>
          <a:prstGeom prst="rect">
            <a:avLst/>
          </a:prstGeom>
          <a:noFill/>
        </p:spPr>
        <p:txBody>
          <a:bodyPr wrap="square" lIns="27432" rIns="27432" anchor="ctr">
            <a:spAutoFit/>
          </a:bodyPr>
          <a:lstStyle/>
          <a:p>
            <a:pPr algn="ctr"/>
            <a:r>
              <a:rPr sz="1300" b="1">
                <a:solidFill>
                  <a:srgbClr val="FFFFFF"/>
                </a:solidFill>
                <a:latin typeface="Calibri"/>
              </a:rPr>
              <a:t>5 Evaluation</a:t>
            </a:r>
          </a:p>
        </p:txBody>
      </p:sp>
      <p:sp>
        <p:nvSpPr>
          <p:cNvPr id="16" name="Chevron 15"/>
          <p:cNvSpPr/>
          <p:nvPr/>
        </p:nvSpPr>
        <p:spPr>
          <a:xfrm>
            <a:off x="3172968" y="2606040"/>
            <a:ext cx="2569464" cy="960120"/>
          </a:xfrm>
          <a:prstGeom prst="chevron">
            <a:avLst/>
          </a:prstGeom>
          <a:solidFill>
            <a:srgbClr val="1F6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4136" y="2606040"/>
            <a:ext cx="2221992" cy="960120"/>
          </a:xfrm>
          <a:prstGeom prst="rect">
            <a:avLst/>
          </a:prstGeom>
          <a:noFill/>
        </p:spPr>
        <p:txBody>
          <a:bodyPr wrap="square" lIns="27432" rIns="27432" anchor="ctr">
            <a:spAutoFit/>
          </a:bodyPr>
          <a:lstStyle/>
          <a:p>
            <a:pPr algn="ctr"/>
            <a:r>
              <a:rPr sz="1300" b="1">
                <a:solidFill>
                  <a:srgbClr val="FFFFFF"/>
                </a:solidFill>
                <a:latin typeface="Calibri"/>
              </a:rPr>
              <a:t>6 Text generation</a:t>
            </a:r>
          </a:p>
        </p:txBody>
      </p:sp>
      <p:sp>
        <p:nvSpPr>
          <p:cNvPr id="18" name="Chevron 17"/>
          <p:cNvSpPr/>
          <p:nvPr/>
        </p:nvSpPr>
        <p:spPr>
          <a:xfrm>
            <a:off x="5797296" y="2606040"/>
            <a:ext cx="2569464" cy="960120"/>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98464" y="2606040"/>
            <a:ext cx="2221992" cy="960120"/>
          </a:xfrm>
          <a:prstGeom prst="rect">
            <a:avLst/>
          </a:prstGeom>
          <a:noFill/>
        </p:spPr>
        <p:txBody>
          <a:bodyPr wrap="square" lIns="27432" rIns="27432" anchor="ctr">
            <a:spAutoFit/>
          </a:bodyPr>
          <a:lstStyle/>
          <a:p>
            <a:pPr algn="ctr"/>
            <a:r>
              <a:rPr sz="1300" b="1">
                <a:solidFill>
                  <a:srgbClr val="FFFFFF"/>
                </a:solidFill>
                <a:latin typeface="Calibri"/>
              </a:rPr>
              <a:t>7 Fusion &amp; NSGA-II</a:t>
            </a:r>
          </a:p>
        </p:txBody>
      </p:sp>
      <p:graphicFrame>
        <p:nvGraphicFramePr>
          <p:cNvPr id="20" name="Table 19"/>
          <p:cNvGraphicFramePr>
            <a:graphicFrameLocks noGrp="1"/>
          </p:cNvGraphicFramePr>
          <p:nvPr/>
        </p:nvGraphicFramePr>
        <p:xfrm>
          <a:off x="548640" y="3794760"/>
          <a:ext cx="7818120" cy="1828800"/>
        </p:xfrm>
        <a:graphic>
          <a:graphicData uri="http://schemas.openxmlformats.org/drawingml/2006/table">
            <a:tbl>
              <a:tblPr firstRow="1" bandRow="1">
                <a:tableStyleId>{5C22544A-7EE6-4342-B048-85BDC9FD1C3A}</a:tableStyleId>
              </a:tblPr>
              <a:tblGrid>
                <a:gridCol w="2377440"/>
                <a:gridCol w="3063240"/>
                <a:gridCol w="2377440"/>
              </a:tblGrid>
              <a:tr h="365760">
                <a:tc>
                  <a:txBody>
                    <a:bodyPr/>
                    <a:lstStyle/>
                    <a:p>
                      <a:pPr algn="l"/>
                      <a:r>
                        <a:rPr sz="1200" b="1">
                          <a:solidFill>
                            <a:srgbClr val="FFFFFF"/>
                          </a:solidFill>
                          <a:latin typeface="Calibri"/>
                        </a:rPr>
                        <a:t>Stage</a:t>
                      </a:r>
                    </a:p>
                  </a:txBody>
                  <a:tcPr marT="22000" marB="22000" marL="60000" marR="60000" anchor="ctr">
                    <a:solidFill>
                      <a:srgbClr val="0B2A4A"/>
                    </a:solidFill>
                  </a:tcPr>
                </a:tc>
                <a:tc>
                  <a:txBody>
                    <a:bodyPr/>
                    <a:lstStyle/>
                    <a:p>
                      <a:pPr algn="l"/>
                      <a:r>
                        <a:rPr sz="1200" b="1">
                          <a:solidFill>
                            <a:srgbClr val="FFFFFF"/>
                          </a:solidFill>
                          <a:latin typeface="Calibri"/>
                        </a:rPr>
                        <a:t>Code</a:t>
                      </a:r>
                    </a:p>
                  </a:txBody>
                  <a:tcPr marT="22000" marB="22000" marL="60000" marR="60000" anchor="ctr">
                    <a:solidFill>
                      <a:srgbClr val="0B2A4A"/>
                    </a:solidFill>
                  </a:tcPr>
                </a:tc>
                <a:tc>
                  <a:txBody>
                    <a:bodyPr/>
                    <a:lstStyle/>
                    <a:p>
                      <a:pPr algn="l"/>
                      <a:r>
                        <a:rPr sz="1200" b="1">
                          <a:solidFill>
                            <a:srgbClr val="FFFFFF"/>
                          </a:solidFill>
                          <a:latin typeface="Calibri"/>
                        </a:rPr>
                        <a:t>Main output</a:t>
                      </a:r>
                    </a:p>
                  </a:txBody>
                  <a:tcPr marT="22000" marB="22000" marL="60000" marR="60000" anchor="ctr">
                    <a:solidFill>
                      <a:srgbClr val="0B2A4A"/>
                    </a:solidFill>
                  </a:tcPr>
                </a:tc>
              </a:tr>
              <a:tr h="365760">
                <a:tc>
                  <a:txBody>
                    <a:bodyPr/>
                    <a:lstStyle/>
                    <a:p>
                      <a:pPr algn="l"/>
                      <a:r>
                        <a:rPr sz="1200" b="1">
                          <a:solidFill>
                            <a:srgbClr val="0B2A4A"/>
                          </a:solidFill>
                          <a:latin typeface="Calibri"/>
                        </a:rPr>
                        <a:t>1-2 Acquisition, cleaning</a:t>
                      </a:r>
                    </a:p>
                  </a:txBody>
                  <a:tcPr marT="22000" marB="22000" marL="60000" marR="60000" anchor="ctr">
                    <a:solidFill>
                      <a:srgbClr val="EAF2FA"/>
                    </a:solidFill>
                  </a:tcPr>
                </a:tc>
                <a:tc>
                  <a:txBody>
                    <a:bodyPr/>
                    <a:lstStyle/>
                    <a:p>
                      <a:pPr algn="l"/>
                      <a:r>
                        <a:rPr sz="1200" b="0">
                          <a:solidFill>
                            <a:srgbClr val="0B2A4A"/>
                          </a:solidFill>
                          <a:latin typeface="Calibri"/>
                        </a:rPr>
                        <a:t>src/download_data.py, src/preprocessing.py</a:t>
                      </a:r>
                    </a:p>
                  </a:txBody>
                  <a:tcPr marT="22000" marB="22000" marL="60000" marR="60000" anchor="ctr">
                    <a:solidFill>
                      <a:srgbClr val="EAF2FA"/>
                    </a:solidFill>
                  </a:tcPr>
                </a:tc>
                <a:tc>
                  <a:txBody>
                    <a:bodyPr/>
                    <a:lstStyle/>
                    <a:p>
                      <a:pPr algn="l"/>
                      <a:r>
                        <a:rPr sz="1200" b="0">
                          <a:solidFill>
                            <a:srgbClr val="0B2A4A"/>
                          </a:solidFill>
                          <a:latin typeface="Calibri"/>
                        </a:rPr>
                        <a:t>clean tables, targets, locked split</a:t>
                      </a:r>
                    </a:p>
                  </a:txBody>
                  <a:tcPr marT="22000" marB="22000" marL="60000" marR="60000" anchor="ctr">
                    <a:solidFill>
                      <a:srgbClr val="EAF2FA"/>
                    </a:solidFill>
                  </a:tcPr>
                </a:tc>
              </a:tr>
              <a:tr h="365760">
                <a:tc>
                  <a:txBody>
                    <a:bodyPr/>
                    <a:lstStyle/>
                    <a:p>
                      <a:pPr algn="l"/>
                      <a:r>
                        <a:rPr sz="1200" b="1">
                          <a:solidFill>
                            <a:srgbClr val="0B2A4A"/>
                          </a:solidFill>
                          <a:latin typeface="Calibri"/>
                        </a:rPr>
                        <a:t>3-5 Features, training, evaluation</a:t>
                      </a:r>
                    </a:p>
                  </a:txBody>
                  <a:tcPr marT="22000" marB="22000" marL="60000" marR="60000" anchor="ctr">
                    <a:solidFill>
                      <a:srgbClr val="FFFFFF"/>
                    </a:solidFill>
                  </a:tcPr>
                </a:tc>
                <a:tc>
                  <a:txBody>
                    <a:bodyPr/>
                    <a:lstStyle/>
                    <a:p>
                      <a:pPr algn="l"/>
                      <a:r>
                        <a:rPr sz="1200" b="0">
                          <a:solidFill>
                            <a:srgbClr val="0B2A4A"/>
                          </a:solidFill>
                          <a:latin typeface="Calibri"/>
                        </a:rPr>
                        <a:t>src/numerical_model.py</a:t>
                      </a:r>
                    </a:p>
                  </a:txBody>
                  <a:tcPr marT="22000" marB="22000" marL="60000" marR="60000" anchor="ctr">
                    <a:solidFill>
                      <a:srgbClr val="FFFFFF"/>
                    </a:solidFill>
                  </a:tcPr>
                </a:tc>
                <a:tc>
                  <a:txBody>
                    <a:bodyPr/>
                    <a:lstStyle/>
                    <a:p>
                      <a:pPr algn="l"/>
                      <a:r>
                        <a:rPr sz="1200" b="0">
                          <a:solidFill>
                            <a:srgbClr val="0B2A4A"/>
                          </a:solidFill>
                          <a:latin typeface="Calibri"/>
                        </a:rPr>
                        <a:t>surrogates, metrics, parity plots</a:t>
                      </a:r>
                    </a:p>
                  </a:txBody>
                  <a:tcPr marT="22000" marB="22000" marL="60000" marR="60000" anchor="ctr">
                    <a:solidFill>
                      <a:srgbClr val="FFFFFF"/>
                    </a:solidFill>
                  </a:tcPr>
                </a:tc>
              </a:tr>
              <a:tr h="365760">
                <a:tc>
                  <a:txBody>
                    <a:bodyPr/>
                    <a:lstStyle/>
                    <a:p>
                      <a:pPr algn="l"/>
                      <a:r>
                        <a:rPr sz="1200" b="1">
                          <a:solidFill>
                            <a:srgbClr val="0B2A4A"/>
                          </a:solidFill>
                          <a:latin typeface="Calibri"/>
                        </a:rPr>
                        <a:t>6 Text generation</a:t>
                      </a:r>
                    </a:p>
                  </a:txBody>
                  <a:tcPr marT="22000" marB="22000" marL="60000" marR="60000" anchor="ctr">
                    <a:solidFill>
                      <a:srgbClr val="EAF2FA"/>
                    </a:solidFill>
                  </a:tcPr>
                </a:tc>
                <a:tc>
                  <a:txBody>
                    <a:bodyPr/>
                    <a:lstStyle/>
                    <a:p>
                      <a:pPr algn="l"/>
                      <a:r>
                        <a:rPr sz="1200" b="0">
                          <a:solidFill>
                            <a:srgbClr val="0B2A4A"/>
                          </a:solidFill>
                          <a:latin typeface="Calibri"/>
                        </a:rPr>
                        <a:t>src/numerical_model.py, src/fusion_optimization.py</a:t>
                      </a:r>
                    </a:p>
                  </a:txBody>
                  <a:tcPr marT="22000" marB="22000" marL="60000" marR="60000" anchor="ctr">
                    <a:solidFill>
                      <a:srgbClr val="EAF2FA"/>
                    </a:solidFill>
                  </a:tcPr>
                </a:tc>
                <a:tc>
                  <a:txBody>
                    <a:bodyPr/>
                    <a:lstStyle/>
                    <a:p>
                      <a:pPr algn="l"/>
                      <a:r>
                        <a:rPr sz="1200" b="0">
                          <a:solidFill>
                            <a:srgbClr val="0B2A4A"/>
                          </a:solidFill>
                          <a:latin typeface="Calibri"/>
                        </a:rPr>
                        <a:t>engineering summaries (.md)</a:t>
                      </a:r>
                    </a:p>
                  </a:txBody>
                  <a:tcPr marT="22000" marB="22000" marL="60000" marR="60000" anchor="ctr">
                    <a:solidFill>
                      <a:srgbClr val="EAF2FA"/>
                    </a:solidFill>
                  </a:tcPr>
                </a:tc>
              </a:tr>
              <a:tr h="365760">
                <a:tc>
                  <a:txBody>
                    <a:bodyPr/>
                    <a:lstStyle/>
                    <a:p>
                      <a:pPr algn="l"/>
                      <a:r>
                        <a:rPr sz="1200" b="1">
                          <a:solidFill>
                            <a:srgbClr val="0B2A4A"/>
                          </a:solidFill>
                          <a:latin typeface="Calibri"/>
                        </a:rPr>
                        <a:t>7 Fusion &amp; NSGA-II</a:t>
                      </a:r>
                    </a:p>
                  </a:txBody>
                  <a:tcPr marT="22000" marB="22000" marL="60000" marR="60000" anchor="ctr">
                    <a:solidFill>
                      <a:srgbClr val="FFFFFF"/>
                    </a:solidFill>
                  </a:tcPr>
                </a:tc>
                <a:tc>
                  <a:txBody>
                    <a:bodyPr/>
                    <a:lstStyle/>
                    <a:p>
                      <a:pPr algn="l"/>
                      <a:r>
                        <a:rPr sz="1200" b="0">
                          <a:solidFill>
                            <a:srgbClr val="0B2A4A"/>
                          </a:solidFill>
                          <a:latin typeface="Calibri"/>
                        </a:rPr>
                        <a:t>src/fusion_optimization.py</a:t>
                      </a:r>
                    </a:p>
                  </a:txBody>
                  <a:tcPr marT="22000" marB="22000" marL="60000" marR="60000" anchor="ctr">
                    <a:solidFill>
                      <a:srgbClr val="FFFFFF"/>
                    </a:solidFill>
                  </a:tcPr>
                </a:tc>
                <a:tc>
                  <a:txBody>
                    <a:bodyPr/>
                    <a:lstStyle/>
                    <a:p>
                      <a:pPr algn="l"/>
                      <a:r>
                        <a:rPr sz="1200" b="0">
                          <a:solidFill>
                            <a:srgbClr val="0B2A4A"/>
                          </a:solidFill>
                          <a:latin typeface="Calibri"/>
                        </a:rPr>
                        <a:t>fusion metrics, Pareto proposals</a:t>
                      </a:r>
                    </a:p>
                  </a:txBody>
                  <a:tcPr marT="22000" marB="22000" marL="60000" marR="60000" anchor="ctr">
                    <a:solidFill>
                      <a:srgbClr val="FFFFFF"/>
                    </a:solidFill>
                  </a:tcPr>
                </a:tc>
              </a:tr>
            </a:tbl>
          </a:graphicData>
        </a:graphic>
      </p:graphicFrame>
      <p:sp>
        <p:nvSpPr>
          <p:cNvPr id="21" name="Note bubble"/>
          <p:cNvSpPr/>
          <p:nvPr/>
        </p:nvSpPr>
        <p:spPr>
          <a:xfrm>
            <a:off x="8641080" y="1417320"/>
            <a:ext cx="3017520" cy="4014215"/>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The work is a fixed sequence of stages, each a script in the repository, so anyone can rerun it end to end.</a:t>
            </a:r>
          </a:p>
          <a:p>
            <a:pPr>
              <a:spcBef>
                <a:spcPts val="500"/>
              </a:spcBef>
            </a:pPr>
            <a:r>
              <a:rPr sz="1300">
                <a:solidFill>
                  <a:srgbClr val="0B2A4A"/>
                </a:solidFill>
                <a:latin typeface="Calibri"/>
              </a:rPr>
              <a:t>Stages 1-5 are classic supervised machine learning on tabular data.</a:t>
            </a:r>
          </a:p>
          <a:p>
            <a:pPr>
              <a:spcBef>
                <a:spcPts val="500"/>
              </a:spcBef>
            </a:pPr>
            <a:r>
              <a:rPr sz="1300">
                <a:solidFill>
                  <a:srgbClr val="0B2A4A"/>
                </a:solidFill>
                <a:latin typeface="Calibri"/>
              </a:rPr>
              <a:t>Stage 6 is where text enters: the AI's numbers are turned into readable engineering sentences.</a:t>
            </a:r>
          </a:p>
          <a:p>
            <a:pPr>
              <a:spcBef>
                <a:spcPts val="500"/>
              </a:spcBef>
            </a:pPr>
            <a:r>
              <a:rPr sz="1300">
                <a:solidFill>
                  <a:srgbClr val="0B2A4A"/>
                </a:solidFill>
                <a:latin typeface="Calibri"/>
              </a:rPr>
              <a:t>Stage 7 links to Module 1 (image features) and searches for new designs.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3 · PIPELINE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How the classic text-AI stages map onto this project</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7 / 21</a:t>
            </a:r>
          </a:p>
        </p:txBody>
      </p:sp>
      <p:graphicFrame>
        <p:nvGraphicFramePr>
          <p:cNvPr id="6" name="Table 5"/>
          <p:cNvGraphicFramePr>
            <a:graphicFrameLocks noGrp="1"/>
          </p:cNvGraphicFramePr>
          <p:nvPr/>
        </p:nvGraphicFramePr>
        <p:xfrm>
          <a:off x="548640" y="1371600"/>
          <a:ext cx="7818120" cy="3968496"/>
        </p:xfrm>
        <a:graphic>
          <a:graphicData uri="http://schemas.openxmlformats.org/drawingml/2006/table">
            <a:tbl>
              <a:tblPr firstRow="1" bandRow="1">
                <a:tableStyleId>{5C22544A-7EE6-4342-B048-85BDC9FD1C3A}</a:tableStyleId>
              </a:tblPr>
              <a:tblGrid>
                <a:gridCol w="2331720"/>
                <a:gridCol w="1143000"/>
                <a:gridCol w="4343400"/>
              </a:tblGrid>
              <a:tr h="566928">
                <a:tc>
                  <a:txBody>
                    <a:bodyPr/>
                    <a:lstStyle/>
                    <a:p>
                      <a:pPr algn="l"/>
                      <a:r>
                        <a:rPr sz="1200" b="1">
                          <a:solidFill>
                            <a:srgbClr val="FFFFFF"/>
                          </a:solidFill>
                          <a:latin typeface="Calibri"/>
                        </a:rPr>
                        <a:t>Text-AI stage</a:t>
                      </a:r>
                    </a:p>
                  </a:txBody>
                  <a:tcPr marT="22000" marB="22000" marL="60000" marR="60000" anchor="ctr">
                    <a:solidFill>
                      <a:srgbClr val="0B2A4A"/>
                    </a:solidFill>
                  </a:tcPr>
                </a:tc>
                <a:tc>
                  <a:txBody>
                    <a:bodyPr/>
                    <a:lstStyle/>
                    <a:p>
                      <a:pPr algn="l"/>
                      <a:r>
                        <a:rPr sz="1200" b="1">
                          <a:solidFill>
                            <a:srgbClr val="FFFFFF"/>
                          </a:solidFill>
                          <a:latin typeface="Calibri"/>
                        </a:rPr>
                        <a:t>Used?</a:t>
                      </a:r>
                    </a:p>
                  </a:txBody>
                  <a:tcPr marT="22000" marB="22000" marL="60000" marR="60000" anchor="ctr">
                    <a:solidFill>
                      <a:srgbClr val="0B2A4A"/>
                    </a:solidFill>
                  </a:tcPr>
                </a:tc>
                <a:tc>
                  <a:txBody>
                    <a:bodyPr/>
                    <a:lstStyle/>
                    <a:p>
                      <a:pPr algn="l"/>
                      <a:r>
                        <a:rPr sz="1200" b="1">
                          <a:solidFill>
                            <a:srgbClr val="FFFFFF"/>
                          </a:solidFill>
                          <a:latin typeface="Calibri"/>
                        </a:rPr>
                        <a:t>What Module 2 does</a:t>
                      </a:r>
                    </a:p>
                  </a:txBody>
                  <a:tcPr marT="22000" marB="22000" marL="60000" marR="60000" anchor="ctr">
                    <a:solidFill>
                      <a:srgbClr val="0B2A4A"/>
                    </a:solidFill>
                  </a:tcPr>
                </a:tc>
              </a:tr>
              <a:tr h="566928">
                <a:tc>
                  <a:txBody>
                    <a:bodyPr/>
                    <a:lstStyle/>
                    <a:p>
                      <a:pPr algn="l"/>
                      <a:r>
                        <a:rPr sz="1200" b="1">
                          <a:solidFill>
                            <a:srgbClr val="0B2A4A"/>
                          </a:solidFill>
                          <a:latin typeface="Calibri"/>
                        </a:rPr>
                        <a:t>1 Data acquisition</a:t>
                      </a:r>
                    </a:p>
                  </a:txBody>
                  <a:tcPr marT="22000" marB="22000" marL="60000" marR="60000" anchor="ctr">
                    <a:solidFill>
                      <a:srgbClr val="EAF2FA"/>
                    </a:solidFill>
                  </a:tcPr>
                </a:tc>
                <a:tc>
                  <a:txBody>
                    <a:bodyPr/>
                    <a:lstStyle/>
                    <a:p>
                      <a:pPr algn="l"/>
                      <a:r>
                        <a:rPr sz="1200" b="0">
                          <a:solidFill>
                            <a:srgbClr val="0B2A4A"/>
                          </a:solidFill>
                          <a:latin typeface="Calibri"/>
                        </a:rPr>
                        <a:t>Yes</a:t>
                      </a:r>
                    </a:p>
                  </a:txBody>
                  <a:tcPr marT="22000" marB="22000" marL="60000" marR="60000" anchor="ctr">
                    <a:solidFill>
                      <a:srgbClr val="EAF2FA"/>
                    </a:solidFill>
                  </a:tcPr>
                </a:tc>
                <a:tc>
                  <a:txBody>
                    <a:bodyPr/>
                    <a:lstStyle/>
                    <a:p>
                      <a:pPr algn="l"/>
                      <a:r>
                        <a:rPr sz="1200" b="0">
                          <a:solidFill>
                            <a:srgbClr val="0B2A4A"/>
                          </a:solidFill>
                          <a:latin typeface="Calibri"/>
                        </a:rPr>
                        <a:t>Downloads two public simulation datasets with pinned versions and SHA-256 checks</a:t>
                      </a:r>
                    </a:p>
                  </a:txBody>
                  <a:tcPr marT="22000" marB="22000" marL="60000" marR="60000" anchor="ctr">
                    <a:solidFill>
                      <a:srgbClr val="EAF2FA"/>
                    </a:solidFill>
                  </a:tcPr>
                </a:tc>
              </a:tr>
              <a:tr h="566928">
                <a:tc>
                  <a:txBody>
                    <a:bodyPr/>
                    <a:lstStyle/>
                    <a:p>
                      <a:pPr algn="l"/>
                      <a:r>
                        <a:rPr sz="1200" b="1">
                          <a:solidFill>
                            <a:srgbClr val="0B2A4A"/>
                          </a:solidFill>
                          <a:latin typeface="Calibri"/>
                        </a:rPr>
                        <a:t>2 Text cleaning &amp; noise removal</a:t>
                      </a:r>
                    </a:p>
                  </a:txBody>
                  <a:tcPr marT="22000" marB="22000" marL="60000" marR="60000" anchor="ctr">
                    <a:solidFill>
                      <a:srgbClr val="FFFFFF"/>
                    </a:solidFill>
                  </a:tcPr>
                </a:tc>
                <a:tc>
                  <a:txBody>
                    <a:bodyPr/>
                    <a:lstStyle/>
                    <a:p>
                      <a:pPr algn="l"/>
                      <a:r>
                        <a:rPr sz="1200" b="0">
                          <a:solidFill>
                            <a:srgbClr val="0B2A4A"/>
                          </a:solidFill>
                          <a:latin typeface="Calibri"/>
                        </a:rPr>
                        <a:t>Adapted</a:t>
                      </a:r>
                    </a:p>
                  </a:txBody>
                  <a:tcPr marT="22000" marB="22000" marL="60000" marR="60000" anchor="ctr">
                    <a:solidFill>
                      <a:srgbClr val="FFFFFF"/>
                    </a:solidFill>
                  </a:tcPr>
                </a:tc>
                <a:tc>
                  <a:txBody>
                    <a:bodyPr/>
                    <a:lstStyle/>
                    <a:p>
                      <a:pPr algn="l"/>
                      <a:r>
                        <a:rPr sz="1200" b="0">
                          <a:solidFill>
                            <a:srgbClr val="0B2A4A"/>
                          </a:solidFill>
                          <a:latin typeface="Calibri"/>
                        </a:rPr>
                        <a:t>Cleans numeric data: names, types, a corrupt entry, solver artefacts, 245 impossible rows</a:t>
                      </a:r>
                    </a:p>
                  </a:txBody>
                  <a:tcPr marT="22000" marB="22000" marL="60000" marR="60000" anchor="ctr">
                    <a:solidFill>
                      <a:srgbClr val="FFFFFF"/>
                    </a:solidFill>
                  </a:tcPr>
                </a:tc>
              </a:tr>
              <a:tr h="566928">
                <a:tc>
                  <a:txBody>
                    <a:bodyPr/>
                    <a:lstStyle/>
                    <a:p>
                      <a:pPr algn="l"/>
                      <a:r>
                        <a:rPr sz="1200" b="1">
                          <a:solidFill>
                            <a:srgbClr val="0B2A4A"/>
                          </a:solidFill>
                          <a:latin typeface="Calibri"/>
                        </a:rPr>
                        <a:t>3 Linguistic &amp; semantic analysis</a:t>
                      </a:r>
                    </a:p>
                  </a:txBody>
                  <a:tcPr marT="22000" marB="22000" marL="60000" marR="60000" anchor="ctr">
                    <a:solidFill>
                      <a:srgbClr val="EAF2FA"/>
                    </a:solidFill>
                  </a:tcPr>
                </a:tc>
                <a:tc>
                  <a:txBody>
                    <a:bodyPr/>
                    <a:lstStyle/>
                    <a:p>
                      <a:pPr algn="l"/>
                      <a:r>
                        <a:rPr sz="1200" b="0">
                          <a:solidFill>
                            <a:srgbClr val="0B2A4A"/>
                          </a:solidFill>
                          <a:latin typeface="Calibri"/>
                        </a:rPr>
                        <a:t>Output side</a:t>
                      </a:r>
                    </a:p>
                  </a:txBody>
                  <a:tcPr marT="22000" marB="22000" marL="60000" marR="60000" anchor="ctr">
                    <a:solidFill>
                      <a:srgbClr val="EAF2FA"/>
                    </a:solidFill>
                  </a:tcPr>
                </a:tc>
                <a:tc>
                  <a:txBody>
                    <a:bodyPr/>
                    <a:lstStyle/>
                    <a:p>
                      <a:pPr algn="l"/>
                      <a:r>
                        <a:rPr sz="1200" b="0">
                          <a:solidFill>
                            <a:srgbClr val="0B2A4A"/>
                          </a:solidFill>
                          <a:latin typeface="Calibri"/>
                        </a:rPr>
                        <a:t>No text is read as input. Semantic rules map numbers to meaning (band, match class) when writing text</a:t>
                      </a:r>
                    </a:p>
                  </a:txBody>
                  <a:tcPr marT="22000" marB="22000" marL="60000" marR="60000" anchor="ctr">
                    <a:solidFill>
                      <a:srgbClr val="EAF2FA"/>
                    </a:solidFill>
                  </a:tcPr>
                </a:tc>
              </a:tr>
              <a:tr h="566928">
                <a:tc>
                  <a:txBody>
                    <a:bodyPr/>
                    <a:lstStyle/>
                    <a:p>
                      <a:pPr algn="l"/>
                      <a:r>
                        <a:rPr sz="1200" b="1">
                          <a:solidFill>
                            <a:srgbClr val="0B2A4A"/>
                          </a:solidFill>
                          <a:latin typeface="Calibri"/>
                        </a:rPr>
                        <a:t>4 Vectorisation</a:t>
                      </a:r>
                    </a:p>
                  </a:txBody>
                  <a:tcPr marT="22000" marB="22000" marL="60000" marR="60000" anchor="ctr">
                    <a:solidFill>
                      <a:srgbClr val="FFFFFF"/>
                    </a:solidFill>
                  </a:tcPr>
                </a:tc>
                <a:tc>
                  <a:txBody>
                    <a:bodyPr/>
                    <a:lstStyle/>
                    <a:p>
                      <a:pPr algn="l"/>
                      <a:r>
                        <a:rPr sz="1200" b="0">
                          <a:solidFill>
                            <a:srgbClr val="0B2A4A"/>
                          </a:solidFill>
                          <a:latin typeface="Calibri"/>
                        </a:rPr>
                        <a:t>Yes (numeric)</a:t>
                      </a:r>
                    </a:p>
                  </a:txBody>
                  <a:tcPr marT="22000" marB="22000" marL="60000" marR="60000" anchor="ctr">
                    <a:solidFill>
                      <a:srgbClr val="FFFFFF"/>
                    </a:solidFill>
                  </a:tcPr>
                </a:tc>
                <a:tc>
                  <a:txBody>
                    <a:bodyPr/>
                    <a:lstStyle/>
                    <a:p>
                      <a:pPr algn="l"/>
                      <a:r>
                        <a:rPr sz="1200" b="0">
                          <a:solidFill>
                            <a:srgbClr val="0B2A4A"/>
                          </a:solidFill>
                          <a:latin typeface="Calibri"/>
                        </a:rPr>
                        <a:t>Design parameters → standardised feature vectors; images → 384-d ViT vectors (from Module 1)</a:t>
                      </a:r>
                    </a:p>
                  </a:txBody>
                  <a:tcPr marT="22000" marB="22000" marL="60000" marR="60000" anchor="ctr">
                    <a:solidFill>
                      <a:srgbClr val="FFFFFF"/>
                    </a:solidFill>
                  </a:tcPr>
                </a:tc>
              </a:tr>
              <a:tr h="566928">
                <a:tc>
                  <a:txBody>
                    <a:bodyPr/>
                    <a:lstStyle/>
                    <a:p>
                      <a:pPr algn="l"/>
                      <a:r>
                        <a:rPr sz="1200" b="1">
                          <a:solidFill>
                            <a:srgbClr val="0B2A4A"/>
                          </a:solidFill>
                          <a:latin typeface="Calibri"/>
                        </a:rPr>
                        <a:t>5 Model building &amp; training</a:t>
                      </a:r>
                    </a:p>
                  </a:txBody>
                  <a:tcPr marT="22000" marB="22000" marL="60000" marR="60000" anchor="ctr">
                    <a:solidFill>
                      <a:srgbClr val="EAF2FA"/>
                    </a:solidFill>
                  </a:tcPr>
                </a:tc>
                <a:tc>
                  <a:txBody>
                    <a:bodyPr/>
                    <a:lstStyle/>
                    <a:p>
                      <a:pPr algn="l"/>
                      <a:r>
                        <a:rPr sz="1200" b="0">
                          <a:solidFill>
                            <a:srgbClr val="0B2A4A"/>
                          </a:solidFill>
                          <a:latin typeface="Calibri"/>
                        </a:rPr>
                        <a:t>Yes</a:t>
                      </a:r>
                    </a:p>
                  </a:txBody>
                  <a:tcPr marT="22000" marB="22000" marL="60000" marR="60000" anchor="ctr">
                    <a:solidFill>
                      <a:srgbClr val="EAF2FA"/>
                    </a:solidFill>
                  </a:tcPr>
                </a:tc>
                <a:tc>
                  <a:txBody>
                    <a:bodyPr/>
                    <a:lstStyle/>
                    <a:p>
                      <a:pPr algn="l"/>
                      <a:r>
                        <a:rPr sz="1200" b="0">
                          <a:solidFill>
                            <a:srgbClr val="0B2A4A"/>
                          </a:solidFill>
                          <a:latin typeface="Calibri"/>
                        </a:rPr>
                        <a:t>Random forest, gradient boosting, ridge, MLP; NSGA-II search on the trained surrogates</a:t>
                      </a:r>
                    </a:p>
                  </a:txBody>
                  <a:tcPr marT="22000" marB="22000" marL="60000" marR="60000" anchor="ctr">
                    <a:solidFill>
                      <a:srgbClr val="EAF2FA"/>
                    </a:solidFill>
                  </a:tcPr>
                </a:tc>
              </a:tr>
              <a:tr h="566928">
                <a:tc>
                  <a:txBody>
                    <a:bodyPr/>
                    <a:lstStyle/>
                    <a:p>
                      <a:pPr algn="l"/>
                      <a:r>
                        <a:rPr sz="1200" b="1">
                          <a:solidFill>
                            <a:srgbClr val="0B2A4A"/>
                          </a:solidFill>
                          <a:latin typeface="Calibri"/>
                        </a:rPr>
                        <a:t>Text generation</a:t>
                      </a:r>
                    </a:p>
                  </a:txBody>
                  <a:tcPr marT="22000" marB="22000" marL="60000" marR="60000" anchor="ctr">
                    <a:solidFill>
                      <a:srgbClr val="FFFFFF"/>
                    </a:solidFill>
                  </a:tcPr>
                </a:tc>
                <a:tc>
                  <a:txBody>
                    <a:bodyPr/>
                    <a:lstStyle/>
                    <a:p>
                      <a:pPr algn="l"/>
                      <a:r>
                        <a:rPr sz="1200" b="0">
                          <a:solidFill>
                            <a:srgbClr val="0B2A4A"/>
                          </a:solidFill>
                          <a:latin typeface="Calibri"/>
                        </a:rPr>
                        <a:t>Yes</a:t>
                      </a:r>
                    </a:p>
                  </a:txBody>
                  <a:tcPr marT="22000" marB="22000" marL="60000" marR="60000" anchor="ctr">
                    <a:solidFill>
                      <a:srgbClr val="FFFFFF"/>
                    </a:solidFill>
                  </a:tcPr>
                </a:tc>
                <a:tc>
                  <a:txBody>
                    <a:bodyPr/>
                    <a:lstStyle/>
                    <a:p>
                      <a:pPr algn="l"/>
                      <a:r>
                        <a:rPr sz="1200" b="0">
                          <a:solidFill>
                            <a:srgbClr val="0B2A4A"/>
                          </a:solidFill>
                          <a:latin typeface="Calibri"/>
                        </a:rPr>
                        <a:t>Data-to-text templates write one summary per design; no language model, no invented values</a:t>
                      </a:r>
                    </a:p>
                  </a:txBody>
                  <a:tcPr marT="22000" marB="22000" marL="60000" marR="60000" anchor="ctr">
                    <a:solidFill>
                      <a:srgbClr val="FFFFFF"/>
                    </a:solidFill>
                  </a:tcPr>
                </a:tc>
              </a:tr>
            </a:tbl>
          </a:graphicData>
        </a:graphic>
      </p:graphicFrame>
      <p:sp>
        <p:nvSpPr>
          <p:cNvPr id="7" name="Note bubble"/>
          <p:cNvSpPr/>
          <p:nvPr/>
        </p:nvSpPr>
        <p:spPr>
          <a:xfrm>
            <a:off x="8641080" y="1417320"/>
            <a:ext cx="3017520" cy="4238244"/>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Module 2 is a numerical-text module: its inputs are numbers and its text is an output.</a:t>
            </a:r>
          </a:p>
          <a:p>
            <a:pPr>
              <a:spcBef>
                <a:spcPts val="500"/>
              </a:spcBef>
            </a:pPr>
            <a:r>
              <a:rPr sz="1300">
                <a:solidFill>
                  <a:srgbClr val="0B2A4A"/>
                </a:solidFill>
                <a:latin typeface="Calibri"/>
              </a:rPr>
              <a:t>So linguistic analysis of input text (tokenising, parsing, sentiment) is not used - there is no input text to analyse.</a:t>
            </a:r>
          </a:p>
          <a:p>
            <a:pPr>
              <a:spcBef>
                <a:spcPts val="500"/>
              </a:spcBef>
            </a:pPr>
            <a:r>
              <a:rPr sz="1300">
                <a:solidFill>
                  <a:srgbClr val="0B2A4A"/>
                </a:solidFill>
                <a:latin typeface="Calibri"/>
              </a:rPr>
              <a:t>The 'semantic' step happens when writing: rules decide what a number means for an engineer (in n78? matched?).</a:t>
            </a:r>
          </a:p>
          <a:p>
            <a:pPr>
              <a:spcBef>
                <a:spcPts val="500"/>
              </a:spcBef>
            </a:pPr>
            <a:r>
              <a:rPr sz="1300">
                <a:solidFill>
                  <a:srgbClr val="0B2A4A"/>
                </a:solidFill>
                <a:latin typeface="Calibri"/>
              </a:rPr>
              <a:t>Vectorisation is numeric: each design becomes a vector the models can learn from.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3 · PIPELINE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Stage 1 - Data acquisition</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8 / 21</a:t>
            </a:r>
          </a:p>
        </p:txBody>
      </p:sp>
      <p:sp>
        <p:nvSpPr>
          <p:cNvPr id="6" name="Rounded Rectangle 5"/>
          <p:cNvSpPr/>
          <p:nvPr/>
        </p:nvSpPr>
        <p:spPr>
          <a:xfrm>
            <a:off x="548640" y="1417320"/>
            <a:ext cx="3794760" cy="237744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90472"/>
            <a:ext cx="3520440" cy="365760"/>
          </a:xfrm>
          <a:prstGeom prst="rect">
            <a:avLst/>
          </a:prstGeom>
          <a:noFill/>
        </p:spPr>
        <p:txBody>
          <a:bodyPr wrap="square" anchor="t" lIns="45720" rIns="45720">
            <a:spAutoFit/>
          </a:bodyPr>
          <a:lstStyle/>
          <a:p>
            <a:pPr algn="l"/>
            <a:r>
              <a:rPr sz="1500" b="1">
                <a:solidFill>
                  <a:srgbClr val="2F6FAE"/>
                </a:solidFill>
                <a:latin typeface="Calibri"/>
              </a:rPr>
              <a:t>openEMS patch sweep</a:t>
            </a:r>
          </a:p>
        </p:txBody>
      </p:sp>
      <p:sp>
        <p:nvSpPr>
          <p:cNvPr id="8" name="TextBox 7"/>
          <p:cNvSpPr txBox="1"/>
          <p:nvPr/>
        </p:nvSpPr>
        <p:spPr>
          <a:xfrm>
            <a:off x="685800" y="1856232"/>
            <a:ext cx="3520440" cy="1874520"/>
          </a:xfrm>
          <a:prstGeom prst="rect">
            <a:avLst/>
          </a:prstGeom>
          <a:noFill/>
        </p:spPr>
        <p:txBody>
          <a:bodyPr wrap="square" anchor="t" lIns="45720" rIns="45720">
            <a:spAutoFit/>
          </a:bodyPr>
          <a:lstStyle/>
          <a:p>
            <a:pPr algn="l"/>
            <a:r>
              <a:rPr sz="1300" b="0">
                <a:solidFill>
                  <a:srgbClr val="0B2A4A"/>
                </a:solidFill>
                <a:latin typeface="Calibri"/>
              </a:rPr>
              <a:t>2,051 coax-fed rectangular patches (Hugging Face, MIT, rev 4be72a2). Inputs: L, W, feed offset. Output: a 1,000-point S11 curve from 1 to 10 GHz per design (full-wave FDTD).</a:t>
            </a:r>
          </a:p>
        </p:txBody>
      </p:sp>
      <p:sp>
        <p:nvSpPr>
          <p:cNvPr id="9" name="Rounded Rectangle 8"/>
          <p:cNvSpPr/>
          <p:nvPr/>
        </p:nvSpPr>
        <p:spPr>
          <a:xfrm>
            <a:off x="4526280" y="1417320"/>
            <a:ext cx="3840480" cy="237744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490472"/>
            <a:ext cx="3566160" cy="365760"/>
          </a:xfrm>
          <a:prstGeom prst="rect">
            <a:avLst/>
          </a:prstGeom>
          <a:noFill/>
        </p:spPr>
        <p:txBody>
          <a:bodyPr wrap="square" anchor="t" lIns="45720" rIns="45720">
            <a:spAutoFit/>
          </a:bodyPr>
          <a:lstStyle/>
          <a:p>
            <a:pPr algn="l"/>
            <a:r>
              <a:rPr sz="1500" b="1">
                <a:solidFill>
                  <a:srgbClr val="2F6FAE"/>
                </a:solidFill>
                <a:latin typeface="Calibri"/>
              </a:rPr>
              <a:t>Mendeley dual-slot patch</a:t>
            </a:r>
          </a:p>
        </p:txBody>
      </p:sp>
      <p:sp>
        <p:nvSpPr>
          <p:cNvPr id="11" name="TextBox 10"/>
          <p:cNvSpPr txBox="1"/>
          <p:nvPr/>
        </p:nvSpPr>
        <p:spPr>
          <a:xfrm>
            <a:off x="4663440" y="1856232"/>
            <a:ext cx="3566160" cy="1874520"/>
          </a:xfrm>
          <a:prstGeom prst="rect">
            <a:avLst/>
          </a:prstGeom>
          <a:noFill/>
        </p:spPr>
        <p:txBody>
          <a:bodyPr wrap="square" anchor="t" lIns="45720" rIns="45720">
            <a:spAutoFit/>
          </a:bodyPr>
          <a:lstStyle/>
          <a:p>
            <a:pPr algn="l"/>
            <a:r>
              <a:rPr sz="1300" b="0">
                <a:solidFill>
                  <a:srgbClr val="0B2A4A"/>
                </a:solidFill>
                <a:latin typeface="Calibri"/>
              </a:rPr>
              <a:t>103 slotted designs × 16 frequencies, 1–50 GHz (Mendeley Data v2, CC BY 4.0). Inputs: 10 dimensions incl. two slots. Outputs: S11, gain, directivity, efficiency, VSWR.</a:t>
            </a:r>
          </a:p>
        </p:txBody>
      </p:sp>
      <p:sp>
        <p:nvSpPr>
          <p:cNvPr id="12" name="Rounded Rectangle 11"/>
          <p:cNvSpPr/>
          <p:nvPr/>
        </p:nvSpPr>
        <p:spPr>
          <a:xfrm>
            <a:off x="548640" y="3977639"/>
            <a:ext cx="3794760" cy="196596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50791"/>
            <a:ext cx="3520440" cy="365760"/>
          </a:xfrm>
          <a:prstGeom prst="rect">
            <a:avLst/>
          </a:prstGeom>
          <a:noFill/>
        </p:spPr>
        <p:txBody>
          <a:bodyPr wrap="square" anchor="t" lIns="45720" rIns="45720">
            <a:spAutoFit/>
          </a:bodyPr>
          <a:lstStyle/>
          <a:p>
            <a:pPr algn="l"/>
            <a:r>
              <a:rPr sz="1500" b="1">
                <a:solidFill>
                  <a:srgbClr val="2F6FAE"/>
                </a:solidFill>
                <a:latin typeface="Calibri"/>
              </a:rPr>
              <a:t>Module 1 image embeddings</a:t>
            </a:r>
          </a:p>
        </p:txBody>
      </p:sp>
      <p:sp>
        <p:nvSpPr>
          <p:cNvPr id="14" name="TextBox 13"/>
          <p:cNvSpPr txBox="1"/>
          <p:nvPr/>
        </p:nvSpPr>
        <p:spPr>
          <a:xfrm>
            <a:off x="685800" y="4416551"/>
            <a:ext cx="3520440" cy="1463040"/>
          </a:xfrm>
          <a:prstGeom prst="rect">
            <a:avLst/>
          </a:prstGeom>
          <a:noFill/>
        </p:spPr>
        <p:txBody>
          <a:bodyPr wrap="square" anchor="t" lIns="45720" rIns="45720">
            <a:spAutoFit/>
          </a:bodyPr>
          <a:lstStyle/>
          <a:p>
            <a:pPr algn="l"/>
            <a:r>
              <a:rPr sz="1300" b="0">
                <a:solidFill>
                  <a:srgbClr val="0B2A4A"/>
                </a:solidFill>
                <a:latin typeface="Calibri"/>
              </a:rPr>
              <a:t>384-d ViT vector per patch design, exported by Module 1; SHA-256 hashes recorded in provenance.json.</a:t>
            </a:r>
          </a:p>
        </p:txBody>
      </p:sp>
      <p:sp>
        <p:nvSpPr>
          <p:cNvPr id="15" name="Rounded Rectangle 14"/>
          <p:cNvSpPr/>
          <p:nvPr/>
        </p:nvSpPr>
        <p:spPr>
          <a:xfrm>
            <a:off x="4526280" y="3977639"/>
            <a:ext cx="3840480" cy="196596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4050791"/>
            <a:ext cx="3566160" cy="365760"/>
          </a:xfrm>
          <a:prstGeom prst="rect">
            <a:avLst/>
          </a:prstGeom>
          <a:noFill/>
        </p:spPr>
        <p:txBody>
          <a:bodyPr wrap="square" anchor="t" lIns="45720" rIns="45720">
            <a:spAutoFit/>
          </a:bodyPr>
          <a:lstStyle/>
          <a:p>
            <a:pPr algn="l"/>
            <a:r>
              <a:rPr sz="1500" b="1">
                <a:solidFill>
                  <a:srgbClr val="2F6FAE"/>
                </a:solidFill>
                <a:latin typeface="Calibri"/>
              </a:rPr>
              <a:t>Locked split (shared)</a:t>
            </a:r>
          </a:p>
        </p:txBody>
      </p:sp>
      <p:sp>
        <p:nvSpPr>
          <p:cNvPr id="17" name="TextBox 16"/>
          <p:cNvSpPr txBox="1"/>
          <p:nvPr/>
        </p:nvSpPr>
        <p:spPr>
          <a:xfrm>
            <a:off x="4663440" y="4416551"/>
            <a:ext cx="3566160" cy="1463040"/>
          </a:xfrm>
          <a:prstGeom prst="rect">
            <a:avLst/>
          </a:prstGeom>
          <a:noFill/>
        </p:spPr>
        <p:txBody>
          <a:bodyPr wrap="square" anchor="t" lIns="45720" rIns="45720">
            <a:spAutoFit/>
          </a:bodyPr>
          <a:lstStyle/>
          <a:p>
            <a:pPr algn="l"/>
            <a:r>
              <a:rPr sz="1300" b="0">
                <a:solidFill>
                  <a:srgbClr val="0B2A4A"/>
                </a:solidFill>
                <a:latin typeface="Calibri"/>
              </a:rPr>
              <a:t>1,220 train · 262 validation · 262 test · 307 out-of-distribution (W/L &gt; 1.95), seed 42.</a:t>
            </a:r>
          </a:p>
        </p:txBody>
      </p:sp>
      <p:sp>
        <p:nvSpPr>
          <p:cNvPr id="18" name="Note bubble"/>
          <p:cNvSpPr/>
          <p:nvPr/>
        </p:nvSpPr>
        <p:spPr>
          <a:xfrm>
            <a:off x="8641080" y="1417320"/>
            <a:ext cx="3017520" cy="4014215"/>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No public HFSS dataset of hybrid-slotted DGS antennas exists, so two verified public simulation datasets stand in.</a:t>
            </a:r>
          </a:p>
          <a:p>
            <a:pPr>
              <a:spcBef>
                <a:spcPts val="500"/>
              </a:spcBef>
            </a:pPr>
            <a:r>
              <a:rPr sz="1300">
                <a:solidFill>
                  <a:srgbClr val="0B2A4A"/>
                </a:solidFill>
                <a:latin typeface="Calibri"/>
              </a:rPr>
              <a:t>The patch sweep gives full S11 curves; the Mendeley set adds slots, gain and efficiency.</a:t>
            </a:r>
          </a:p>
          <a:p>
            <a:pPr>
              <a:spcBef>
                <a:spcPts val="500"/>
              </a:spcBef>
            </a:pPr>
            <a:r>
              <a:rPr sz="1300">
                <a:solidFill>
                  <a:srgbClr val="0B2A4A"/>
                </a:solidFill>
                <a:latin typeface="Calibri"/>
              </a:rPr>
              <a:t>Raw files are re-downloaded by script with checksums, so the data trail is reproducible.</a:t>
            </a:r>
          </a:p>
          <a:p>
            <a:pPr>
              <a:spcBef>
                <a:spcPts val="500"/>
              </a:spcBef>
            </a:pPr>
            <a:r>
              <a:rPr sz="1300">
                <a:solidFill>
                  <a:srgbClr val="0B2A4A"/>
                </a:solidFill>
                <a:latin typeface="Calibri"/>
              </a:rPr>
              <a:t>Module 2 uses the same locked split as Module 1, so test results refer to the same designs.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3 · PIPELINE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Stage 2 - Cleaning and noise removal</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9 / 21</a:t>
            </a:r>
          </a:p>
        </p:txBody>
      </p:sp>
      <p:sp>
        <p:nvSpPr>
          <p:cNvPr id="6" name="TextBox 5"/>
          <p:cNvSpPr txBox="1"/>
          <p:nvPr/>
        </p:nvSpPr>
        <p:spPr>
          <a:xfrm>
            <a:off x="548640" y="1371600"/>
            <a:ext cx="3931920" cy="4480560"/>
          </a:xfrm>
          <a:prstGeom prst="rect">
            <a:avLst/>
          </a:prstGeom>
          <a:noFill/>
        </p:spPr>
        <p:txBody>
          <a:bodyPr wrap="square">
            <a:spAutoFit/>
          </a:bodyPr>
          <a:lstStyle/>
          <a:p>
            <a:pPr>
              <a:spcAft>
                <a:spcPts val="600"/>
              </a:spcAft>
            </a:pPr>
            <a:r>
              <a:rPr sz="1400">
                <a:solidFill>
                  <a:srgbClr val="2F6FAE"/>
                </a:solidFill>
                <a:latin typeface="Calibri"/>
              </a:rPr>
              <a:t>▪  </a:t>
            </a:r>
            <a:r>
              <a:rPr sz="1400" b="1">
                <a:solidFill>
                  <a:srgbClr val="0B2A4A"/>
                </a:solidFill>
                <a:latin typeface="Calibri"/>
              </a:rPr>
              <a:t>Column names and types: </a:t>
            </a:r>
            <a:r>
              <a:rPr sz="1400" b="0">
                <a:solidFill>
                  <a:srgbClr val="0B2A4A"/>
                </a:solidFill>
                <a:latin typeface="Calibri"/>
              </a:rPr>
              <a:t>stripped, renamed, cast to numbers</a:t>
            </a:r>
          </a:p>
          <a:p>
            <a:pPr>
              <a:spcAft>
                <a:spcPts val="600"/>
              </a:spcAft>
            </a:pPr>
            <a:r>
              <a:rPr sz="1400">
                <a:solidFill>
                  <a:srgbClr val="2F6FAE"/>
                </a:solidFill>
                <a:latin typeface="Calibri"/>
              </a:rPr>
              <a:t>▪  </a:t>
            </a:r>
            <a:r>
              <a:rPr sz="1400" b="1">
                <a:solidFill>
                  <a:srgbClr val="0B2A4A"/>
                </a:solidFill>
                <a:latin typeface="Calibri"/>
              </a:rPr>
              <a:t>Corrupt entry: </a:t>
            </a:r>
            <a:r>
              <a:rPr sz="1400" b="0">
                <a:solidFill>
                  <a:srgbClr val="0B2A4A"/>
                </a:solidFill>
                <a:latin typeface="Calibri"/>
              </a:rPr>
              <a:t>1 truncated efficiency value set to missing</a:t>
            </a:r>
          </a:p>
          <a:p>
            <a:pPr>
              <a:spcAft>
                <a:spcPts val="600"/>
              </a:spcAft>
            </a:pPr>
            <a:r>
              <a:rPr sz="1400">
                <a:solidFill>
                  <a:srgbClr val="2F6FAE"/>
                </a:solidFill>
                <a:latin typeface="Calibri"/>
              </a:rPr>
              <a:t>▪  </a:t>
            </a:r>
            <a:r>
              <a:rPr sz="1400" b="1">
                <a:solidFill>
                  <a:srgbClr val="0B2A4A"/>
                </a:solidFill>
                <a:latin typeface="Calibri"/>
              </a:rPr>
              <a:t>Solver artefacts: </a:t>
            </a:r>
            <a:r>
              <a:rPr sz="1400" b="0">
                <a:solidFill>
                  <a:srgbClr val="0B2A4A"/>
                </a:solidFill>
                <a:latin typeface="Calibri"/>
              </a:rPr>
              <a:t>1,170 curves rise ≤ 0.2 dB above 0 dB - documented, kept</a:t>
            </a:r>
          </a:p>
          <a:p>
            <a:pPr>
              <a:spcAft>
                <a:spcPts val="600"/>
              </a:spcAft>
            </a:pPr>
            <a:r>
              <a:rPr sz="1400">
                <a:solidFill>
                  <a:srgbClr val="2F6FAE"/>
                </a:solidFill>
                <a:latin typeface="Calibri"/>
              </a:rPr>
              <a:t>▪  </a:t>
            </a:r>
            <a:r>
              <a:rPr sz="1400" b="1">
                <a:solidFill>
                  <a:srgbClr val="0B2A4A"/>
                </a:solidFill>
                <a:latin typeface="Calibri"/>
              </a:rPr>
              <a:t>Physically impossible rows: </a:t>
            </a:r>
            <a:r>
              <a:rPr sz="1400" b="0">
                <a:solidFill>
                  <a:srgbClr val="0B2A4A"/>
                </a:solidFill>
                <a:latin typeface="Calibri"/>
              </a:rPr>
              <a:t>245 of 1,648 (efficiency &gt; 1, gain &gt; directivity, D &gt; 20 dBi) removed from gain / efficiency</a:t>
            </a:r>
          </a:p>
          <a:p>
            <a:pPr>
              <a:spcAft>
                <a:spcPts val="600"/>
              </a:spcAft>
            </a:pPr>
            <a:r>
              <a:rPr sz="1400">
                <a:solidFill>
                  <a:srgbClr val="2F6FAE"/>
                </a:solidFill>
                <a:latin typeface="Calibri"/>
              </a:rPr>
              <a:t>▪  </a:t>
            </a:r>
            <a:r>
              <a:rPr sz="1400" b="1">
                <a:solidFill>
                  <a:srgbClr val="0B2A4A"/>
                </a:solidFill>
                <a:latin typeface="Calibri"/>
              </a:rPr>
              <a:t>Duplicates / missing: </a:t>
            </a:r>
            <a:r>
              <a:rPr sz="1400" b="0">
                <a:solidFill>
                  <a:srgbClr val="0B2A4A"/>
                </a:solidFill>
                <a:latin typeface="Calibri"/>
              </a:rPr>
              <a:t>0 duplicate designs, 0 missing values</a:t>
            </a:r>
          </a:p>
          <a:p>
            <a:pPr>
              <a:spcAft>
                <a:spcPts val="600"/>
              </a:spcAft>
            </a:pPr>
            <a:r>
              <a:rPr sz="1400">
                <a:solidFill>
                  <a:srgbClr val="2F6FAE"/>
                </a:solidFill>
                <a:latin typeface="Calibri"/>
              </a:rPr>
              <a:t>▪  </a:t>
            </a:r>
            <a:r>
              <a:rPr sz="1400" b="1">
                <a:solidFill>
                  <a:srgbClr val="0B2A4A"/>
                </a:solidFill>
                <a:latin typeface="Calibri"/>
              </a:rPr>
              <a:t>Curve → targets: </a:t>
            </a:r>
            <a:r>
              <a:rPr sz="1400" b="0">
                <a:solidFill>
                  <a:srgbClr val="0B2A4A"/>
                </a:solidFill>
                <a:latin typeface="Calibri"/>
              </a:rPr>
              <a:t>the noisy S11 curve is reduced to 4 robust numbers</a:t>
            </a:r>
          </a:p>
        </p:txBody>
      </p:sp>
      <p:pic>
        <p:nvPicPr>
          <p:cNvPr id="7" name="Picture 6" descr="s11_target_extraction.png"/>
          <p:cNvPicPr>
            <a:picLocks noChangeAspect="1"/>
          </p:cNvPicPr>
          <p:nvPr/>
        </p:nvPicPr>
        <p:blipFill>
          <a:blip r:embed="rId2"/>
          <a:stretch>
            <a:fillRect/>
          </a:stretch>
        </p:blipFill>
        <p:spPr>
          <a:xfrm>
            <a:off x="4572000" y="1463040"/>
            <a:ext cx="3794760" cy="1791970"/>
          </a:xfrm>
          <a:prstGeom prst="rect">
            <a:avLst/>
          </a:prstGeom>
        </p:spPr>
      </p:pic>
      <p:sp>
        <p:nvSpPr>
          <p:cNvPr id="8" name="TextBox 7"/>
          <p:cNvSpPr txBox="1"/>
          <p:nvPr/>
        </p:nvSpPr>
        <p:spPr>
          <a:xfrm>
            <a:off x="4572000" y="3337560"/>
            <a:ext cx="3794760" cy="1463040"/>
          </a:xfrm>
          <a:prstGeom prst="rect">
            <a:avLst/>
          </a:prstGeom>
          <a:noFill/>
        </p:spPr>
        <p:txBody>
          <a:bodyPr wrap="square" anchor="t" lIns="45720" rIns="45720">
            <a:spAutoFit/>
          </a:bodyPr>
          <a:lstStyle/>
          <a:p>
            <a:pPr algn="l"/>
            <a:r>
              <a:rPr sz="1200" b="0">
                <a:solidFill>
                  <a:srgbClr val="5F6B76"/>
                </a:solidFill>
                <a:latin typeface="Calibri"/>
              </a:rPr>
              <a:t>The first matched resonance is used, not the deepest dip: the deepest dip (here near 7.8 GHz) is often a higher-order mode.</a:t>
            </a:r>
          </a:p>
        </p:txBody>
      </p:sp>
      <p:sp>
        <p:nvSpPr>
          <p:cNvPr id="9" name="Note bubble"/>
          <p:cNvSpPr/>
          <p:nvPr/>
        </p:nvSpPr>
        <p:spPr>
          <a:xfrm>
            <a:off x="8641080" y="1417320"/>
            <a:ext cx="3017520" cy="3483864"/>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For numeric data, 'noise removal' means finding values that cannot be physical and handling them by a fixed, documented rule.</a:t>
            </a:r>
          </a:p>
          <a:p>
            <a:pPr>
              <a:spcBef>
                <a:spcPts val="500"/>
              </a:spcBef>
            </a:pPr>
            <a:r>
              <a:rPr sz="1300">
                <a:solidFill>
                  <a:srgbClr val="0B2A4A"/>
                </a:solidFill>
                <a:latin typeface="Calibri"/>
              </a:rPr>
              <a:t>Rows are flagged rather than silently deleted, so the decision can be audited.</a:t>
            </a:r>
          </a:p>
          <a:p>
            <a:pPr>
              <a:spcBef>
                <a:spcPts val="500"/>
              </a:spcBef>
            </a:pPr>
            <a:r>
              <a:rPr sz="1300">
                <a:solidFill>
                  <a:srgbClr val="0B2A4A"/>
                </a:solidFill>
                <a:latin typeface="Calibri"/>
              </a:rPr>
              <a:t>Reducing each 1,000-point curve to four engineering targets removes ripple and keeps what engineers care about.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4 · FEATURES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Inputs: the features the AI learns from</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10 / 21</a:t>
            </a:r>
          </a:p>
        </p:txBody>
      </p:sp>
      <p:graphicFrame>
        <p:nvGraphicFramePr>
          <p:cNvPr id="6" name="Table 5"/>
          <p:cNvGraphicFramePr>
            <a:graphicFrameLocks noGrp="1"/>
          </p:cNvGraphicFramePr>
          <p:nvPr/>
        </p:nvGraphicFramePr>
        <p:xfrm>
          <a:off x="548640" y="1371600"/>
          <a:ext cx="7818120" cy="4297680"/>
        </p:xfrm>
        <a:graphic>
          <a:graphicData uri="http://schemas.openxmlformats.org/drawingml/2006/table">
            <a:tbl>
              <a:tblPr firstRow="1" bandRow="1">
                <a:tableStyleId>{5C22544A-7EE6-4342-B048-85BDC9FD1C3A}</a:tableStyleId>
              </a:tblPr>
              <a:tblGrid>
                <a:gridCol w="2743200"/>
                <a:gridCol w="822960"/>
                <a:gridCol w="4251960"/>
              </a:tblGrid>
              <a:tr h="429768">
                <a:tc>
                  <a:txBody>
                    <a:bodyPr/>
                    <a:lstStyle/>
                    <a:p>
                      <a:pPr algn="l"/>
                      <a:r>
                        <a:rPr sz="1200" b="1">
                          <a:solidFill>
                            <a:srgbClr val="FFFFFF"/>
                          </a:solidFill>
                          <a:latin typeface="Calibri"/>
                        </a:rPr>
                        <a:t>Feature (input)</a:t>
                      </a:r>
                    </a:p>
                  </a:txBody>
                  <a:tcPr marT="22000" marB="22000" marL="60000" marR="60000" anchor="ctr">
                    <a:solidFill>
                      <a:srgbClr val="0B2A4A"/>
                    </a:solidFill>
                  </a:tcPr>
                </a:tc>
                <a:tc>
                  <a:txBody>
                    <a:bodyPr/>
                    <a:lstStyle/>
                    <a:p>
                      <a:pPr algn="l"/>
                      <a:r>
                        <a:rPr sz="1200" b="1">
                          <a:solidFill>
                            <a:srgbClr val="FFFFFF"/>
                          </a:solidFill>
                          <a:latin typeface="Calibri"/>
                        </a:rPr>
                        <a:t>Unit</a:t>
                      </a:r>
                    </a:p>
                  </a:txBody>
                  <a:tcPr marT="22000" marB="22000" marL="60000" marR="60000" anchor="ctr">
                    <a:solidFill>
                      <a:srgbClr val="0B2A4A"/>
                    </a:solidFill>
                  </a:tcPr>
                </a:tc>
                <a:tc>
                  <a:txBody>
                    <a:bodyPr/>
                    <a:lstStyle/>
                    <a:p>
                      <a:pPr algn="l"/>
                      <a:r>
                        <a:rPr sz="1200" b="1">
                          <a:solidFill>
                            <a:srgbClr val="FFFFFF"/>
                          </a:solidFill>
                          <a:latin typeface="Calibri"/>
                        </a:rPr>
                        <a:t>Why it matters physically</a:t>
                      </a:r>
                    </a:p>
                  </a:txBody>
                  <a:tcPr marT="22000" marB="22000" marL="60000" marR="60000" anchor="ctr">
                    <a:solidFill>
                      <a:srgbClr val="0B2A4A"/>
                    </a:solidFill>
                  </a:tcPr>
                </a:tc>
              </a:tr>
              <a:tr h="429768">
                <a:tc>
                  <a:txBody>
                    <a:bodyPr/>
                    <a:lstStyle/>
                    <a:p>
                      <a:pPr algn="l"/>
                      <a:r>
                        <a:rPr sz="1200" b="1">
                          <a:solidFill>
                            <a:srgbClr val="0B2A4A"/>
                          </a:solidFill>
                          <a:latin typeface="Calibri"/>
                        </a:rPr>
                        <a:t>Patch length L</a:t>
                      </a:r>
                    </a:p>
                  </a:txBody>
                  <a:tcPr marT="22000" marB="22000" marL="60000" marR="60000" anchor="ctr">
                    <a:solidFill>
                      <a:srgbClr val="EAF2FA"/>
                    </a:solidFill>
                  </a:tcPr>
                </a:tc>
                <a:tc>
                  <a:txBody>
                    <a:bodyPr/>
                    <a:lstStyle/>
                    <a:p>
                      <a:pPr algn="l"/>
                      <a:r>
                        <a:rPr sz="1200" b="0">
                          <a:solidFill>
                            <a:srgbClr val="0B2A4A"/>
                          </a:solidFill>
                          <a:latin typeface="Calibri"/>
                        </a:rPr>
                        <a:t>mm</a:t>
                      </a:r>
                    </a:p>
                  </a:txBody>
                  <a:tcPr marT="22000" marB="22000" marL="60000" marR="60000" anchor="ctr">
                    <a:solidFill>
                      <a:srgbClr val="EAF2FA"/>
                    </a:solidFill>
                  </a:tcPr>
                </a:tc>
                <a:tc>
                  <a:txBody>
                    <a:bodyPr/>
                    <a:lstStyle/>
                    <a:p>
                      <a:pPr algn="l"/>
                      <a:r>
                        <a:rPr sz="1200" b="0">
                          <a:solidFill>
                            <a:srgbClr val="0B2A4A"/>
                          </a:solidFill>
                          <a:latin typeface="Calibri"/>
                        </a:rPr>
                        <a:t>sets the half-wavelength resonance → main driver of f_res</a:t>
                      </a:r>
                    </a:p>
                  </a:txBody>
                  <a:tcPr marT="22000" marB="22000" marL="60000" marR="60000" anchor="ctr">
                    <a:solidFill>
                      <a:srgbClr val="EAF2FA"/>
                    </a:solidFill>
                  </a:tcPr>
                </a:tc>
              </a:tr>
              <a:tr h="429768">
                <a:tc>
                  <a:txBody>
                    <a:bodyPr/>
                    <a:lstStyle/>
                    <a:p>
                      <a:pPr algn="l"/>
                      <a:r>
                        <a:rPr sz="1200" b="1">
                          <a:solidFill>
                            <a:srgbClr val="0B2A4A"/>
                          </a:solidFill>
                          <a:latin typeface="Calibri"/>
                        </a:rPr>
                        <a:t>Patch width W</a:t>
                      </a:r>
                    </a:p>
                  </a:txBody>
                  <a:tcPr marT="22000" marB="22000" marL="60000" marR="60000" anchor="ctr">
                    <a:solidFill>
                      <a:srgbClr val="FFFFFF"/>
                    </a:solidFill>
                  </a:tcPr>
                </a:tc>
                <a:tc>
                  <a:txBody>
                    <a:bodyPr/>
                    <a:lstStyle/>
                    <a:p>
                      <a:pPr algn="l"/>
                      <a:r>
                        <a:rPr sz="1200" b="0">
                          <a:solidFill>
                            <a:srgbClr val="0B2A4A"/>
                          </a:solidFill>
                          <a:latin typeface="Calibri"/>
                        </a:rPr>
                        <a:t>mm</a:t>
                      </a:r>
                    </a:p>
                  </a:txBody>
                  <a:tcPr marT="22000" marB="22000" marL="60000" marR="60000" anchor="ctr">
                    <a:solidFill>
                      <a:srgbClr val="FFFFFF"/>
                    </a:solidFill>
                  </a:tcPr>
                </a:tc>
                <a:tc>
                  <a:txBody>
                    <a:bodyPr/>
                    <a:lstStyle/>
                    <a:p>
                      <a:pPr algn="l"/>
                      <a:r>
                        <a:rPr sz="1200" b="0">
                          <a:solidFill>
                            <a:srgbClr val="0B2A4A"/>
                          </a:solidFill>
                          <a:latin typeface="Calibri"/>
                        </a:rPr>
                        <a:t>changes radiation resistance, bandwidth and gain</a:t>
                      </a:r>
                    </a:p>
                  </a:txBody>
                  <a:tcPr marT="22000" marB="22000" marL="60000" marR="60000" anchor="ctr">
                    <a:solidFill>
                      <a:srgbClr val="FFFFFF"/>
                    </a:solidFill>
                  </a:tcPr>
                </a:tc>
              </a:tr>
              <a:tr h="429768">
                <a:tc>
                  <a:txBody>
                    <a:bodyPr/>
                    <a:lstStyle/>
                    <a:p>
                      <a:pPr algn="l"/>
                      <a:r>
                        <a:rPr sz="1200" b="1">
                          <a:solidFill>
                            <a:srgbClr val="0B2A4A"/>
                          </a:solidFill>
                          <a:latin typeface="Calibri"/>
                        </a:rPr>
                        <a:t>Feed offset (from centre)</a:t>
                      </a:r>
                    </a:p>
                  </a:txBody>
                  <a:tcPr marT="22000" marB="22000" marL="60000" marR="60000" anchor="ctr">
                    <a:solidFill>
                      <a:srgbClr val="EAF2FA"/>
                    </a:solidFill>
                  </a:tcPr>
                </a:tc>
                <a:tc>
                  <a:txBody>
                    <a:bodyPr/>
                    <a:lstStyle/>
                    <a:p>
                      <a:pPr algn="l"/>
                      <a:r>
                        <a:rPr sz="1200" b="0">
                          <a:solidFill>
                            <a:srgbClr val="0B2A4A"/>
                          </a:solidFill>
                          <a:latin typeface="Calibri"/>
                        </a:rPr>
                        <a:t>mm</a:t>
                      </a:r>
                    </a:p>
                  </a:txBody>
                  <a:tcPr marT="22000" marB="22000" marL="60000" marR="60000" anchor="ctr">
                    <a:solidFill>
                      <a:srgbClr val="EAF2FA"/>
                    </a:solidFill>
                  </a:tcPr>
                </a:tc>
                <a:tc>
                  <a:txBody>
                    <a:bodyPr/>
                    <a:lstStyle/>
                    <a:p>
                      <a:pPr algn="l"/>
                      <a:r>
                        <a:rPr sz="1200" b="0">
                          <a:solidFill>
                            <a:srgbClr val="0B2A4A"/>
                          </a:solidFill>
                          <a:latin typeface="Calibri"/>
                        </a:rPr>
                        <a:t>sets input impedance → controls the S11 match</a:t>
                      </a:r>
                    </a:p>
                  </a:txBody>
                  <a:tcPr marT="22000" marB="22000" marL="60000" marR="60000" anchor="ctr">
                    <a:solidFill>
                      <a:srgbClr val="EAF2FA"/>
                    </a:solidFill>
                  </a:tcPr>
                </a:tc>
              </a:tr>
              <a:tr h="429768">
                <a:tc>
                  <a:txBody>
                    <a:bodyPr/>
                    <a:lstStyle/>
                    <a:p>
                      <a:pPr algn="l"/>
                      <a:r>
                        <a:rPr sz="1200" b="1">
                          <a:solidFill>
                            <a:srgbClr val="0B2A4A"/>
                          </a:solidFill>
                          <a:latin typeface="Calibri"/>
                        </a:rPr>
                        <a:t>Aspect ratio W/L</a:t>
                      </a:r>
                    </a:p>
                  </a:txBody>
                  <a:tcPr marT="22000" marB="22000" marL="60000" marR="60000" anchor="ctr">
                    <a:solidFill>
                      <a:srgbClr val="FFFFFF"/>
                    </a:solidFill>
                  </a:tcPr>
                </a:tc>
                <a:tc>
                  <a:txBody>
                    <a:bodyPr/>
                    <a:lstStyle/>
                    <a:p>
                      <a:pPr algn="l"/>
                      <a:r>
                        <a:rPr sz="1200" b="0">
                          <a:solidFill>
                            <a:srgbClr val="0B2A4A"/>
                          </a:solidFill>
                          <a:latin typeface="Calibri"/>
                        </a:rPr>
                        <a:t>-</a:t>
                      </a:r>
                    </a:p>
                  </a:txBody>
                  <a:tcPr marT="22000" marB="22000" marL="60000" marR="60000" anchor="ctr">
                    <a:solidFill>
                      <a:srgbClr val="FFFFFF"/>
                    </a:solidFill>
                  </a:tcPr>
                </a:tc>
                <a:tc>
                  <a:txBody>
                    <a:bodyPr/>
                    <a:lstStyle/>
                    <a:p>
                      <a:pPr algn="l"/>
                      <a:r>
                        <a:rPr sz="1200" b="0">
                          <a:solidFill>
                            <a:srgbClr val="0B2A4A"/>
                          </a:solidFill>
                          <a:latin typeface="Calibri"/>
                        </a:rPr>
                        <a:t>captures shape effects; defines the OOD hold-out</a:t>
                      </a:r>
                    </a:p>
                  </a:txBody>
                  <a:tcPr marT="22000" marB="22000" marL="60000" marR="60000" anchor="ctr">
                    <a:solidFill>
                      <a:srgbClr val="FFFFFF"/>
                    </a:solidFill>
                  </a:tcPr>
                </a:tc>
              </a:tr>
              <a:tr h="429768">
                <a:tc>
                  <a:txBody>
                    <a:bodyPr/>
                    <a:lstStyle/>
                    <a:p>
                      <a:pPr algn="l"/>
                      <a:r>
                        <a:rPr sz="1200" b="1">
                          <a:solidFill>
                            <a:srgbClr val="0B2A4A"/>
                          </a:solidFill>
                          <a:latin typeface="Calibri"/>
                        </a:rPr>
                        <a:t>Normalised feed position</a:t>
                      </a:r>
                    </a:p>
                  </a:txBody>
                  <a:tcPr marT="22000" marB="22000" marL="60000" marR="60000" anchor="ctr">
                    <a:solidFill>
                      <a:srgbClr val="EAF2FA"/>
                    </a:solidFill>
                  </a:tcPr>
                </a:tc>
                <a:tc>
                  <a:txBody>
                    <a:bodyPr/>
                    <a:lstStyle/>
                    <a:p>
                      <a:pPr algn="l"/>
                      <a:r>
                        <a:rPr sz="1200" b="0">
                          <a:solidFill>
                            <a:srgbClr val="0B2A4A"/>
                          </a:solidFill>
                          <a:latin typeface="Calibri"/>
                        </a:rPr>
                        <a:t>0–1</a:t>
                      </a:r>
                    </a:p>
                  </a:txBody>
                  <a:tcPr marT="22000" marB="22000" marL="60000" marR="60000" anchor="ctr">
                    <a:solidFill>
                      <a:srgbClr val="EAF2FA"/>
                    </a:solidFill>
                  </a:tcPr>
                </a:tc>
                <a:tc>
                  <a:txBody>
                    <a:bodyPr/>
                    <a:lstStyle/>
                    <a:p>
                      <a:pPr algn="l"/>
                      <a:r>
                        <a:rPr sz="1200" b="0">
                          <a:solidFill>
                            <a:srgbClr val="0B2A4A"/>
                          </a:solidFill>
                          <a:latin typeface="Calibri"/>
                        </a:rPr>
                        <a:t>feed offset relative to L/2: centre (0) to edge (1)</a:t>
                      </a:r>
                    </a:p>
                  </a:txBody>
                  <a:tcPr marT="22000" marB="22000" marL="60000" marR="60000" anchor="ctr">
                    <a:solidFill>
                      <a:srgbClr val="EAF2FA"/>
                    </a:solidFill>
                  </a:tcPr>
                </a:tc>
              </a:tr>
              <a:tr h="429768">
                <a:tc>
                  <a:txBody>
                    <a:bodyPr/>
                    <a:lstStyle/>
                    <a:p>
                      <a:pPr algn="l"/>
                      <a:r>
                        <a:rPr sz="1200" b="1">
                          <a:solidFill>
                            <a:srgbClr val="0B2A4A"/>
                          </a:solidFill>
                          <a:latin typeface="Calibri"/>
                        </a:rPr>
                        <a:t>Slot 1 / slot 2 width &amp; length</a:t>
                      </a:r>
                    </a:p>
                  </a:txBody>
                  <a:tcPr marT="22000" marB="22000" marL="60000" marR="60000" anchor="ctr">
                    <a:solidFill>
                      <a:srgbClr val="FFFFFF"/>
                    </a:solidFill>
                  </a:tcPr>
                </a:tc>
                <a:tc>
                  <a:txBody>
                    <a:bodyPr/>
                    <a:lstStyle/>
                    <a:p>
                      <a:pPr algn="l"/>
                      <a:r>
                        <a:rPr sz="1200" b="0">
                          <a:solidFill>
                            <a:srgbClr val="0B2A4A"/>
                          </a:solidFill>
                          <a:latin typeface="Calibri"/>
                        </a:rPr>
                        <a:t>mm</a:t>
                      </a:r>
                    </a:p>
                  </a:txBody>
                  <a:tcPr marT="22000" marB="22000" marL="60000" marR="60000" anchor="ctr">
                    <a:solidFill>
                      <a:srgbClr val="FFFFFF"/>
                    </a:solidFill>
                  </a:tcPr>
                </a:tc>
                <a:tc>
                  <a:txBody>
                    <a:bodyPr/>
                    <a:lstStyle/>
                    <a:p>
                      <a:pPr algn="l"/>
                      <a:r>
                        <a:rPr sz="1200" b="0">
                          <a:solidFill>
                            <a:srgbClr val="0B2A4A"/>
                          </a:solidFill>
                          <a:latin typeface="Calibri"/>
                        </a:rPr>
                        <a:t>slotted antenna: lengthen current paths, add bands</a:t>
                      </a:r>
                    </a:p>
                  </a:txBody>
                  <a:tcPr marT="22000" marB="22000" marL="60000" marR="60000" anchor="ctr">
                    <a:solidFill>
                      <a:srgbClr val="FFFFFF"/>
                    </a:solidFill>
                  </a:tcPr>
                </a:tc>
              </a:tr>
              <a:tr h="429768">
                <a:tc>
                  <a:txBody>
                    <a:bodyPr/>
                    <a:lstStyle/>
                    <a:p>
                      <a:pPr algn="l"/>
                      <a:r>
                        <a:rPr sz="1200" b="1">
                          <a:solidFill>
                            <a:srgbClr val="0B2A4A"/>
                          </a:solidFill>
                          <a:latin typeface="Calibri"/>
                        </a:rPr>
                        <a:t>Substrate W, L, h; feed width</a:t>
                      </a:r>
                    </a:p>
                  </a:txBody>
                  <a:tcPr marT="22000" marB="22000" marL="60000" marR="60000" anchor="ctr">
                    <a:solidFill>
                      <a:srgbClr val="EAF2FA"/>
                    </a:solidFill>
                  </a:tcPr>
                </a:tc>
                <a:tc>
                  <a:txBody>
                    <a:bodyPr/>
                    <a:lstStyle/>
                    <a:p>
                      <a:pPr algn="l"/>
                      <a:r>
                        <a:rPr sz="1200" b="0">
                          <a:solidFill>
                            <a:srgbClr val="0B2A4A"/>
                          </a:solidFill>
                          <a:latin typeface="Calibri"/>
                        </a:rPr>
                        <a:t>mm</a:t>
                      </a:r>
                    </a:p>
                  </a:txBody>
                  <a:tcPr marT="22000" marB="22000" marL="60000" marR="60000" anchor="ctr">
                    <a:solidFill>
                      <a:srgbClr val="EAF2FA"/>
                    </a:solidFill>
                  </a:tcPr>
                </a:tc>
                <a:tc>
                  <a:txBody>
                    <a:bodyPr/>
                    <a:lstStyle/>
                    <a:p>
                      <a:pPr algn="l"/>
                      <a:r>
                        <a:rPr sz="1200" b="0">
                          <a:solidFill>
                            <a:srgbClr val="0B2A4A"/>
                          </a:solidFill>
                          <a:latin typeface="Calibri"/>
                        </a:rPr>
                        <a:t>dielectric volume and feed-line impedance</a:t>
                      </a:r>
                    </a:p>
                  </a:txBody>
                  <a:tcPr marT="22000" marB="22000" marL="60000" marR="60000" anchor="ctr">
                    <a:solidFill>
                      <a:srgbClr val="EAF2FA"/>
                    </a:solidFill>
                  </a:tcPr>
                </a:tc>
              </a:tr>
              <a:tr h="429768">
                <a:tc>
                  <a:txBody>
                    <a:bodyPr/>
                    <a:lstStyle/>
                    <a:p>
                      <a:pPr algn="l"/>
                      <a:r>
                        <a:rPr sz="1200" b="1">
                          <a:solidFill>
                            <a:srgbClr val="0B2A4A"/>
                          </a:solidFill>
                          <a:latin typeface="Calibri"/>
                        </a:rPr>
                        <a:t>Frequency</a:t>
                      </a:r>
                    </a:p>
                  </a:txBody>
                  <a:tcPr marT="22000" marB="22000" marL="60000" marR="60000" anchor="ctr">
                    <a:solidFill>
                      <a:srgbClr val="FFFFFF"/>
                    </a:solidFill>
                  </a:tcPr>
                </a:tc>
                <a:tc>
                  <a:txBody>
                    <a:bodyPr/>
                    <a:lstStyle/>
                    <a:p>
                      <a:pPr algn="l"/>
                      <a:r>
                        <a:rPr sz="1200" b="0">
                          <a:solidFill>
                            <a:srgbClr val="0B2A4A"/>
                          </a:solidFill>
                          <a:latin typeface="Calibri"/>
                        </a:rPr>
                        <a:t>GHz</a:t>
                      </a:r>
                    </a:p>
                  </a:txBody>
                  <a:tcPr marT="22000" marB="22000" marL="60000" marR="60000" anchor="ctr">
                    <a:solidFill>
                      <a:srgbClr val="FFFFFF"/>
                    </a:solidFill>
                  </a:tcPr>
                </a:tc>
                <a:tc>
                  <a:txBody>
                    <a:bodyPr/>
                    <a:lstStyle/>
                    <a:p>
                      <a:pPr algn="l"/>
                      <a:r>
                        <a:rPr sz="1200" b="0">
                          <a:solidFill>
                            <a:srgbClr val="0B2A4A"/>
                          </a:solidFill>
                          <a:latin typeface="Calibri"/>
                        </a:rPr>
                        <a:t>Mendeley outputs are given at 16 frequencies</a:t>
                      </a:r>
                    </a:p>
                  </a:txBody>
                  <a:tcPr marT="22000" marB="22000" marL="60000" marR="60000" anchor="ctr">
                    <a:solidFill>
                      <a:srgbClr val="FFFFFF"/>
                    </a:solidFill>
                  </a:tcPr>
                </a:tc>
              </a:tr>
              <a:tr h="429768">
                <a:tc>
                  <a:txBody>
                    <a:bodyPr/>
                    <a:lstStyle/>
                    <a:p>
                      <a:pPr algn="l"/>
                      <a:r>
                        <a:rPr sz="1200" b="1">
                          <a:solidFill>
                            <a:srgbClr val="0B2A4A"/>
                          </a:solidFill>
                          <a:latin typeface="Calibri"/>
                        </a:rPr>
                        <a:t>ViT image embedding (fusion only)</a:t>
                      </a:r>
                    </a:p>
                  </a:txBody>
                  <a:tcPr marT="22000" marB="22000" marL="60000" marR="60000" anchor="ctr">
                    <a:solidFill>
                      <a:srgbClr val="EAF2FA"/>
                    </a:solidFill>
                  </a:tcPr>
                </a:tc>
                <a:tc>
                  <a:txBody>
                    <a:bodyPr/>
                    <a:lstStyle/>
                    <a:p>
                      <a:pPr algn="l"/>
                      <a:r>
                        <a:rPr sz="1200" b="0">
                          <a:solidFill>
                            <a:srgbClr val="0B2A4A"/>
                          </a:solidFill>
                          <a:latin typeface="Calibri"/>
                        </a:rPr>
                        <a:t>384-d</a:t>
                      </a:r>
                    </a:p>
                  </a:txBody>
                  <a:tcPr marT="22000" marB="22000" marL="60000" marR="60000" anchor="ctr">
                    <a:solidFill>
                      <a:srgbClr val="EAF2FA"/>
                    </a:solidFill>
                  </a:tcPr>
                </a:tc>
                <a:tc>
                  <a:txBody>
                    <a:bodyPr/>
                    <a:lstStyle/>
                    <a:p>
                      <a:pPr algn="l"/>
                      <a:r>
                        <a:rPr sz="1200" b="0">
                          <a:solidFill>
                            <a:srgbClr val="0B2A4A"/>
                          </a:solidFill>
                          <a:latin typeface="Calibri"/>
                        </a:rPr>
                        <a:t>learned picture of the geometry from Module 1</a:t>
                      </a:r>
                    </a:p>
                  </a:txBody>
                  <a:tcPr marT="22000" marB="22000" marL="60000" marR="60000" anchor="ctr">
                    <a:solidFill>
                      <a:srgbClr val="EAF2FA"/>
                    </a:solidFill>
                  </a:tcPr>
                </a:tc>
              </a:tr>
            </a:tbl>
          </a:graphicData>
        </a:graphic>
      </p:graphicFrame>
      <p:sp>
        <p:nvSpPr>
          <p:cNvPr id="7" name="Note bubble"/>
          <p:cNvSpPr/>
          <p:nvPr/>
        </p:nvSpPr>
        <p:spPr>
          <a:xfrm>
            <a:off x="8641080" y="1417320"/>
            <a:ext cx="3017520" cy="3566160"/>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These are the features in the machine-learning sense: the numbers the model receives.</a:t>
            </a:r>
          </a:p>
          <a:p>
            <a:pPr>
              <a:spcBef>
                <a:spcPts val="500"/>
              </a:spcBef>
            </a:pPr>
            <a:r>
              <a:rPr sz="1300">
                <a:solidFill>
                  <a:srgbClr val="0B2A4A"/>
                </a:solidFill>
                <a:latin typeface="Calibri"/>
              </a:rPr>
              <a:t>Patch models use 5 inputs; the slotted (Mendeley) models use 10 dimensions plus frequency.</a:t>
            </a:r>
          </a:p>
          <a:p>
            <a:pPr>
              <a:spcBef>
                <a:spcPts val="500"/>
              </a:spcBef>
            </a:pPr>
            <a:r>
              <a:rPr sz="1300">
                <a:solidFill>
                  <a:srgbClr val="0B2A4A"/>
                </a:solidFill>
                <a:latin typeface="Calibri"/>
              </a:rPr>
              <a:t>Engineered ratios (W/L, feed ratio) encode physics the trees would otherwise have to discover.</a:t>
            </a:r>
          </a:p>
          <a:p>
            <a:pPr>
              <a:spcBef>
                <a:spcPts val="500"/>
              </a:spcBef>
            </a:pPr>
            <a:r>
              <a:rPr sz="1300">
                <a:solidFill>
                  <a:srgbClr val="0B2A4A"/>
                </a:solidFill>
                <a:latin typeface="Calibri"/>
              </a:rPr>
              <a:t>The image embedding is used only in the fusion experiment.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3 · PIPELINE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Stage 3 - Feature engineering and vectorisation</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11 / 21</a:t>
            </a:r>
          </a:p>
        </p:txBody>
      </p:sp>
      <p:sp>
        <p:nvSpPr>
          <p:cNvPr id="6" name="Pentagon 5"/>
          <p:cNvSpPr/>
          <p:nvPr/>
        </p:nvSpPr>
        <p:spPr>
          <a:xfrm>
            <a:off x="548640" y="1417320"/>
            <a:ext cx="1913382" cy="868680"/>
          </a:xfrm>
          <a:prstGeom prst="homePlate">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1767078" cy="868680"/>
          </a:xfrm>
          <a:prstGeom prst="rect">
            <a:avLst/>
          </a:prstGeom>
          <a:noFill/>
        </p:spPr>
        <p:txBody>
          <a:bodyPr wrap="square" lIns="27432" rIns="27432" anchor="ctr">
            <a:spAutoFit/>
          </a:bodyPr>
          <a:lstStyle/>
          <a:p>
            <a:pPr algn="ctr"/>
            <a:r>
              <a:rPr sz="1200" b="1">
                <a:solidFill>
                  <a:srgbClr val="0B2A4A"/>
                </a:solidFill>
                <a:latin typeface="Calibri"/>
              </a:rPr>
              <a:t>Design record</a:t>
            </a:r>
          </a:p>
        </p:txBody>
      </p:sp>
      <p:sp>
        <p:nvSpPr>
          <p:cNvPr id="8" name="Chevron 7"/>
          <p:cNvSpPr/>
          <p:nvPr/>
        </p:nvSpPr>
        <p:spPr>
          <a:xfrm>
            <a:off x="2516886" y="1417320"/>
            <a:ext cx="1913382" cy="86868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18054" y="1417320"/>
            <a:ext cx="1565910" cy="868680"/>
          </a:xfrm>
          <a:prstGeom prst="rect">
            <a:avLst/>
          </a:prstGeom>
          <a:noFill/>
        </p:spPr>
        <p:txBody>
          <a:bodyPr wrap="square" lIns="27432" rIns="27432" anchor="ctr">
            <a:spAutoFit/>
          </a:bodyPr>
          <a:lstStyle/>
          <a:p>
            <a:pPr algn="ctr"/>
            <a:r>
              <a:rPr sz="1200" b="1">
                <a:solidFill>
                  <a:srgbClr val="FFFFFF"/>
                </a:solidFill>
                <a:latin typeface="Calibri"/>
              </a:rPr>
              <a:t>Features</a:t>
            </a:r>
          </a:p>
        </p:txBody>
      </p:sp>
      <p:sp>
        <p:nvSpPr>
          <p:cNvPr id="10" name="Chevron 9"/>
          <p:cNvSpPr/>
          <p:nvPr/>
        </p:nvSpPr>
        <p:spPr>
          <a:xfrm>
            <a:off x="4485132" y="1417320"/>
            <a:ext cx="1913382" cy="868680"/>
          </a:xfrm>
          <a:prstGeom prst="chevron">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6300" y="1417320"/>
            <a:ext cx="1565910" cy="868680"/>
          </a:xfrm>
          <a:prstGeom prst="rect">
            <a:avLst/>
          </a:prstGeom>
          <a:noFill/>
        </p:spPr>
        <p:txBody>
          <a:bodyPr wrap="square" lIns="27432" rIns="27432" anchor="ctr">
            <a:spAutoFit/>
          </a:bodyPr>
          <a:lstStyle/>
          <a:p>
            <a:pPr algn="ctr"/>
            <a:r>
              <a:rPr sz="1200" b="1">
                <a:solidFill>
                  <a:srgbClr val="FFFFFF"/>
                </a:solidFill>
                <a:latin typeface="Calibri"/>
              </a:rPr>
              <a:t>Scaled x ∈ R⁵</a:t>
            </a:r>
          </a:p>
        </p:txBody>
      </p:sp>
      <p:sp>
        <p:nvSpPr>
          <p:cNvPr id="12" name="Chevron 11"/>
          <p:cNvSpPr/>
          <p:nvPr/>
        </p:nvSpPr>
        <p:spPr>
          <a:xfrm>
            <a:off x="6453378" y="1417320"/>
            <a:ext cx="1913382" cy="868680"/>
          </a:xfrm>
          <a:prstGeom prst="chevron">
            <a:avLst/>
          </a:prstGeom>
          <a:solidFill>
            <a:srgbClr val="1F6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4546" y="1417320"/>
            <a:ext cx="1565910" cy="868680"/>
          </a:xfrm>
          <a:prstGeom prst="rect">
            <a:avLst/>
          </a:prstGeom>
          <a:noFill/>
        </p:spPr>
        <p:txBody>
          <a:bodyPr wrap="square" lIns="27432" rIns="27432" anchor="ctr">
            <a:spAutoFit/>
          </a:bodyPr>
          <a:lstStyle/>
          <a:p>
            <a:pPr algn="ctr"/>
            <a:r>
              <a:rPr sz="1200" b="1">
                <a:solidFill>
                  <a:srgbClr val="FFFFFF"/>
                </a:solidFill>
                <a:latin typeface="Calibri"/>
              </a:rPr>
              <a:t>Model</a:t>
            </a:r>
          </a:p>
        </p:txBody>
      </p:sp>
      <p:sp>
        <p:nvSpPr>
          <p:cNvPr id="14" name="Pentagon 13"/>
          <p:cNvSpPr/>
          <p:nvPr/>
        </p:nvSpPr>
        <p:spPr>
          <a:xfrm>
            <a:off x="548640" y="2468880"/>
            <a:ext cx="1913382" cy="868680"/>
          </a:xfrm>
          <a:prstGeom prst="homePlate">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68880"/>
            <a:ext cx="1767078" cy="868680"/>
          </a:xfrm>
          <a:prstGeom prst="rect">
            <a:avLst/>
          </a:prstGeom>
          <a:noFill/>
        </p:spPr>
        <p:txBody>
          <a:bodyPr wrap="square" lIns="27432" rIns="27432" anchor="ctr">
            <a:spAutoFit/>
          </a:bodyPr>
          <a:lstStyle/>
          <a:p>
            <a:pPr algn="ctr"/>
            <a:r>
              <a:rPr sz="1200" b="1">
                <a:solidFill>
                  <a:srgbClr val="0B2A4A"/>
                </a:solidFill>
                <a:latin typeface="Calibri"/>
              </a:rPr>
              <a:t>Image (Module 1)</a:t>
            </a:r>
          </a:p>
        </p:txBody>
      </p:sp>
      <p:sp>
        <p:nvSpPr>
          <p:cNvPr id="16" name="Chevron 15"/>
          <p:cNvSpPr/>
          <p:nvPr/>
        </p:nvSpPr>
        <p:spPr>
          <a:xfrm>
            <a:off x="2516886" y="2468880"/>
            <a:ext cx="1913382" cy="86868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8054" y="2468880"/>
            <a:ext cx="1565910" cy="868680"/>
          </a:xfrm>
          <a:prstGeom prst="rect">
            <a:avLst/>
          </a:prstGeom>
          <a:noFill/>
        </p:spPr>
        <p:txBody>
          <a:bodyPr wrap="square" lIns="27432" rIns="27432" anchor="ctr">
            <a:spAutoFit/>
          </a:bodyPr>
          <a:lstStyle/>
          <a:p>
            <a:pPr algn="ctr"/>
            <a:r>
              <a:rPr sz="1200" b="1">
                <a:solidFill>
                  <a:srgbClr val="FFFFFF"/>
                </a:solidFill>
                <a:latin typeface="Calibri"/>
              </a:rPr>
              <a:t>ViT-S/16</a:t>
            </a:r>
          </a:p>
        </p:txBody>
      </p:sp>
      <p:sp>
        <p:nvSpPr>
          <p:cNvPr id="18" name="Chevron 17"/>
          <p:cNvSpPr/>
          <p:nvPr/>
        </p:nvSpPr>
        <p:spPr>
          <a:xfrm>
            <a:off x="4485132" y="2468880"/>
            <a:ext cx="1913382" cy="868680"/>
          </a:xfrm>
          <a:prstGeom prst="chevron">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6300" y="2468880"/>
            <a:ext cx="1565910" cy="868680"/>
          </a:xfrm>
          <a:prstGeom prst="rect">
            <a:avLst/>
          </a:prstGeom>
          <a:noFill/>
        </p:spPr>
        <p:txBody>
          <a:bodyPr wrap="square" lIns="27432" rIns="27432" anchor="ctr">
            <a:spAutoFit/>
          </a:bodyPr>
          <a:lstStyle/>
          <a:p>
            <a:pPr algn="ctr"/>
            <a:r>
              <a:rPr sz="1200" b="1">
                <a:solidFill>
                  <a:srgbClr val="FFFFFF"/>
                </a:solidFill>
                <a:latin typeface="Calibri"/>
              </a:rPr>
              <a:t>e ∈ R³⁸⁴</a:t>
            </a:r>
          </a:p>
        </p:txBody>
      </p:sp>
      <p:sp>
        <p:nvSpPr>
          <p:cNvPr id="20" name="Chevron 19"/>
          <p:cNvSpPr/>
          <p:nvPr/>
        </p:nvSpPr>
        <p:spPr>
          <a:xfrm>
            <a:off x="6453378" y="2468880"/>
            <a:ext cx="1913382" cy="868680"/>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4546" y="2468880"/>
            <a:ext cx="1565910" cy="868680"/>
          </a:xfrm>
          <a:prstGeom prst="rect">
            <a:avLst/>
          </a:prstGeom>
          <a:noFill/>
        </p:spPr>
        <p:txBody>
          <a:bodyPr wrap="square" lIns="27432" rIns="27432" anchor="ctr">
            <a:spAutoFit/>
          </a:bodyPr>
          <a:lstStyle/>
          <a:p>
            <a:pPr algn="ctr"/>
            <a:r>
              <a:rPr sz="1200" b="1">
                <a:solidFill>
                  <a:srgbClr val="FFFFFF"/>
                </a:solidFill>
                <a:latin typeface="Calibri"/>
              </a:rPr>
              <a:t>[e, x] ∈ R³⁸⁹</a:t>
            </a:r>
          </a:p>
        </p:txBody>
      </p:sp>
      <p:pic>
        <p:nvPicPr>
          <p:cNvPr id="22" name="Picture 21" descr="surrogate_comparison_importance.png"/>
          <p:cNvPicPr>
            <a:picLocks noChangeAspect="1"/>
          </p:cNvPicPr>
          <p:nvPr/>
        </p:nvPicPr>
        <p:blipFill>
          <a:blip r:embed="rId2"/>
          <a:stretch>
            <a:fillRect/>
          </a:stretch>
        </p:blipFill>
        <p:spPr>
          <a:xfrm>
            <a:off x="548640" y="3566160"/>
            <a:ext cx="7818120" cy="2285297"/>
          </a:xfrm>
          <a:prstGeom prst="rect">
            <a:avLst/>
          </a:prstGeom>
        </p:spPr>
      </p:pic>
      <p:sp>
        <p:nvSpPr>
          <p:cNvPr id="23" name="Note bubble"/>
          <p:cNvSpPr/>
          <p:nvPr/>
        </p:nvSpPr>
        <p:spPr>
          <a:xfrm>
            <a:off x="8641080" y="1417320"/>
            <a:ext cx="3017520" cy="4014215"/>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Vectorisation turns each design into a fixed-length list of numbers.</a:t>
            </a:r>
          </a:p>
          <a:p>
            <a:pPr>
              <a:spcBef>
                <a:spcPts val="500"/>
              </a:spcBef>
            </a:pPr>
            <a:r>
              <a:rPr sz="1300">
                <a:solidFill>
                  <a:srgbClr val="0B2A4A"/>
                </a:solidFill>
                <a:latin typeface="Calibri"/>
              </a:rPr>
              <a:t>Linear models and the MLP need standardised inputs (mean 0, SD 1, fitted on training data only); trees do not.</a:t>
            </a:r>
          </a:p>
          <a:p>
            <a:pPr>
              <a:spcBef>
                <a:spcPts val="500"/>
              </a:spcBef>
            </a:pPr>
            <a:r>
              <a:rPr sz="1300">
                <a:solidFill>
                  <a:srgbClr val="0B2A4A"/>
                </a:solidFill>
                <a:latin typeface="Calibri"/>
              </a:rPr>
              <a:t>For fusion, the 384 image numbers and 5 design numbers are joined into one 389-number vector.</a:t>
            </a:r>
          </a:p>
          <a:p>
            <a:pPr>
              <a:spcBef>
                <a:spcPts val="500"/>
              </a:spcBef>
            </a:pPr>
            <a:r>
              <a:rPr sz="1300">
                <a:solidFill>
                  <a:srgbClr val="0B2A4A"/>
                </a:solidFill>
                <a:latin typeface="Calibri"/>
              </a:rPr>
              <a:t>Right chart: permutation importance - every input matters, length most for resonance.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3 · PIPELINE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Stage 4 - Model building and training</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12 / 21</a:t>
            </a:r>
          </a:p>
        </p:txBody>
      </p:sp>
      <p:sp>
        <p:nvSpPr>
          <p:cNvPr id="6" name="Rounded Rectangle 5"/>
          <p:cNvSpPr/>
          <p:nvPr/>
        </p:nvSpPr>
        <p:spPr>
          <a:xfrm>
            <a:off x="548640" y="1371600"/>
            <a:ext cx="384048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44752"/>
            <a:ext cx="3566160" cy="365760"/>
          </a:xfrm>
          <a:prstGeom prst="rect">
            <a:avLst/>
          </a:prstGeom>
          <a:noFill/>
        </p:spPr>
        <p:txBody>
          <a:bodyPr wrap="square" anchor="t" lIns="45720" rIns="45720">
            <a:spAutoFit/>
          </a:bodyPr>
          <a:lstStyle/>
          <a:p>
            <a:pPr algn="l"/>
            <a:r>
              <a:rPr sz="1500" b="1">
                <a:solidFill>
                  <a:srgbClr val="2F6FAE"/>
                </a:solidFill>
                <a:latin typeface="Calibri"/>
              </a:rPr>
              <a:t>Random forest (selected)</a:t>
            </a:r>
          </a:p>
        </p:txBody>
      </p:sp>
      <p:sp>
        <p:nvSpPr>
          <p:cNvPr id="8" name="TextBox 7"/>
          <p:cNvSpPr txBox="1"/>
          <p:nvPr/>
        </p:nvSpPr>
        <p:spPr>
          <a:xfrm>
            <a:off x="685800" y="1810512"/>
            <a:ext cx="3566160" cy="914400"/>
          </a:xfrm>
          <a:prstGeom prst="rect">
            <a:avLst/>
          </a:prstGeom>
          <a:noFill/>
        </p:spPr>
        <p:txBody>
          <a:bodyPr wrap="square" anchor="t" lIns="45720" rIns="45720">
            <a:spAutoFit/>
          </a:bodyPr>
          <a:lstStyle/>
          <a:p>
            <a:pPr algn="l"/>
            <a:r>
              <a:rPr sz="1200" b="0">
                <a:solidFill>
                  <a:srgbClr val="0B2A4A"/>
                </a:solidFill>
                <a:latin typeface="Calibri"/>
              </a:rPr>
              <a:t>400 decision trees on bootstrap samples; prediction = average. Captures non-linear, interacting effects; robust on small data.</a:t>
            </a:r>
          </a:p>
        </p:txBody>
      </p:sp>
      <p:sp>
        <p:nvSpPr>
          <p:cNvPr id="9" name="Rounded Rectangle 8"/>
          <p:cNvSpPr/>
          <p:nvPr/>
        </p:nvSpPr>
        <p:spPr>
          <a:xfrm>
            <a:off x="4526279" y="1371600"/>
            <a:ext cx="384048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39" y="1444752"/>
            <a:ext cx="3566160" cy="365760"/>
          </a:xfrm>
          <a:prstGeom prst="rect">
            <a:avLst/>
          </a:prstGeom>
          <a:noFill/>
        </p:spPr>
        <p:txBody>
          <a:bodyPr wrap="square" anchor="t" lIns="45720" rIns="45720">
            <a:spAutoFit/>
          </a:bodyPr>
          <a:lstStyle/>
          <a:p>
            <a:pPr algn="l"/>
            <a:r>
              <a:rPr sz="1500" b="1">
                <a:solidFill>
                  <a:srgbClr val="2F6FAE"/>
                </a:solidFill>
                <a:latin typeface="Calibri"/>
              </a:rPr>
              <a:t>Gradient boosting</a:t>
            </a:r>
          </a:p>
        </p:txBody>
      </p:sp>
      <p:sp>
        <p:nvSpPr>
          <p:cNvPr id="11" name="TextBox 10"/>
          <p:cNvSpPr txBox="1"/>
          <p:nvPr/>
        </p:nvSpPr>
        <p:spPr>
          <a:xfrm>
            <a:off x="4663439" y="1810512"/>
            <a:ext cx="3566160" cy="914400"/>
          </a:xfrm>
          <a:prstGeom prst="rect">
            <a:avLst/>
          </a:prstGeom>
          <a:noFill/>
        </p:spPr>
        <p:txBody>
          <a:bodyPr wrap="square" anchor="t" lIns="45720" rIns="45720">
            <a:spAutoFit/>
          </a:bodyPr>
          <a:lstStyle/>
          <a:p>
            <a:pPr algn="l"/>
            <a:r>
              <a:rPr sz="1200" b="0">
                <a:solidFill>
                  <a:srgbClr val="0B2A4A"/>
                </a:solidFill>
                <a:latin typeface="Calibri"/>
              </a:rPr>
              <a:t>Trees added one at a time, each fixing the previous errors (500 rounds, lr 0.05).</a:t>
            </a:r>
          </a:p>
        </p:txBody>
      </p:sp>
      <p:sp>
        <p:nvSpPr>
          <p:cNvPr id="12" name="Rounded Rectangle 11"/>
          <p:cNvSpPr/>
          <p:nvPr/>
        </p:nvSpPr>
        <p:spPr>
          <a:xfrm>
            <a:off x="548640" y="2907791"/>
            <a:ext cx="384048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980943"/>
            <a:ext cx="3566160" cy="365760"/>
          </a:xfrm>
          <a:prstGeom prst="rect">
            <a:avLst/>
          </a:prstGeom>
          <a:noFill/>
        </p:spPr>
        <p:txBody>
          <a:bodyPr wrap="square" anchor="t" lIns="45720" rIns="45720">
            <a:spAutoFit/>
          </a:bodyPr>
          <a:lstStyle/>
          <a:p>
            <a:pPr algn="l"/>
            <a:r>
              <a:rPr sz="1500" b="1">
                <a:solidFill>
                  <a:srgbClr val="2F6FAE"/>
                </a:solidFill>
                <a:latin typeface="Calibri"/>
              </a:rPr>
              <a:t>Ridge regression</a:t>
            </a:r>
          </a:p>
        </p:txBody>
      </p:sp>
      <p:sp>
        <p:nvSpPr>
          <p:cNvPr id="14" name="TextBox 13"/>
          <p:cNvSpPr txBox="1"/>
          <p:nvPr/>
        </p:nvSpPr>
        <p:spPr>
          <a:xfrm>
            <a:off x="685800" y="3346703"/>
            <a:ext cx="3566160" cy="914400"/>
          </a:xfrm>
          <a:prstGeom prst="rect">
            <a:avLst/>
          </a:prstGeom>
          <a:noFill/>
        </p:spPr>
        <p:txBody>
          <a:bodyPr wrap="square" anchor="t" lIns="45720" rIns="45720">
            <a:spAutoFit/>
          </a:bodyPr>
          <a:lstStyle/>
          <a:p>
            <a:pPr algn="l"/>
            <a:r>
              <a:rPr sz="1200" b="0">
                <a:solidFill>
                  <a:srgbClr val="0B2A4A"/>
                </a:solidFill>
                <a:latin typeface="Calibri"/>
              </a:rPr>
              <a:t>Linear baseline with L2 penalty - shows how non-linear the physics is.</a:t>
            </a:r>
          </a:p>
        </p:txBody>
      </p:sp>
      <p:sp>
        <p:nvSpPr>
          <p:cNvPr id="15" name="Rounded Rectangle 14"/>
          <p:cNvSpPr/>
          <p:nvPr/>
        </p:nvSpPr>
        <p:spPr>
          <a:xfrm>
            <a:off x="4526279" y="2907791"/>
            <a:ext cx="384048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39" y="2980943"/>
            <a:ext cx="3566160" cy="365760"/>
          </a:xfrm>
          <a:prstGeom prst="rect">
            <a:avLst/>
          </a:prstGeom>
          <a:noFill/>
        </p:spPr>
        <p:txBody>
          <a:bodyPr wrap="square" anchor="t" lIns="45720" rIns="45720">
            <a:spAutoFit/>
          </a:bodyPr>
          <a:lstStyle/>
          <a:p>
            <a:pPr algn="l"/>
            <a:r>
              <a:rPr sz="1500" b="1">
                <a:solidFill>
                  <a:srgbClr val="2F6FAE"/>
                </a:solidFill>
                <a:latin typeface="Calibri"/>
              </a:rPr>
              <a:t>MLP (fusion)</a:t>
            </a:r>
          </a:p>
        </p:txBody>
      </p:sp>
      <p:sp>
        <p:nvSpPr>
          <p:cNvPr id="17" name="TextBox 16"/>
          <p:cNvSpPr txBox="1"/>
          <p:nvPr/>
        </p:nvSpPr>
        <p:spPr>
          <a:xfrm>
            <a:off x="4663439" y="3346703"/>
            <a:ext cx="3566160" cy="914400"/>
          </a:xfrm>
          <a:prstGeom prst="rect">
            <a:avLst/>
          </a:prstGeom>
          <a:noFill/>
        </p:spPr>
        <p:txBody>
          <a:bodyPr wrap="square" anchor="t" lIns="45720" rIns="45720">
            <a:spAutoFit/>
          </a:bodyPr>
          <a:lstStyle/>
          <a:p>
            <a:pPr algn="l"/>
            <a:r>
              <a:rPr sz="1200" b="0">
                <a:solidFill>
                  <a:srgbClr val="0B2A4A"/>
                </a:solidFill>
                <a:latin typeface="Calibri"/>
              </a:rPr>
              <a:t>Small neural network on the 389-d fusion vector; size and L2 chosen on validation.</a:t>
            </a:r>
          </a:p>
        </p:txBody>
      </p:sp>
      <p:sp>
        <p:nvSpPr>
          <p:cNvPr id="18" name="Rounded Rectangle 17"/>
          <p:cNvSpPr/>
          <p:nvPr/>
        </p:nvSpPr>
        <p:spPr>
          <a:xfrm>
            <a:off x="548640" y="4443983"/>
            <a:ext cx="384048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517135"/>
            <a:ext cx="3566160" cy="365760"/>
          </a:xfrm>
          <a:prstGeom prst="rect">
            <a:avLst/>
          </a:prstGeom>
          <a:noFill/>
        </p:spPr>
        <p:txBody>
          <a:bodyPr wrap="square" anchor="t" lIns="45720" rIns="45720">
            <a:spAutoFit/>
          </a:bodyPr>
          <a:lstStyle/>
          <a:p>
            <a:pPr algn="l"/>
            <a:r>
              <a:rPr sz="1500" b="1">
                <a:solidFill>
                  <a:srgbClr val="2F6FAE"/>
                </a:solidFill>
                <a:latin typeface="Calibri"/>
              </a:rPr>
              <a:t>NSGA-II (search)</a:t>
            </a:r>
          </a:p>
        </p:txBody>
      </p:sp>
      <p:sp>
        <p:nvSpPr>
          <p:cNvPr id="20" name="TextBox 19"/>
          <p:cNvSpPr txBox="1"/>
          <p:nvPr/>
        </p:nvSpPr>
        <p:spPr>
          <a:xfrm>
            <a:off x="685800" y="4882895"/>
            <a:ext cx="3566160" cy="914400"/>
          </a:xfrm>
          <a:prstGeom prst="rect">
            <a:avLst/>
          </a:prstGeom>
          <a:noFill/>
        </p:spPr>
        <p:txBody>
          <a:bodyPr wrap="square" anchor="t" lIns="45720" rIns="45720">
            <a:spAutoFit/>
          </a:bodyPr>
          <a:lstStyle/>
          <a:p>
            <a:pPr algn="l"/>
            <a:r>
              <a:rPr sz="1200" b="0">
                <a:solidFill>
                  <a:srgbClr val="0B2A4A"/>
                </a:solidFill>
                <a:latin typeface="Calibri"/>
              </a:rPr>
              <a:t>Evolutionary multi-objective optimiser; uses the trained forests as a fast simulator.</a:t>
            </a:r>
          </a:p>
        </p:txBody>
      </p:sp>
      <p:sp>
        <p:nvSpPr>
          <p:cNvPr id="21" name="Rounded Rectangle 20"/>
          <p:cNvSpPr/>
          <p:nvPr/>
        </p:nvSpPr>
        <p:spPr>
          <a:xfrm>
            <a:off x="4526280" y="4443984"/>
            <a:ext cx="3840480" cy="1417320"/>
          </a:xfrm>
          <a:prstGeom prst="roundRect">
            <a:avLst>
              <a:gd name="adj" fmla="val 6000"/>
            </a:avLst>
          </a:prstGeom>
          <a:solidFill>
            <a:srgbClr val="EAF5EE"/>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4517136"/>
            <a:ext cx="3566160" cy="365760"/>
          </a:xfrm>
          <a:prstGeom prst="rect">
            <a:avLst/>
          </a:prstGeom>
          <a:noFill/>
        </p:spPr>
        <p:txBody>
          <a:bodyPr wrap="square" anchor="t" lIns="45720" rIns="45720">
            <a:spAutoFit/>
          </a:bodyPr>
          <a:lstStyle/>
          <a:p>
            <a:pPr algn="l"/>
            <a:r>
              <a:rPr sz="1500" b="1">
                <a:solidFill>
                  <a:srgbClr val="2F6FAE"/>
                </a:solidFill>
                <a:latin typeface="Calibri"/>
              </a:rPr>
              <a:t>Training protocol</a:t>
            </a:r>
          </a:p>
        </p:txBody>
      </p:sp>
      <p:sp>
        <p:nvSpPr>
          <p:cNvPr id="23" name="TextBox 22"/>
          <p:cNvSpPr txBox="1"/>
          <p:nvPr/>
        </p:nvSpPr>
        <p:spPr>
          <a:xfrm>
            <a:off x="4663440" y="4882896"/>
            <a:ext cx="3566160" cy="914400"/>
          </a:xfrm>
          <a:prstGeom prst="rect">
            <a:avLst/>
          </a:prstGeom>
          <a:noFill/>
        </p:spPr>
        <p:txBody>
          <a:bodyPr wrap="square" anchor="t" lIns="45720" rIns="45720">
            <a:spAutoFit/>
          </a:bodyPr>
          <a:lstStyle/>
          <a:p>
            <a:pPr algn="l"/>
            <a:r>
              <a:rPr sz="1200" b="0">
                <a:solidFill>
                  <a:srgbClr val="0B2A4A"/>
                </a:solidFill>
                <a:latin typeface="Calibri"/>
              </a:rPr>
              <a:t>Fit on train only · choose the model on validation MAE · score the test split once · GroupKFold for Mendeley.</a:t>
            </a:r>
          </a:p>
        </p:txBody>
      </p:sp>
      <p:sp>
        <p:nvSpPr>
          <p:cNvPr id="24" name="Note bubble"/>
          <p:cNvSpPr/>
          <p:nvPr/>
        </p:nvSpPr>
        <p:spPr>
          <a:xfrm>
            <a:off x="8641080" y="1417320"/>
            <a:ext cx="3017520" cy="3790188"/>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Several model families compete; the one with the lowest validation error wins - here the random forest for every target.</a:t>
            </a:r>
          </a:p>
          <a:p>
            <a:pPr>
              <a:spcBef>
                <a:spcPts val="500"/>
              </a:spcBef>
            </a:pPr>
            <a:r>
              <a:rPr sz="1300">
                <a:solidFill>
                  <a:srgbClr val="0B2A4A"/>
                </a:solidFill>
                <a:latin typeface="Calibri"/>
              </a:rPr>
              <a:t>The test split is used once, after the choice, so the reported accuracy is not tuned to it.</a:t>
            </a:r>
          </a:p>
          <a:p>
            <a:pPr>
              <a:spcBef>
                <a:spcPts val="500"/>
              </a:spcBef>
            </a:pPr>
            <a:r>
              <a:rPr sz="1300">
                <a:solidFill>
                  <a:srgbClr val="0B2A4A"/>
                </a:solidFill>
                <a:latin typeface="Calibri"/>
              </a:rPr>
              <a:t>GroupKFold keeps all 16 frequencies of a Mendeley design in the same fold, preventing leakage.</a:t>
            </a:r>
          </a:p>
          <a:p>
            <a:pPr>
              <a:spcBef>
                <a:spcPts val="500"/>
              </a:spcBef>
            </a:pPr>
            <a:r>
              <a:rPr sz="1300">
                <a:solidFill>
                  <a:srgbClr val="0B2A4A"/>
                </a:solidFill>
                <a:latin typeface="Calibri"/>
              </a:rPr>
              <a:t>NSGA-II is not trained: it searches using the trained surrogates.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5 · OUTPUTS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Output 1 - Patch surrogate accuracy</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13 / 21</a:t>
            </a:r>
          </a:p>
        </p:txBody>
      </p:sp>
      <p:graphicFrame>
        <p:nvGraphicFramePr>
          <p:cNvPr id="6" name="Table 5"/>
          <p:cNvGraphicFramePr>
            <a:graphicFrameLocks noGrp="1"/>
          </p:cNvGraphicFramePr>
          <p:nvPr/>
        </p:nvGraphicFramePr>
        <p:xfrm>
          <a:off x="548640" y="1371600"/>
          <a:ext cx="7818120" cy="1828800"/>
        </p:xfrm>
        <a:graphic>
          <a:graphicData uri="http://schemas.openxmlformats.org/drawingml/2006/table">
            <a:tbl>
              <a:tblPr firstRow="1" bandRow="1">
                <a:tableStyleId>{5C22544A-7EE6-4342-B048-85BDC9FD1C3A}</a:tableStyleId>
              </a:tblPr>
              <a:tblGrid>
                <a:gridCol w="2788920"/>
                <a:gridCol w="1051560"/>
                <a:gridCol w="1188720"/>
                <a:gridCol w="1691640"/>
                <a:gridCol w="1097280"/>
              </a:tblGrid>
              <a:tr h="365760">
                <a:tc>
                  <a:txBody>
                    <a:bodyPr/>
                    <a:lstStyle/>
                    <a:p>
                      <a:pPr algn="l"/>
                      <a:r>
                        <a:rPr sz="1200" b="1">
                          <a:solidFill>
                            <a:srgbClr val="FFFFFF"/>
                          </a:solidFill>
                          <a:latin typeface="Calibri"/>
                        </a:rPr>
                        <a:t>Target</a:t>
                      </a:r>
                    </a:p>
                  </a:txBody>
                  <a:tcPr marT="22000" marB="22000" marL="60000" marR="60000" anchor="ctr">
                    <a:solidFill>
                      <a:srgbClr val="0B2A4A"/>
                    </a:solidFill>
                  </a:tcPr>
                </a:tc>
                <a:tc>
                  <a:txBody>
                    <a:bodyPr/>
                    <a:lstStyle/>
                    <a:p>
                      <a:pPr algn="ctr"/>
                      <a:r>
                        <a:rPr sz="1200" b="1">
                          <a:solidFill>
                            <a:srgbClr val="FFFFFF"/>
                          </a:solidFill>
                          <a:latin typeface="Calibri"/>
                        </a:rPr>
                        <a:t>Test R²</a:t>
                      </a:r>
                    </a:p>
                  </a:txBody>
                  <a:tcPr marT="22000" marB="22000" marL="60000" marR="60000" anchor="ctr">
                    <a:solidFill>
                      <a:srgbClr val="0B2A4A"/>
                    </a:solidFill>
                  </a:tcPr>
                </a:tc>
                <a:tc>
                  <a:txBody>
                    <a:bodyPr/>
                    <a:lstStyle/>
                    <a:p>
                      <a:pPr algn="ctr"/>
                      <a:r>
                        <a:rPr sz="1200" b="1">
                          <a:solidFill>
                            <a:srgbClr val="FFFFFF"/>
                          </a:solidFill>
                          <a:latin typeface="Calibri"/>
                        </a:rPr>
                        <a:t>Test MAE</a:t>
                      </a:r>
                    </a:p>
                  </a:txBody>
                  <a:tcPr marT="22000" marB="22000" marL="60000" marR="60000" anchor="ctr">
                    <a:solidFill>
                      <a:srgbClr val="0B2A4A"/>
                    </a:solidFill>
                  </a:tcPr>
                </a:tc>
                <a:tc>
                  <a:txBody>
                    <a:bodyPr/>
                    <a:lstStyle/>
                    <a:p>
                      <a:pPr algn="ctr"/>
                      <a:r>
                        <a:rPr sz="1200" b="1">
                          <a:solidFill>
                            <a:srgbClr val="FFFFFF"/>
                          </a:solidFill>
                          <a:latin typeface="Calibri"/>
                        </a:rPr>
                        <a:t>Mean-baseline MAE</a:t>
                      </a:r>
                    </a:p>
                  </a:txBody>
                  <a:tcPr marT="22000" marB="22000" marL="60000" marR="60000" anchor="ctr">
                    <a:solidFill>
                      <a:srgbClr val="0B2A4A"/>
                    </a:solidFill>
                  </a:tcPr>
                </a:tc>
                <a:tc>
                  <a:txBody>
                    <a:bodyPr/>
                    <a:lstStyle/>
                    <a:p>
                      <a:pPr algn="ctr"/>
                      <a:r>
                        <a:rPr sz="1200" b="1">
                          <a:solidFill>
                            <a:srgbClr val="FFFFFF"/>
                          </a:solidFill>
                          <a:latin typeface="Calibri"/>
                        </a:rPr>
                        <a:t>OOD R²</a:t>
                      </a:r>
                    </a:p>
                  </a:txBody>
                  <a:tcPr marT="22000" marB="22000" marL="60000" marR="60000" anchor="ctr">
                    <a:solidFill>
                      <a:srgbClr val="0B2A4A"/>
                    </a:solidFill>
                  </a:tcPr>
                </a:tc>
              </a:tr>
              <a:tr h="365760">
                <a:tc>
                  <a:txBody>
                    <a:bodyPr/>
                    <a:lstStyle/>
                    <a:p>
                      <a:pPr algn="l"/>
                      <a:r>
                        <a:rPr sz="1200" b="0">
                          <a:solidFill>
                            <a:srgbClr val="0B2A4A"/>
                          </a:solidFill>
                          <a:latin typeface="Calibri"/>
                        </a:rPr>
                        <a:t>First matched resonance (GHz)</a:t>
                      </a:r>
                    </a:p>
                  </a:txBody>
                  <a:tcPr marT="22000" marB="22000" marL="60000" marR="60000" anchor="ctr">
                    <a:solidFill>
                      <a:srgbClr val="EAF2FA"/>
                    </a:solidFill>
                  </a:tcPr>
                </a:tc>
                <a:tc>
                  <a:txBody>
                    <a:bodyPr/>
                    <a:lstStyle/>
                    <a:p>
                      <a:pPr algn="ctr"/>
                      <a:r>
                        <a:rPr sz="1200" b="0">
                          <a:solidFill>
                            <a:srgbClr val="0B2A4A"/>
                          </a:solidFill>
                          <a:latin typeface="Calibri"/>
                        </a:rPr>
                        <a:t>0.89</a:t>
                      </a:r>
                    </a:p>
                  </a:txBody>
                  <a:tcPr marT="22000" marB="22000" marL="60000" marR="60000" anchor="ctr">
                    <a:solidFill>
                      <a:srgbClr val="EAF2FA"/>
                    </a:solidFill>
                  </a:tcPr>
                </a:tc>
                <a:tc>
                  <a:txBody>
                    <a:bodyPr/>
                    <a:lstStyle/>
                    <a:p>
                      <a:pPr algn="ctr"/>
                      <a:r>
                        <a:rPr sz="1200" b="0">
                          <a:solidFill>
                            <a:srgbClr val="0B2A4A"/>
                          </a:solidFill>
                          <a:latin typeface="Calibri"/>
                        </a:rPr>
                        <a:t>0.35</a:t>
                      </a:r>
                    </a:p>
                  </a:txBody>
                  <a:tcPr marT="22000" marB="22000" marL="60000" marR="60000" anchor="ctr">
                    <a:solidFill>
                      <a:srgbClr val="EAF2FA"/>
                    </a:solidFill>
                  </a:tcPr>
                </a:tc>
                <a:tc>
                  <a:txBody>
                    <a:bodyPr/>
                    <a:lstStyle/>
                    <a:p>
                      <a:pPr algn="ctr"/>
                      <a:r>
                        <a:rPr sz="1200" b="0">
                          <a:solidFill>
                            <a:srgbClr val="0B2A4A"/>
                          </a:solidFill>
                          <a:latin typeface="Calibri"/>
                        </a:rPr>
                        <a:t>1.82</a:t>
                      </a:r>
                    </a:p>
                  </a:txBody>
                  <a:tcPr marT="22000" marB="22000" marL="60000" marR="60000" anchor="ctr">
                    <a:solidFill>
                      <a:srgbClr val="EAF2FA"/>
                    </a:solidFill>
                  </a:tcPr>
                </a:tc>
                <a:tc>
                  <a:txBody>
                    <a:bodyPr/>
                    <a:lstStyle/>
                    <a:p>
                      <a:pPr algn="ctr"/>
                      <a:r>
                        <a:rPr sz="1200" b="0">
                          <a:solidFill>
                            <a:srgbClr val="0B2A4A"/>
                          </a:solidFill>
                          <a:latin typeface="Calibri"/>
                        </a:rPr>
                        <a:t>0.44</a:t>
                      </a:r>
                    </a:p>
                  </a:txBody>
                  <a:tcPr marT="22000" marB="22000" marL="60000" marR="60000" anchor="ctr">
                    <a:solidFill>
                      <a:srgbClr val="EAF2FA"/>
                    </a:solidFill>
                  </a:tcPr>
                </a:tc>
              </a:tr>
              <a:tr h="365760">
                <a:tc>
                  <a:txBody>
                    <a:bodyPr/>
                    <a:lstStyle/>
                    <a:p>
                      <a:pPr algn="l"/>
                      <a:r>
                        <a:rPr sz="1200" b="0">
                          <a:solidFill>
                            <a:srgbClr val="0B2A4A"/>
                          </a:solidFill>
                          <a:latin typeface="Calibri"/>
                        </a:rPr>
                        <a:t>Minimum S11 (dB)</a:t>
                      </a:r>
                    </a:p>
                  </a:txBody>
                  <a:tcPr marT="22000" marB="22000" marL="60000" marR="60000" anchor="ctr">
                    <a:solidFill>
                      <a:srgbClr val="FFFFFF"/>
                    </a:solidFill>
                  </a:tcPr>
                </a:tc>
                <a:tc>
                  <a:txBody>
                    <a:bodyPr/>
                    <a:lstStyle/>
                    <a:p>
                      <a:pPr algn="ctr"/>
                      <a:r>
                        <a:rPr sz="1200" b="0">
                          <a:solidFill>
                            <a:srgbClr val="0B2A4A"/>
                          </a:solidFill>
                          <a:latin typeface="Calibri"/>
                        </a:rPr>
                        <a:t>0.54</a:t>
                      </a:r>
                    </a:p>
                  </a:txBody>
                  <a:tcPr marT="22000" marB="22000" marL="60000" marR="60000" anchor="ctr">
                    <a:solidFill>
                      <a:srgbClr val="FFFFFF"/>
                    </a:solidFill>
                  </a:tcPr>
                </a:tc>
                <a:tc>
                  <a:txBody>
                    <a:bodyPr/>
                    <a:lstStyle/>
                    <a:p>
                      <a:pPr algn="ctr"/>
                      <a:r>
                        <a:rPr sz="1200" b="0">
                          <a:solidFill>
                            <a:srgbClr val="0B2A4A"/>
                          </a:solidFill>
                          <a:latin typeface="Calibri"/>
                        </a:rPr>
                        <a:t>4.81</a:t>
                      </a:r>
                    </a:p>
                  </a:txBody>
                  <a:tcPr marT="22000" marB="22000" marL="60000" marR="60000" anchor="ctr">
                    <a:solidFill>
                      <a:srgbClr val="FFFFFF"/>
                    </a:solidFill>
                  </a:tcPr>
                </a:tc>
                <a:tc>
                  <a:txBody>
                    <a:bodyPr/>
                    <a:lstStyle/>
                    <a:p>
                      <a:pPr algn="ctr"/>
                      <a:r>
                        <a:rPr sz="1200" b="0">
                          <a:solidFill>
                            <a:srgbClr val="0B2A4A"/>
                          </a:solidFill>
                          <a:latin typeface="Calibri"/>
                        </a:rPr>
                        <a:t>7.36</a:t>
                      </a:r>
                    </a:p>
                  </a:txBody>
                  <a:tcPr marT="22000" marB="22000" marL="60000" marR="60000" anchor="ctr">
                    <a:solidFill>
                      <a:srgbClr val="FFFFFF"/>
                    </a:solidFill>
                  </a:tcPr>
                </a:tc>
                <a:tc>
                  <a:txBody>
                    <a:bodyPr/>
                    <a:lstStyle/>
                    <a:p>
                      <a:pPr algn="ctr"/>
                      <a:r>
                        <a:rPr sz="1200" b="0">
                          <a:solidFill>
                            <a:srgbClr val="0B2A4A"/>
                          </a:solidFill>
                          <a:latin typeface="Calibri"/>
                        </a:rPr>
                        <a:t>0.13</a:t>
                      </a:r>
                    </a:p>
                  </a:txBody>
                  <a:tcPr marT="22000" marB="22000" marL="60000" marR="60000" anchor="ctr">
                    <a:solidFill>
                      <a:srgbClr val="FFFFFF"/>
                    </a:solidFill>
                  </a:tcPr>
                </a:tc>
              </a:tr>
              <a:tr h="365760">
                <a:tc>
                  <a:txBody>
                    <a:bodyPr/>
                    <a:lstStyle/>
                    <a:p>
                      <a:pPr algn="l"/>
                      <a:r>
                        <a:rPr sz="1200" b="0">
                          <a:solidFill>
                            <a:srgbClr val="0B2A4A"/>
                          </a:solidFill>
                          <a:latin typeface="Calibri"/>
                        </a:rPr>
                        <a:t>S11 at resonance (dB)</a:t>
                      </a:r>
                    </a:p>
                  </a:txBody>
                  <a:tcPr marT="22000" marB="22000" marL="60000" marR="60000" anchor="ctr">
                    <a:solidFill>
                      <a:srgbClr val="EAF2FA"/>
                    </a:solidFill>
                  </a:tcPr>
                </a:tc>
                <a:tc>
                  <a:txBody>
                    <a:bodyPr/>
                    <a:lstStyle/>
                    <a:p>
                      <a:pPr algn="ctr"/>
                      <a:r>
                        <a:rPr sz="1200" b="0">
                          <a:solidFill>
                            <a:srgbClr val="0B2A4A"/>
                          </a:solidFill>
                          <a:latin typeface="Calibri"/>
                        </a:rPr>
                        <a:t>0.57</a:t>
                      </a:r>
                    </a:p>
                  </a:txBody>
                  <a:tcPr marT="22000" marB="22000" marL="60000" marR="60000" anchor="ctr">
                    <a:solidFill>
                      <a:srgbClr val="EAF2FA"/>
                    </a:solidFill>
                  </a:tcPr>
                </a:tc>
                <a:tc>
                  <a:txBody>
                    <a:bodyPr/>
                    <a:lstStyle/>
                    <a:p>
                      <a:pPr algn="ctr"/>
                      <a:r>
                        <a:rPr sz="1200" b="0">
                          <a:solidFill>
                            <a:srgbClr val="0B2A4A"/>
                          </a:solidFill>
                          <a:latin typeface="Calibri"/>
                        </a:rPr>
                        <a:t>3.27</a:t>
                      </a:r>
                    </a:p>
                  </a:txBody>
                  <a:tcPr marT="22000" marB="22000" marL="60000" marR="60000" anchor="ctr">
                    <a:solidFill>
                      <a:srgbClr val="EAF2FA"/>
                    </a:solidFill>
                  </a:tcPr>
                </a:tc>
                <a:tc>
                  <a:txBody>
                    <a:bodyPr/>
                    <a:lstStyle/>
                    <a:p>
                      <a:pPr algn="ctr"/>
                      <a:r>
                        <a:rPr sz="1200" b="0">
                          <a:solidFill>
                            <a:srgbClr val="0B2A4A"/>
                          </a:solidFill>
                          <a:latin typeface="Calibri"/>
                        </a:rPr>
                        <a:t>5.65</a:t>
                      </a:r>
                    </a:p>
                  </a:txBody>
                  <a:tcPr marT="22000" marB="22000" marL="60000" marR="60000" anchor="ctr">
                    <a:solidFill>
                      <a:srgbClr val="EAF2FA"/>
                    </a:solidFill>
                  </a:tcPr>
                </a:tc>
                <a:tc>
                  <a:txBody>
                    <a:bodyPr/>
                    <a:lstStyle/>
                    <a:p>
                      <a:pPr algn="ctr"/>
                      <a:r>
                        <a:rPr sz="1200" b="0">
                          <a:solidFill>
                            <a:srgbClr val="0B2A4A"/>
                          </a:solidFill>
                          <a:latin typeface="Calibri"/>
                        </a:rPr>
                        <a:t>-1.54</a:t>
                      </a:r>
                    </a:p>
                  </a:txBody>
                  <a:tcPr marT="22000" marB="22000" marL="60000" marR="60000" anchor="ctr">
                    <a:solidFill>
                      <a:srgbClr val="EAF2FA"/>
                    </a:solidFill>
                  </a:tcPr>
                </a:tc>
              </a:tr>
              <a:tr h="365760">
                <a:tc>
                  <a:txBody>
                    <a:bodyPr/>
                    <a:lstStyle/>
                    <a:p>
                      <a:pPr algn="l"/>
                      <a:r>
                        <a:rPr sz="1200" b="0">
                          <a:solidFill>
                            <a:srgbClr val="0B2A4A"/>
                          </a:solidFill>
                          <a:latin typeface="Calibri"/>
                        </a:rPr>
                        <a:t>−10 dB bandwidth (MHz)</a:t>
                      </a:r>
                    </a:p>
                  </a:txBody>
                  <a:tcPr marT="22000" marB="22000" marL="60000" marR="60000" anchor="ctr">
                    <a:solidFill>
                      <a:srgbClr val="FFFFFF"/>
                    </a:solidFill>
                  </a:tcPr>
                </a:tc>
                <a:tc>
                  <a:txBody>
                    <a:bodyPr/>
                    <a:lstStyle/>
                    <a:p>
                      <a:pPr algn="ctr"/>
                      <a:r>
                        <a:rPr sz="1200" b="0">
                          <a:solidFill>
                            <a:srgbClr val="0B2A4A"/>
                          </a:solidFill>
                          <a:latin typeface="Calibri"/>
                        </a:rPr>
                        <a:t>0.83</a:t>
                      </a:r>
                    </a:p>
                  </a:txBody>
                  <a:tcPr marT="22000" marB="22000" marL="60000" marR="60000" anchor="ctr">
                    <a:solidFill>
                      <a:srgbClr val="FFFFFF"/>
                    </a:solidFill>
                  </a:tcPr>
                </a:tc>
                <a:tc>
                  <a:txBody>
                    <a:bodyPr/>
                    <a:lstStyle/>
                    <a:p>
                      <a:pPr algn="ctr"/>
                      <a:r>
                        <a:rPr sz="1200" b="0">
                          <a:solidFill>
                            <a:srgbClr val="0B2A4A"/>
                          </a:solidFill>
                          <a:latin typeface="Calibri"/>
                        </a:rPr>
                        <a:t>18.06</a:t>
                      </a:r>
                    </a:p>
                  </a:txBody>
                  <a:tcPr marT="22000" marB="22000" marL="60000" marR="60000" anchor="ctr">
                    <a:solidFill>
                      <a:srgbClr val="FFFFFF"/>
                    </a:solidFill>
                  </a:tcPr>
                </a:tc>
                <a:tc>
                  <a:txBody>
                    <a:bodyPr/>
                    <a:lstStyle/>
                    <a:p>
                      <a:pPr algn="ctr"/>
                      <a:r>
                        <a:rPr sz="1200" b="0">
                          <a:solidFill>
                            <a:srgbClr val="0B2A4A"/>
                          </a:solidFill>
                          <a:latin typeface="Calibri"/>
                        </a:rPr>
                        <a:t>55.36</a:t>
                      </a:r>
                    </a:p>
                  </a:txBody>
                  <a:tcPr marT="22000" marB="22000" marL="60000" marR="60000" anchor="ctr">
                    <a:solidFill>
                      <a:srgbClr val="FFFFFF"/>
                    </a:solidFill>
                  </a:tcPr>
                </a:tc>
                <a:tc>
                  <a:txBody>
                    <a:bodyPr/>
                    <a:lstStyle/>
                    <a:p>
                      <a:pPr algn="ctr"/>
                      <a:r>
                        <a:rPr sz="1200" b="0">
                          <a:solidFill>
                            <a:srgbClr val="0B2A4A"/>
                          </a:solidFill>
                          <a:latin typeface="Calibri"/>
                        </a:rPr>
                        <a:t>-3.72</a:t>
                      </a:r>
                    </a:p>
                  </a:txBody>
                  <a:tcPr marT="22000" marB="22000" marL="60000" marR="60000" anchor="ctr">
                    <a:solidFill>
                      <a:srgbClr val="FFFFFF"/>
                    </a:solidFill>
                  </a:tcPr>
                </a:tc>
              </a:tr>
            </a:tbl>
          </a:graphicData>
        </a:graphic>
      </p:graphicFrame>
      <p:pic>
        <p:nvPicPr>
          <p:cNvPr id="7" name="Picture 6" descr="numerical_parity_patch.png"/>
          <p:cNvPicPr>
            <a:picLocks noChangeAspect="1"/>
          </p:cNvPicPr>
          <p:nvPr/>
        </p:nvPicPr>
        <p:blipFill>
          <a:blip r:embed="rId2"/>
          <a:stretch>
            <a:fillRect/>
          </a:stretch>
        </p:blipFill>
        <p:spPr>
          <a:xfrm>
            <a:off x="548640" y="3383280"/>
            <a:ext cx="7818120" cy="1980590"/>
          </a:xfrm>
          <a:prstGeom prst="rect">
            <a:avLst/>
          </a:prstGeom>
        </p:spPr>
      </p:pic>
      <p:sp>
        <p:nvSpPr>
          <p:cNvPr id="8" name="Note bubble"/>
          <p:cNvSpPr/>
          <p:nvPr/>
        </p:nvSpPr>
        <p:spPr>
          <a:xfrm>
            <a:off x="8641080" y="1417320"/>
            <a:ext cx="3017520" cy="3790188"/>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Resonance is predicted well (R² 0.89, error 0.35 GHz) and bandwidth well (R² 0.83).</a:t>
            </a:r>
          </a:p>
          <a:p>
            <a:pPr>
              <a:spcBef>
                <a:spcPts val="500"/>
              </a:spcBef>
            </a:pPr>
            <a:r>
              <a:rPr sz="1300">
                <a:solidFill>
                  <a:srgbClr val="0B2A4A"/>
                </a:solidFill>
                <a:latin typeface="Calibri"/>
              </a:rPr>
              <a:t>Matching depth (S11) is harder (R² 0.54) because it changes sharply with feed impedance.</a:t>
            </a:r>
          </a:p>
          <a:p>
            <a:pPr>
              <a:spcBef>
                <a:spcPts val="500"/>
              </a:spcBef>
            </a:pPr>
            <a:r>
              <a:rPr sz="1300">
                <a:solidFill>
                  <a:srgbClr val="0B2A4A"/>
                </a:solidFill>
                <a:latin typeface="Calibri"/>
              </a:rPr>
              <a:t>On wider, unseen patches (OOD) accuracy collapses - surrogates are only trustworthy inside their training range.</a:t>
            </a:r>
          </a:p>
          <a:p>
            <a:pPr>
              <a:spcBef>
                <a:spcPts val="500"/>
              </a:spcBef>
            </a:pPr>
            <a:r>
              <a:rPr sz="1300">
                <a:solidFill>
                  <a:srgbClr val="0B2A4A"/>
                </a:solidFill>
                <a:latin typeface="Calibri"/>
              </a:rPr>
              <a:t>Dots close to the red line = accurate predictions.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5 · OUTPUTS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Output 2 - Slotted antenna: S11, gain and efficiency</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14 / 21</a:t>
            </a:r>
          </a:p>
        </p:txBody>
      </p:sp>
      <p:graphicFrame>
        <p:nvGraphicFramePr>
          <p:cNvPr id="6" name="Table 5"/>
          <p:cNvGraphicFramePr>
            <a:graphicFrameLocks noGrp="1"/>
          </p:cNvGraphicFramePr>
          <p:nvPr/>
        </p:nvGraphicFramePr>
        <p:xfrm>
          <a:off x="548640" y="1371600"/>
          <a:ext cx="7818120" cy="1536192"/>
        </p:xfrm>
        <a:graphic>
          <a:graphicData uri="http://schemas.openxmlformats.org/drawingml/2006/table">
            <a:tbl>
              <a:tblPr firstRow="1" bandRow="1">
                <a:tableStyleId>{5C22544A-7EE6-4342-B048-85BDC9FD1C3A}</a:tableStyleId>
              </a:tblPr>
              <a:tblGrid>
                <a:gridCol w="3108960"/>
                <a:gridCol w="1188720"/>
                <a:gridCol w="1417320"/>
                <a:gridCol w="2103120"/>
              </a:tblGrid>
              <a:tr h="384048">
                <a:tc>
                  <a:txBody>
                    <a:bodyPr/>
                    <a:lstStyle/>
                    <a:p>
                      <a:pPr algn="l"/>
                      <a:r>
                        <a:rPr sz="1300" b="1">
                          <a:solidFill>
                            <a:srgbClr val="FFFFFF"/>
                          </a:solidFill>
                          <a:latin typeface="Calibri"/>
                        </a:rPr>
                        <a:t>Target (random forest)</a:t>
                      </a:r>
                    </a:p>
                  </a:txBody>
                  <a:tcPr marT="22000" marB="22000" marL="60000" marR="60000" anchor="ctr">
                    <a:solidFill>
                      <a:srgbClr val="0B2A4A"/>
                    </a:solidFill>
                  </a:tcPr>
                </a:tc>
                <a:tc>
                  <a:txBody>
                    <a:bodyPr/>
                    <a:lstStyle/>
                    <a:p>
                      <a:pPr algn="ctr"/>
                      <a:r>
                        <a:rPr sz="1300" b="1">
                          <a:solidFill>
                            <a:srgbClr val="FFFFFF"/>
                          </a:solidFill>
                          <a:latin typeface="Calibri"/>
                        </a:rPr>
                        <a:t>R²</a:t>
                      </a:r>
                    </a:p>
                  </a:txBody>
                  <a:tcPr marT="22000" marB="22000" marL="60000" marR="60000" anchor="ctr">
                    <a:solidFill>
                      <a:srgbClr val="0B2A4A"/>
                    </a:solidFill>
                  </a:tcPr>
                </a:tc>
                <a:tc>
                  <a:txBody>
                    <a:bodyPr/>
                    <a:lstStyle/>
                    <a:p>
                      <a:pPr algn="ctr"/>
                      <a:r>
                        <a:rPr sz="1300" b="1">
                          <a:solidFill>
                            <a:srgbClr val="FFFFFF"/>
                          </a:solidFill>
                          <a:latin typeface="Calibri"/>
                        </a:rPr>
                        <a:t>MAE</a:t>
                      </a:r>
                    </a:p>
                  </a:txBody>
                  <a:tcPr marT="22000" marB="22000" marL="60000" marR="60000" anchor="ctr">
                    <a:solidFill>
                      <a:srgbClr val="0B2A4A"/>
                    </a:solidFill>
                  </a:tcPr>
                </a:tc>
                <a:tc>
                  <a:txBody>
                    <a:bodyPr/>
                    <a:lstStyle/>
                    <a:p>
                      <a:pPr algn="ctr"/>
                      <a:r>
                        <a:rPr sz="1300" b="1">
                          <a:solidFill>
                            <a:srgbClr val="FFFFFF"/>
                          </a:solidFill>
                          <a:latin typeface="Calibri"/>
                        </a:rPr>
                        <a:t>Frequency-only MAE</a:t>
                      </a:r>
                    </a:p>
                  </a:txBody>
                  <a:tcPr marT="22000" marB="22000" marL="60000" marR="60000" anchor="ctr">
                    <a:solidFill>
                      <a:srgbClr val="0B2A4A"/>
                    </a:solidFill>
                  </a:tcPr>
                </a:tc>
              </a:tr>
              <a:tr h="384048">
                <a:tc>
                  <a:txBody>
                    <a:bodyPr/>
                    <a:lstStyle/>
                    <a:p>
                      <a:pPr algn="l"/>
                      <a:r>
                        <a:rPr sz="1300" b="0">
                          <a:solidFill>
                            <a:srgbClr val="0B2A4A"/>
                          </a:solidFill>
                          <a:latin typeface="Calibri"/>
                        </a:rPr>
                        <a:t>S11 (dB)</a:t>
                      </a:r>
                    </a:p>
                  </a:txBody>
                  <a:tcPr marT="22000" marB="22000" marL="60000" marR="60000" anchor="ctr">
                    <a:solidFill>
                      <a:srgbClr val="EAF2FA"/>
                    </a:solidFill>
                  </a:tcPr>
                </a:tc>
                <a:tc>
                  <a:txBody>
                    <a:bodyPr/>
                    <a:lstStyle/>
                    <a:p>
                      <a:pPr algn="ctr"/>
                      <a:r>
                        <a:rPr sz="1300" b="0">
                          <a:solidFill>
                            <a:srgbClr val="0B2A4A"/>
                          </a:solidFill>
                          <a:latin typeface="Calibri"/>
                        </a:rPr>
                        <a:t>0.86</a:t>
                      </a:r>
                    </a:p>
                  </a:txBody>
                  <a:tcPr marT="22000" marB="22000" marL="60000" marR="60000" anchor="ctr">
                    <a:solidFill>
                      <a:srgbClr val="EAF2FA"/>
                    </a:solidFill>
                  </a:tcPr>
                </a:tc>
                <a:tc>
                  <a:txBody>
                    <a:bodyPr/>
                    <a:lstStyle/>
                    <a:p>
                      <a:pPr algn="ctr"/>
                      <a:r>
                        <a:rPr sz="1300" b="0">
                          <a:solidFill>
                            <a:srgbClr val="0B2A4A"/>
                          </a:solidFill>
                          <a:latin typeface="Calibri"/>
                        </a:rPr>
                        <a:t>0.533</a:t>
                      </a:r>
                    </a:p>
                  </a:txBody>
                  <a:tcPr marT="22000" marB="22000" marL="60000" marR="60000" anchor="ctr">
                    <a:solidFill>
                      <a:srgbClr val="EAF2FA"/>
                    </a:solidFill>
                  </a:tcPr>
                </a:tc>
                <a:tc>
                  <a:txBody>
                    <a:bodyPr/>
                    <a:lstStyle/>
                    <a:p>
                      <a:pPr algn="ctr"/>
                      <a:r>
                        <a:rPr sz="1300" b="0">
                          <a:solidFill>
                            <a:srgbClr val="0B2A4A"/>
                          </a:solidFill>
                          <a:latin typeface="Calibri"/>
                        </a:rPr>
                        <a:t>1.089</a:t>
                      </a:r>
                    </a:p>
                  </a:txBody>
                  <a:tcPr marT="22000" marB="22000" marL="60000" marR="60000" anchor="ctr">
                    <a:solidFill>
                      <a:srgbClr val="EAF2FA"/>
                    </a:solidFill>
                  </a:tcPr>
                </a:tc>
              </a:tr>
              <a:tr h="384048">
                <a:tc>
                  <a:txBody>
                    <a:bodyPr/>
                    <a:lstStyle/>
                    <a:p>
                      <a:pPr algn="l"/>
                      <a:r>
                        <a:rPr sz="1300" b="0">
                          <a:solidFill>
                            <a:srgbClr val="0B2A4A"/>
                          </a:solidFill>
                          <a:latin typeface="Calibri"/>
                        </a:rPr>
                        <a:t>Gain (dBi)</a:t>
                      </a:r>
                    </a:p>
                  </a:txBody>
                  <a:tcPr marT="22000" marB="22000" marL="60000" marR="60000" anchor="ctr">
                    <a:solidFill>
                      <a:srgbClr val="FFFFFF"/>
                    </a:solidFill>
                  </a:tcPr>
                </a:tc>
                <a:tc>
                  <a:txBody>
                    <a:bodyPr/>
                    <a:lstStyle/>
                    <a:p>
                      <a:pPr algn="ctr"/>
                      <a:r>
                        <a:rPr sz="1300" b="0">
                          <a:solidFill>
                            <a:srgbClr val="0B2A4A"/>
                          </a:solidFill>
                          <a:latin typeface="Calibri"/>
                        </a:rPr>
                        <a:t>0.99</a:t>
                      </a:r>
                    </a:p>
                  </a:txBody>
                  <a:tcPr marT="22000" marB="22000" marL="60000" marR="60000" anchor="ctr">
                    <a:solidFill>
                      <a:srgbClr val="FFFFFF"/>
                    </a:solidFill>
                  </a:tcPr>
                </a:tc>
                <a:tc>
                  <a:txBody>
                    <a:bodyPr/>
                    <a:lstStyle/>
                    <a:p>
                      <a:pPr algn="ctr"/>
                      <a:r>
                        <a:rPr sz="1300" b="0">
                          <a:solidFill>
                            <a:srgbClr val="0B2A4A"/>
                          </a:solidFill>
                          <a:latin typeface="Calibri"/>
                        </a:rPr>
                        <a:t>0.513</a:t>
                      </a:r>
                    </a:p>
                  </a:txBody>
                  <a:tcPr marT="22000" marB="22000" marL="60000" marR="60000" anchor="ctr">
                    <a:solidFill>
                      <a:srgbClr val="FFFFFF"/>
                    </a:solidFill>
                  </a:tcPr>
                </a:tc>
                <a:tc>
                  <a:txBody>
                    <a:bodyPr/>
                    <a:lstStyle/>
                    <a:p>
                      <a:pPr algn="ctr"/>
                      <a:r>
                        <a:rPr sz="1300" b="0">
                          <a:solidFill>
                            <a:srgbClr val="0B2A4A"/>
                          </a:solidFill>
                          <a:latin typeface="Calibri"/>
                        </a:rPr>
                        <a:t>1.096</a:t>
                      </a:r>
                    </a:p>
                  </a:txBody>
                  <a:tcPr marT="22000" marB="22000" marL="60000" marR="60000" anchor="ctr">
                    <a:solidFill>
                      <a:srgbClr val="FFFFFF"/>
                    </a:solidFill>
                  </a:tcPr>
                </a:tc>
              </a:tr>
              <a:tr h="384048">
                <a:tc>
                  <a:txBody>
                    <a:bodyPr/>
                    <a:lstStyle/>
                    <a:p>
                      <a:pPr algn="l"/>
                      <a:r>
                        <a:rPr sz="1300" b="0">
                          <a:solidFill>
                            <a:srgbClr val="0B2A4A"/>
                          </a:solidFill>
                          <a:latin typeface="Calibri"/>
                        </a:rPr>
                        <a:t>Radiation efficiency (ratio)</a:t>
                      </a:r>
                    </a:p>
                  </a:txBody>
                  <a:tcPr marT="22000" marB="22000" marL="60000" marR="60000" anchor="ctr">
                    <a:solidFill>
                      <a:srgbClr val="EAF2FA"/>
                    </a:solidFill>
                  </a:tcPr>
                </a:tc>
                <a:tc>
                  <a:txBody>
                    <a:bodyPr/>
                    <a:lstStyle/>
                    <a:p>
                      <a:pPr algn="ctr"/>
                      <a:r>
                        <a:rPr sz="1300" b="0">
                          <a:solidFill>
                            <a:srgbClr val="0B2A4A"/>
                          </a:solidFill>
                          <a:latin typeface="Calibri"/>
                        </a:rPr>
                        <a:t>0.97</a:t>
                      </a:r>
                    </a:p>
                  </a:txBody>
                  <a:tcPr marT="22000" marB="22000" marL="60000" marR="60000" anchor="ctr">
                    <a:solidFill>
                      <a:srgbClr val="EAF2FA"/>
                    </a:solidFill>
                  </a:tcPr>
                </a:tc>
                <a:tc>
                  <a:txBody>
                    <a:bodyPr/>
                    <a:lstStyle/>
                    <a:p>
                      <a:pPr algn="ctr"/>
                      <a:r>
                        <a:rPr sz="1300" b="0">
                          <a:solidFill>
                            <a:srgbClr val="0B2A4A"/>
                          </a:solidFill>
                          <a:latin typeface="Calibri"/>
                        </a:rPr>
                        <a:t>0.026</a:t>
                      </a:r>
                    </a:p>
                  </a:txBody>
                  <a:tcPr marT="22000" marB="22000" marL="60000" marR="60000" anchor="ctr">
                    <a:solidFill>
                      <a:srgbClr val="EAF2FA"/>
                    </a:solidFill>
                  </a:tcPr>
                </a:tc>
                <a:tc>
                  <a:txBody>
                    <a:bodyPr/>
                    <a:lstStyle/>
                    <a:p>
                      <a:pPr algn="ctr"/>
                      <a:r>
                        <a:rPr sz="1300" b="0">
                          <a:solidFill>
                            <a:srgbClr val="0B2A4A"/>
                          </a:solidFill>
                          <a:latin typeface="Calibri"/>
                        </a:rPr>
                        <a:t>0.047</a:t>
                      </a:r>
                    </a:p>
                  </a:txBody>
                  <a:tcPr marT="22000" marB="22000" marL="60000" marR="60000" anchor="ctr">
                    <a:solidFill>
                      <a:srgbClr val="EAF2FA"/>
                    </a:solidFill>
                  </a:tcPr>
                </a:tc>
              </a:tr>
            </a:tbl>
          </a:graphicData>
        </a:graphic>
      </p:graphicFrame>
      <p:pic>
        <p:nvPicPr>
          <p:cNvPr id="7" name="Picture 6" descr="numerical_parity_mendeley.png"/>
          <p:cNvPicPr>
            <a:picLocks noChangeAspect="1"/>
          </p:cNvPicPr>
          <p:nvPr/>
        </p:nvPicPr>
        <p:blipFill>
          <a:blip r:embed="rId2"/>
          <a:stretch>
            <a:fillRect/>
          </a:stretch>
        </p:blipFill>
        <p:spPr>
          <a:xfrm>
            <a:off x="548640" y="3154680"/>
            <a:ext cx="7818120" cy="2410587"/>
          </a:xfrm>
          <a:prstGeom prst="rect">
            <a:avLst/>
          </a:prstGeom>
        </p:spPr>
      </p:pic>
      <p:sp>
        <p:nvSpPr>
          <p:cNvPr id="8" name="Note bubble"/>
          <p:cNvSpPr/>
          <p:nvPr/>
        </p:nvSpPr>
        <p:spPr>
          <a:xfrm>
            <a:off x="8641080" y="1417320"/>
            <a:ext cx="3017520" cy="3707891"/>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On the slotted antenna the forests predict S11, gain and radiation efficiency from the 10 dimensions and frequency.</a:t>
            </a:r>
          </a:p>
          <a:p>
            <a:pPr>
              <a:spcBef>
                <a:spcPts val="500"/>
              </a:spcBef>
            </a:pPr>
            <a:r>
              <a:rPr sz="1300">
                <a:solidFill>
                  <a:srgbClr val="0B2A4A"/>
                </a:solidFill>
                <a:latin typeface="Calibri"/>
              </a:rPr>
              <a:t>Adding the slot and substrate dimensions roughly halves the error of a frequency-only model - the geometry matters.</a:t>
            </a:r>
          </a:p>
          <a:p>
            <a:pPr>
              <a:spcBef>
                <a:spcPts val="500"/>
              </a:spcBef>
            </a:pPr>
            <a:r>
              <a:rPr sz="1300">
                <a:solidFill>
                  <a:srgbClr val="0B2A4A"/>
                </a:solidFill>
                <a:latin typeface="Calibri"/>
              </a:rPr>
              <a:t>Scores are optimistic: the data vary one dimension at a time around one design (grouped 5-fold cross-validation).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5 · OUTPUTS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Stage 6 - How text plays its role</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15 / 21</a:t>
            </a:r>
          </a:p>
        </p:txBody>
      </p:sp>
      <p:sp>
        <p:nvSpPr>
          <p:cNvPr id="6" name="Pentagon 5"/>
          <p:cNvSpPr/>
          <p:nvPr/>
        </p:nvSpPr>
        <p:spPr>
          <a:xfrm>
            <a:off x="548640" y="1371600"/>
            <a:ext cx="1913382" cy="868680"/>
          </a:xfrm>
          <a:prstGeom prst="homePlat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1767078" cy="868680"/>
          </a:xfrm>
          <a:prstGeom prst="rect">
            <a:avLst/>
          </a:prstGeom>
          <a:noFill/>
        </p:spPr>
        <p:txBody>
          <a:bodyPr wrap="square" lIns="27432" rIns="27432" anchor="ctr">
            <a:spAutoFit/>
          </a:bodyPr>
          <a:lstStyle/>
          <a:p>
            <a:pPr algn="ctr"/>
            <a:r>
              <a:rPr sz="1200" b="1">
                <a:solidFill>
                  <a:srgbClr val="FFFFFF"/>
                </a:solidFill>
                <a:latin typeface="Calibri"/>
              </a:rPr>
              <a:t>Select</a:t>
            </a:r>
          </a:p>
        </p:txBody>
      </p:sp>
      <p:sp>
        <p:nvSpPr>
          <p:cNvPr id="8" name="Chevron 7"/>
          <p:cNvSpPr/>
          <p:nvPr/>
        </p:nvSpPr>
        <p:spPr>
          <a:xfrm>
            <a:off x="2516886" y="1371600"/>
            <a:ext cx="1913382" cy="86868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18054" y="1371600"/>
            <a:ext cx="1565910" cy="868680"/>
          </a:xfrm>
          <a:prstGeom prst="rect">
            <a:avLst/>
          </a:prstGeom>
          <a:noFill/>
        </p:spPr>
        <p:txBody>
          <a:bodyPr wrap="square" lIns="27432" rIns="27432" anchor="ctr">
            <a:spAutoFit/>
          </a:bodyPr>
          <a:lstStyle/>
          <a:p>
            <a:pPr algn="ctr"/>
            <a:r>
              <a:rPr sz="1200" b="1">
                <a:solidFill>
                  <a:srgbClr val="FFFFFF"/>
                </a:solidFill>
                <a:latin typeface="Calibri"/>
              </a:rPr>
              <a:t>Interpret</a:t>
            </a:r>
          </a:p>
        </p:txBody>
      </p:sp>
      <p:sp>
        <p:nvSpPr>
          <p:cNvPr id="10" name="Chevron 9"/>
          <p:cNvSpPr/>
          <p:nvPr/>
        </p:nvSpPr>
        <p:spPr>
          <a:xfrm>
            <a:off x="4485132" y="1371600"/>
            <a:ext cx="1913382" cy="868680"/>
          </a:xfrm>
          <a:prstGeom prst="chevron">
            <a:avLst/>
          </a:prstGeom>
          <a:solidFill>
            <a:srgbClr val="2F6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6300" y="1371600"/>
            <a:ext cx="1565910" cy="868680"/>
          </a:xfrm>
          <a:prstGeom prst="rect">
            <a:avLst/>
          </a:prstGeom>
          <a:noFill/>
        </p:spPr>
        <p:txBody>
          <a:bodyPr wrap="square" lIns="27432" rIns="27432" anchor="ctr">
            <a:spAutoFit/>
          </a:bodyPr>
          <a:lstStyle/>
          <a:p>
            <a:pPr algn="ctr"/>
            <a:r>
              <a:rPr sz="1200" b="1">
                <a:solidFill>
                  <a:srgbClr val="FFFFFF"/>
                </a:solidFill>
                <a:latin typeface="Calibri"/>
              </a:rPr>
              <a:t>Write</a:t>
            </a:r>
          </a:p>
        </p:txBody>
      </p:sp>
      <p:sp>
        <p:nvSpPr>
          <p:cNvPr id="12" name="Chevron 11"/>
          <p:cNvSpPr/>
          <p:nvPr/>
        </p:nvSpPr>
        <p:spPr>
          <a:xfrm>
            <a:off x="6453378" y="1371600"/>
            <a:ext cx="1913382" cy="868680"/>
          </a:xfrm>
          <a:prstGeom prst="chevron">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4546" y="1371600"/>
            <a:ext cx="1565910" cy="868680"/>
          </a:xfrm>
          <a:prstGeom prst="rect">
            <a:avLst/>
          </a:prstGeom>
          <a:noFill/>
        </p:spPr>
        <p:txBody>
          <a:bodyPr wrap="square" lIns="27432" rIns="27432" anchor="ctr">
            <a:spAutoFit/>
          </a:bodyPr>
          <a:lstStyle/>
          <a:p>
            <a:pPr algn="ctr"/>
            <a:r>
              <a:rPr sz="1200" b="1">
                <a:solidFill>
                  <a:srgbClr val="FFFFFF"/>
                </a:solidFill>
                <a:latin typeface="Calibri"/>
              </a:rPr>
              <a:t>Caveat</a:t>
            </a:r>
          </a:p>
        </p:txBody>
      </p:sp>
      <p:graphicFrame>
        <p:nvGraphicFramePr>
          <p:cNvPr id="14" name="Table 13"/>
          <p:cNvGraphicFramePr>
            <a:graphicFrameLocks noGrp="1"/>
          </p:cNvGraphicFramePr>
          <p:nvPr/>
        </p:nvGraphicFramePr>
        <p:xfrm>
          <a:off x="548640" y="2377440"/>
          <a:ext cx="7818120" cy="1536192"/>
        </p:xfrm>
        <a:graphic>
          <a:graphicData uri="http://schemas.openxmlformats.org/drawingml/2006/table">
            <a:tbl>
              <a:tblPr firstRow="1" bandRow="1">
                <a:tableStyleId>{5C22544A-7EE6-4342-B048-85BDC9FD1C3A}</a:tableStyleId>
              </a:tblPr>
              <a:tblGrid>
                <a:gridCol w="2194560"/>
                <a:gridCol w="5623560"/>
              </a:tblGrid>
              <a:tr h="384048">
                <a:tc>
                  <a:txBody>
                    <a:bodyPr/>
                    <a:lstStyle/>
                    <a:p>
                      <a:pPr algn="l"/>
                      <a:r>
                        <a:rPr sz="1200" b="1">
                          <a:solidFill>
                            <a:srgbClr val="FFFFFF"/>
                          </a:solidFill>
                          <a:latin typeface="Calibri"/>
                        </a:rPr>
                        <a:t>Step</a:t>
                      </a:r>
                    </a:p>
                  </a:txBody>
                  <a:tcPr marT="22000" marB="22000" marL="60000" marR="60000" anchor="ctr">
                    <a:solidFill>
                      <a:srgbClr val="0B2A4A"/>
                    </a:solidFill>
                  </a:tcPr>
                </a:tc>
                <a:tc>
                  <a:txBody>
                    <a:bodyPr/>
                    <a:lstStyle/>
                    <a:p>
                      <a:pPr algn="l"/>
                      <a:r>
                        <a:rPr sz="1200" b="1">
                          <a:solidFill>
                            <a:srgbClr val="FFFFFF"/>
                          </a:solidFill>
                          <a:latin typeface="Calibri"/>
                        </a:rPr>
                        <a:t>What happens</a:t>
                      </a:r>
                    </a:p>
                  </a:txBody>
                  <a:tcPr marT="22000" marB="22000" marL="60000" marR="60000" anchor="ctr">
                    <a:solidFill>
                      <a:srgbClr val="0B2A4A"/>
                    </a:solidFill>
                  </a:tcPr>
                </a:tc>
              </a:tr>
              <a:tr h="384048">
                <a:tc>
                  <a:txBody>
                    <a:bodyPr/>
                    <a:lstStyle/>
                    <a:p>
                      <a:pPr algn="l"/>
                      <a:r>
                        <a:rPr sz="1200" b="1">
                          <a:solidFill>
                            <a:srgbClr val="0B2A4A"/>
                          </a:solidFill>
                          <a:latin typeface="Calibri"/>
                        </a:rPr>
                        <a:t>Content selection</a:t>
                      </a:r>
                    </a:p>
                  </a:txBody>
                  <a:tcPr marT="22000" marB="22000" marL="60000" marR="60000" anchor="ctr">
                    <a:solidFill>
                      <a:srgbClr val="EAF2FA"/>
                    </a:solidFill>
                  </a:tcPr>
                </a:tc>
                <a:tc>
                  <a:txBody>
                    <a:bodyPr/>
                    <a:lstStyle/>
                    <a:p>
                      <a:pPr algn="l"/>
                      <a:r>
                        <a:rPr sz="1200" b="0">
                          <a:solidFill>
                            <a:srgbClr val="0B2A4A"/>
                          </a:solidFill>
                          <a:latin typeface="Calibri"/>
                        </a:rPr>
                        <a:t>pick predicted f_res, S11, bandwidth and the simulated reference for the same design</a:t>
                      </a:r>
                    </a:p>
                  </a:txBody>
                  <a:tcPr marT="22000" marB="22000" marL="60000" marR="60000" anchor="ctr">
                    <a:solidFill>
                      <a:srgbClr val="EAF2FA"/>
                    </a:solidFill>
                  </a:tcPr>
                </a:tc>
              </a:tr>
              <a:tr h="384048">
                <a:tc>
                  <a:txBody>
                    <a:bodyPr/>
                    <a:lstStyle/>
                    <a:p>
                      <a:pPr algn="l"/>
                      <a:r>
                        <a:rPr sz="1200" b="1">
                          <a:solidFill>
                            <a:srgbClr val="0B2A4A"/>
                          </a:solidFill>
                          <a:latin typeface="Calibri"/>
                        </a:rPr>
                        <a:t>Semantic interpretation</a:t>
                      </a:r>
                    </a:p>
                  </a:txBody>
                  <a:tcPr marT="22000" marB="22000" marL="60000" marR="60000" anchor="ctr">
                    <a:solidFill>
                      <a:srgbClr val="FFFFFF"/>
                    </a:solidFill>
                  </a:tcPr>
                </a:tc>
                <a:tc>
                  <a:txBody>
                    <a:bodyPr/>
                    <a:lstStyle/>
                    <a:p>
                      <a:pPr algn="l"/>
                      <a:r>
                        <a:rPr sz="1200" b="0">
                          <a:solidFill>
                            <a:srgbClr val="0B2A4A"/>
                          </a:solidFill>
                          <a:latin typeface="Calibri"/>
                        </a:rPr>
                        <a:t>rules give meaning: 3.3–3.8 GHz → 'inside 5G NR n78'; ≤ −20 dB → 'High class'</a:t>
                      </a:r>
                    </a:p>
                  </a:txBody>
                  <a:tcPr marT="22000" marB="22000" marL="60000" marR="60000" anchor="ctr">
                    <a:solidFill>
                      <a:srgbClr val="FFFFFF"/>
                    </a:solidFill>
                  </a:tcPr>
                </a:tc>
              </a:tr>
              <a:tr h="384048">
                <a:tc>
                  <a:txBody>
                    <a:bodyPr/>
                    <a:lstStyle/>
                    <a:p>
                      <a:pPr algn="l"/>
                      <a:r>
                        <a:rPr sz="1200" b="1">
                          <a:solidFill>
                            <a:srgbClr val="0B2A4A"/>
                          </a:solidFill>
                          <a:latin typeface="Calibri"/>
                        </a:rPr>
                        <a:t>Template realisation</a:t>
                      </a:r>
                    </a:p>
                  </a:txBody>
                  <a:tcPr marT="22000" marB="22000" marL="60000" marR="60000" anchor="ctr">
                    <a:solidFill>
                      <a:srgbClr val="EAF2FA"/>
                    </a:solidFill>
                  </a:tcPr>
                </a:tc>
                <a:tc>
                  <a:txBody>
                    <a:bodyPr/>
                    <a:lstStyle/>
                    <a:p>
                      <a:pPr algn="l"/>
                      <a:r>
                        <a:rPr sz="1200" b="0">
                          <a:solidFill>
                            <a:srgbClr val="0B2A4A"/>
                          </a:solidFill>
                          <a:latin typeface="Calibri"/>
                        </a:rPr>
                        <a:t>fixed sentence patterns, so wording is consistent and every number is copied, not invented</a:t>
                      </a:r>
                    </a:p>
                  </a:txBody>
                  <a:tcPr marT="22000" marB="22000" marL="60000" marR="60000" anchor="ctr">
                    <a:solidFill>
                      <a:srgbClr val="EAF2FA"/>
                    </a:solidFill>
                  </a:tcPr>
                </a:tc>
              </a:tr>
            </a:tbl>
          </a:graphicData>
        </a:graphic>
      </p:graphicFrame>
      <p:sp>
        <p:nvSpPr>
          <p:cNvPr id="15" name="Rounded Rectangle 14"/>
          <p:cNvSpPr/>
          <p:nvPr/>
        </p:nvSpPr>
        <p:spPr>
          <a:xfrm>
            <a:off x="548640" y="4069080"/>
            <a:ext cx="7818120" cy="1508760"/>
          </a:xfrm>
          <a:prstGeom prst="roundRect">
            <a:avLst>
              <a:gd name="adj" fmla="val 6000"/>
            </a:avLst>
          </a:prstGeom>
          <a:solidFill>
            <a:srgbClr val="F4F6F8"/>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33087"/>
            <a:ext cx="7498079" cy="1828800"/>
          </a:xfrm>
          <a:prstGeom prst="rect">
            <a:avLst/>
          </a:prstGeom>
          <a:noFill/>
        </p:spPr>
        <p:txBody>
          <a:bodyPr wrap="square" anchor="t" lIns="45720" rIns="45720">
            <a:spAutoFit/>
          </a:bodyPr>
          <a:lstStyle/>
          <a:p>
            <a:pPr algn="l"/>
            <a:r>
              <a:rPr sz="1300" b="1">
                <a:solidFill>
                  <a:srgbClr val="2F6FAE"/>
                </a:solidFill>
                <a:latin typeface="Calibri"/>
              </a:rPr>
              <a:t>Generated example (unedited)</a:t>
            </a:r>
          </a:p>
          <a:p>
            <a:pPr algn="l"/>
            <a:r>
              <a:rPr sz="1200" b="0">
                <a:solidFill>
                  <a:srgbClr val="0B2A4A"/>
                </a:solidFill>
                <a:latin typeface="Calibri"/>
              </a:rPr>
              <a:t>P1768 - patch L x W = 42.35 x 78.50 mm (W/L 1.85), feed offset -1.89 mm. Predicted first matched resonance 3.57 GHz, inside 5G NR n78 (3.3-3.8 GHz, FR1); predicted minimum S11 -26.1 dB, which meets the -20 dB project threshold (High class); predicted -10 dB bandwidth 45 MHz. Simulated reference (openEMS): 3.54 GHz, -28.7 dB, 36 MHz. Status: surrogate screening only - requires full-wave verification.</a:t>
            </a:r>
          </a:p>
        </p:txBody>
      </p:sp>
      <p:sp>
        <p:nvSpPr>
          <p:cNvPr id="17" name="Note bubble"/>
          <p:cNvSpPr/>
          <p:nvPr/>
        </p:nvSpPr>
        <p:spPr>
          <a:xfrm>
            <a:off x="8641080" y="1417320"/>
            <a:ext cx="3017520" cy="3483864"/>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Engineers read sentences faster than tables, so each prediction is also written as a short summary.</a:t>
            </a:r>
          </a:p>
          <a:p>
            <a:pPr>
              <a:spcBef>
                <a:spcPts val="500"/>
              </a:spcBef>
            </a:pPr>
            <a:r>
              <a:rPr sz="1300">
                <a:solidFill>
                  <a:srgbClr val="0B2A4A"/>
                </a:solidFill>
                <a:latin typeface="Calibri"/>
              </a:rPr>
              <a:t>This is data-to-text generation with rules and templates - deliberately not a large language model, which could invent values.</a:t>
            </a:r>
          </a:p>
          <a:p>
            <a:pPr>
              <a:spcBef>
                <a:spcPts val="500"/>
              </a:spcBef>
            </a:pPr>
            <a:r>
              <a:rPr sz="1300">
                <a:solidFill>
                  <a:srgbClr val="0B2A4A"/>
                </a:solidFill>
                <a:latin typeface="Calibri"/>
              </a:rPr>
              <a:t>Each summary puts prediction and simulation side by side and ends by asking for full-wave verification.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5 · OUTPUTS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Output 3 - Multimodal fusion (numbers + images)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16 / 21</a:t>
            </a:r>
          </a:p>
        </p:txBody>
      </p:sp>
      <p:graphicFrame>
        <p:nvGraphicFramePr>
          <p:cNvPr id="6" name="Table 5"/>
          <p:cNvGraphicFramePr>
            <a:graphicFrameLocks noGrp="1"/>
          </p:cNvGraphicFramePr>
          <p:nvPr/>
        </p:nvGraphicFramePr>
        <p:xfrm>
          <a:off x="548640" y="1371600"/>
          <a:ext cx="7818120" cy="1536192"/>
        </p:xfrm>
        <a:graphic>
          <a:graphicData uri="http://schemas.openxmlformats.org/drawingml/2006/table">
            <a:tbl>
              <a:tblPr firstRow="1" bandRow="1">
                <a:tableStyleId>{5C22544A-7EE6-4342-B048-85BDC9FD1C3A}</a:tableStyleId>
              </a:tblPr>
              <a:tblGrid>
                <a:gridCol w="2606040"/>
                <a:gridCol w="1097280"/>
                <a:gridCol w="1325880"/>
                <a:gridCol w="1417320"/>
                <a:gridCol w="1371600"/>
              </a:tblGrid>
              <a:tr h="384048">
                <a:tc>
                  <a:txBody>
                    <a:bodyPr/>
                    <a:lstStyle/>
                    <a:p>
                      <a:pPr algn="l"/>
                      <a:r>
                        <a:rPr sz="1300" b="1">
                          <a:solidFill>
                            <a:srgbClr val="FFFFFF"/>
                          </a:solidFill>
                          <a:latin typeface="Calibri"/>
                        </a:rPr>
                        <a:t>Input to the MLP</a:t>
                      </a:r>
                    </a:p>
                  </a:txBody>
                  <a:tcPr marT="22000" marB="22000" marL="60000" marR="60000" anchor="ctr">
                    <a:solidFill>
                      <a:srgbClr val="0B2A4A"/>
                    </a:solidFill>
                  </a:tcPr>
                </a:tc>
                <a:tc>
                  <a:txBody>
                    <a:bodyPr/>
                    <a:lstStyle/>
                    <a:p>
                      <a:pPr algn="ctr"/>
                      <a:r>
                        <a:rPr sz="1300" b="1">
                          <a:solidFill>
                            <a:srgbClr val="FFFFFF"/>
                          </a:solidFill>
                          <a:latin typeface="Calibri"/>
                        </a:rPr>
                        <a:t>Features</a:t>
                      </a:r>
                    </a:p>
                  </a:txBody>
                  <a:tcPr marT="22000" marB="22000" marL="60000" marR="60000" anchor="ctr">
                    <a:solidFill>
                      <a:srgbClr val="0B2A4A"/>
                    </a:solidFill>
                  </a:tcPr>
                </a:tc>
                <a:tc>
                  <a:txBody>
                    <a:bodyPr/>
                    <a:lstStyle/>
                    <a:p>
                      <a:pPr algn="ctr"/>
                      <a:r>
                        <a:rPr sz="1300" b="1">
                          <a:solidFill>
                            <a:srgbClr val="FFFFFF"/>
                          </a:solidFill>
                          <a:latin typeface="Calibri"/>
                        </a:rPr>
                        <a:t>Val macro-F1</a:t>
                      </a:r>
                    </a:p>
                  </a:txBody>
                  <a:tcPr marT="22000" marB="22000" marL="60000" marR="60000" anchor="ctr">
                    <a:solidFill>
                      <a:srgbClr val="0B2A4A"/>
                    </a:solidFill>
                  </a:tcPr>
                </a:tc>
                <a:tc>
                  <a:txBody>
                    <a:bodyPr/>
                    <a:lstStyle/>
                    <a:p>
                      <a:pPr algn="ctr"/>
                      <a:r>
                        <a:rPr sz="1300" b="1">
                          <a:solidFill>
                            <a:srgbClr val="FFFFFF"/>
                          </a:solidFill>
                          <a:latin typeface="Calibri"/>
                        </a:rPr>
                        <a:t>Test macro-F1</a:t>
                      </a:r>
                    </a:p>
                  </a:txBody>
                  <a:tcPr marT="22000" marB="22000" marL="60000" marR="60000" anchor="ctr">
                    <a:solidFill>
                      <a:srgbClr val="0B2A4A"/>
                    </a:solidFill>
                  </a:tcPr>
                </a:tc>
                <a:tc>
                  <a:txBody>
                    <a:bodyPr/>
                    <a:lstStyle/>
                    <a:p>
                      <a:pPr algn="ctr"/>
                      <a:r>
                        <a:rPr sz="1300" b="1">
                          <a:solidFill>
                            <a:srgbClr val="FFFFFF"/>
                          </a:solidFill>
                          <a:latin typeface="Calibri"/>
                        </a:rPr>
                        <a:t>OOD macro-F1</a:t>
                      </a:r>
                    </a:p>
                  </a:txBody>
                  <a:tcPr marT="22000" marB="22000" marL="60000" marR="60000" anchor="ctr">
                    <a:solidFill>
                      <a:srgbClr val="0B2A4A"/>
                    </a:solidFill>
                  </a:tcPr>
                </a:tc>
              </a:tr>
              <a:tr h="384048">
                <a:tc>
                  <a:txBody>
                    <a:bodyPr/>
                    <a:lstStyle/>
                    <a:p>
                      <a:pPr algn="l"/>
                      <a:r>
                        <a:rPr sz="1300" b="0">
                          <a:solidFill>
                            <a:srgbClr val="0B2A4A"/>
                          </a:solidFill>
                          <a:latin typeface="Calibri"/>
                        </a:rPr>
                        <a:t>Numeric only</a:t>
                      </a:r>
                    </a:p>
                  </a:txBody>
                  <a:tcPr marT="22000" marB="22000" marL="60000" marR="60000" anchor="ctr">
                    <a:solidFill>
                      <a:srgbClr val="EAF2FA"/>
                    </a:solidFill>
                  </a:tcPr>
                </a:tc>
                <a:tc>
                  <a:txBody>
                    <a:bodyPr/>
                    <a:lstStyle/>
                    <a:p>
                      <a:pPr algn="ctr"/>
                      <a:r>
                        <a:rPr sz="1300" b="0">
                          <a:solidFill>
                            <a:srgbClr val="0B2A4A"/>
                          </a:solidFill>
                          <a:latin typeface="Calibri"/>
                        </a:rPr>
                        <a:t>5</a:t>
                      </a:r>
                    </a:p>
                  </a:txBody>
                  <a:tcPr marT="22000" marB="22000" marL="60000" marR="60000" anchor="ctr">
                    <a:solidFill>
                      <a:srgbClr val="EAF2FA"/>
                    </a:solidFill>
                  </a:tcPr>
                </a:tc>
                <a:tc>
                  <a:txBody>
                    <a:bodyPr/>
                    <a:lstStyle/>
                    <a:p>
                      <a:pPr algn="ctr"/>
                      <a:r>
                        <a:rPr sz="1300" b="0">
                          <a:solidFill>
                            <a:srgbClr val="0B2A4A"/>
                          </a:solidFill>
                          <a:latin typeface="Calibri"/>
                        </a:rPr>
                        <a:t>0.742</a:t>
                      </a:r>
                    </a:p>
                  </a:txBody>
                  <a:tcPr marT="22000" marB="22000" marL="60000" marR="60000" anchor="ctr">
                    <a:solidFill>
                      <a:srgbClr val="EAF2FA"/>
                    </a:solidFill>
                  </a:tcPr>
                </a:tc>
                <a:tc>
                  <a:txBody>
                    <a:bodyPr/>
                    <a:lstStyle/>
                    <a:p>
                      <a:pPr algn="ctr"/>
                      <a:r>
                        <a:rPr sz="1300" b="0">
                          <a:solidFill>
                            <a:srgbClr val="0B2A4A"/>
                          </a:solidFill>
                          <a:latin typeface="Calibri"/>
                        </a:rPr>
                        <a:t>0.716</a:t>
                      </a:r>
                    </a:p>
                  </a:txBody>
                  <a:tcPr marT="22000" marB="22000" marL="60000" marR="60000" anchor="ctr">
                    <a:solidFill>
                      <a:srgbClr val="EAF2FA"/>
                    </a:solidFill>
                  </a:tcPr>
                </a:tc>
                <a:tc>
                  <a:txBody>
                    <a:bodyPr/>
                    <a:lstStyle/>
                    <a:p>
                      <a:pPr algn="ctr"/>
                      <a:r>
                        <a:rPr sz="1300" b="0">
                          <a:solidFill>
                            <a:srgbClr val="0B2A4A"/>
                          </a:solidFill>
                          <a:latin typeface="Calibri"/>
                        </a:rPr>
                        <a:t>0.581</a:t>
                      </a:r>
                    </a:p>
                  </a:txBody>
                  <a:tcPr marT="22000" marB="22000" marL="60000" marR="60000" anchor="ctr">
                    <a:solidFill>
                      <a:srgbClr val="EAF2FA"/>
                    </a:solidFill>
                  </a:tcPr>
                </a:tc>
              </a:tr>
              <a:tr h="384048">
                <a:tc>
                  <a:txBody>
                    <a:bodyPr/>
                    <a:lstStyle/>
                    <a:p>
                      <a:pPr algn="l"/>
                      <a:r>
                        <a:rPr sz="1300" b="0">
                          <a:solidFill>
                            <a:srgbClr val="0B2A4A"/>
                          </a:solidFill>
                          <a:latin typeface="Calibri"/>
                        </a:rPr>
                        <a:t>Image embedding only</a:t>
                      </a:r>
                    </a:p>
                  </a:txBody>
                  <a:tcPr marT="22000" marB="22000" marL="60000" marR="60000" anchor="ctr">
                    <a:solidFill>
                      <a:srgbClr val="FFFFFF"/>
                    </a:solidFill>
                  </a:tcPr>
                </a:tc>
                <a:tc>
                  <a:txBody>
                    <a:bodyPr/>
                    <a:lstStyle/>
                    <a:p>
                      <a:pPr algn="ctr"/>
                      <a:r>
                        <a:rPr sz="1300" b="0">
                          <a:solidFill>
                            <a:srgbClr val="0B2A4A"/>
                          </a:solidFill>
                          <a:latin typeface="Calibri"/>
                        </a:rPr>
                        <a:t>384</a:t>
                      </a:r>
                    </a:p>
                  </a:txBody>
                  <a:tcPr marT="22000" marB="22000" marL="60000" marR="60000" anchor="ctr">
                    <a:solidFill>
                      <a:srgbClr val="FFFFFF"/>
                    </a:solidFill>
                  </a:tcPr>
                </a:tc>
                <a:tc>
                  <a:txBody>
                    <a:bodyPr/>
                    <a:lstStyle/>
                    <a:p>
                      <a:pPr algn="ctr"/>
                      <a:r>
                        <a:rPr sz="1300" b="0">
                          <a:solidFill>
                            <a:srgbClr val="0B2A4A"/>
                          </a:solidFill>
                          <a:latin typeface="Calibri"/>
                        </a:rPr>
                        <a:t>0.787</a:t>
                      </a:r>
                    </a:p>
                  </a:txBody>
                  <a:tcPr marT="22000" marB="22000" marL="60000" marR="60000" anchor="ctr">
                    <a:solidFill>
                      <a:srgbClr val="FFFFFF"/>
                    </a:solidFill>
                  </a:tcPr>
                </a:tc>
                <a:tc>
                  <a:txBody>
                    <a:bodyPr/>
                    <a:lstStyle/>
                    <a:p>
                      <a:pPr algn="ctr"/>
                      <a:r>
                        <a:rPr sz="1300" b="0">
                          <a:solidFill>
                            <a:srgbClr val="0B2A4A"/>
                          </a:solidFill>
                          <a:latin typeface="Calibri"/>
                        </a:rPr>
                        <a:t>0.775</a:t>
                      </a:r>
                    </a:p>
                  </a:txBody>
                  <a:tcPr marT="22000" marB="22000" marL="60000" marR="60000" anchor="ctr">
                    <a:solidFill>
                      <a:srgbClr val="FFFFFF"/>
                    </a:solidFill>
                  </a:tcPr>
                </a:tc>
                <a:tc>
                  <a:txBody>
                    <a:bodyPr/>
                    <a:lstStyle/>
                    <a:p>
                      <a:pPr algn="ctr"/>
                      <a:r>
                        <a:rPr sz="1300" b="0">
                          <a:solidFill>
                            <a:srgbClr val="0B2A4A"/>
                          </a:solidFill>
                          <a:latin typeface="Calibri"/>
                        </a:rPr>
                        <a:t>0.608</a:t>
                      </a:r>
                    </a:p>
                  </a:txBody>
                  <a:tcPr marT="22000" marB="22000" marL="60000" marR="60000" anchor="ctr">
                    <a:solidFill>
                      <a:srgbClr val="FFFFFF"/>
                    </a:solidFill>
                  </a:tcPr>
                </a:tc>
              </a:tr>
              <a:tr h="384048">
                <a:tc>
                  <a:txBody>
                    <a:bodyPr/>
                    <a:lstStyle/>
                    <a:p>
                      <a:pPr algn="l"/>
                      <a:r>
                        <a:rPr sz="1300" b="0">
                          <a:solidFill>
                            <a:srgbClr val="0B2A4A"/>
                          </a:solidFill>
                          <a:latin typeface="Calibri"/>
                        </a:rPr>
                        <a:t>Fusion (both)</a:t>
                      </a:r>
                    </a:p>
                  </a:txBody>
                  <a:tcPr marT="22000" marB="22000" marL="60000" marR="60000" anchor="ctr">
                    <a:solidFill>
                      <a:srgbClr val="EAF2FA"/>
                    </a:solidFill>
                  </a:tcPr>
                </a:tc>
                <a:tc>
                  <a:txBody>
                    <a:bodyPr/>
                    <a:lstStyle/>
                    <a:p>
                      <a:pPr algn="ctr"/>
                      <a:r>
                        <a:rPr sz="1300" b="0">
                          <a:solidFill>
                            <a:srgbClr val="0B2A4A"/>
                          </a:solidFill>
                          <a:latin typeface="Calibri"/>
                        </a:rPr>
                        <a:t>389</a:t>
                      </a:r>
                    </a:p>
                  </a:txBody>
                  <a:tcPr marT="22000" marB="22000" marL="60000" marR="60000" anchor="ctr">
                    <a:solidFill>
                      <a:srgbClr val="EAF2FA"/>
                    </a:solidFill>
                  </a:tcPr>
                </a:tc>
                <a:tc>
                  <a:txBody>
                    <a:bodyPr/>
                    <a:lstStyle/>
                    <a:p>
                      <a:pPr algn="ctr"/>
                      <a:r>
                        <a:rPr sz="1300" b="0">
                          <a:solidFill>
                            <a:srgbClr val="0B2A4A"/>
                          </a:solidFill>
                          <a:latin typeface="Calibri"/>
                        </a:rPr>
                        <a:t>0.766</a:t>
                      </a:r>
                    </a:p>
                  </a:txBody>
                  <a:tcPr marT="22000" marB="22000" marL="60000" marR="60000" anchor="ctr">
                    <a:solidFill>
                      <a:srgbClr val="EAF2FA"/>
                    </a:solidFill>
                  </a:tcPr>
                </a:tc>
                <a:tc>
                  <a:txBody>
                    <a:bodyPr/>
                    <a:lstStyle/>
                    <a:p>
                      <a:pPr algn="ctr"/>
                      <a:r>
                        <a:rPr sz="1300" b="0">
                          <a:solidFill>
                            <a:srgbClr val="0B2A4A"/>
                          </a:solidFill>
                          <a:latin typeface="Calibri"/>
                        </a:rPr>
                        <a:t>0.737</a:t>
                      </a:r>
                    </a:p>
                  </a:txBody>
                  <a:tcPr marT="22000" marB="22000" marL="60000" marR="60000" anchor="ctr">
                    <a:solidFill>
                      <a:srgbClr val="EAF2FA"/>
                    </a:solidFill>
                  </a:tcPr>
                </a:tc>
                <a:tc>
                  <a:txBody>
                    <a:bodyPr/>
                    <a:lstStyle/>
                    <a:p>
                      <a:pPr algn="ctr"/>
                      <a:r>
                        <a:rPr sz="1300" b="0">
                          <a:solidFill>
                            <a:srgbClr val="0B2A4A"/>
                          </a:solidFill>
                          <a:latin typeface="Calibri"/>
                        </a:rPr>
                        <a:t>0.611</a:t>
                      </a:r>
                    </a:p>
                  </a:txBody>
                  <a:tcPr marT="22000" marB="22000" marL="60000" marR="60000" anchor="ctr">
                    <a:solidFill>
                      <a:srgbClr val="EAF2FA"/>
                    </a:solidFill>
                  </a:tcPr>
                </a:tc>
              </a:tr>
            </a:tbl>
          </a:graphicData>
        </a:graphic>
      </p:graphicFrame>
      <p:pic>
        <p:nvPicPr>
          <p:cNvPr id="7" name="Picture 6" descr="fusion_confusion.png"/>
          <p:cNvPicPr>
            <a:picLocks noChangeAspect="1"/>
          </p:cNvPicPr>
          <p:nvPr/>
        </p:nvPicPr>
        <p:blipFill>
          <a:blip r:embed="rId2"/>
          <a:stretch>
            <a:fillRect/>
          </a:stretch>
        </p:blipFill>
        <p:spPr>
          <a:xfrm>
            <a:off x="548640" y="3063240"/>
            <a:ext cx="7818120" cy="2533650"/>
          </a:xfrm>
          <a:prstGeom prst="rect">
            <a:avLst/>
          </a:prstGeom>
        </p:spPr>
      </p:pic>
      <p:sp>
        <p:nvSpPr>
          <p:cNvPr id="8" name="Note bubble"/>
          <p:cNvSpPr/>
          <p:nvPr/>
        </p:nvSpPr>
        <p:spPr>
          <a:xfrm>
            <a:off x="8641080" y="1417320"/>
            <a:ext cx="3017520" cy="3931919"/>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Task: predict the matching class (Poor / Acceptable / High). Fusion scored 0.737, below the image embedding alone (0.775), so the pre-registered hypothesis H6 is not supported.</a:t>
            </a:r>
          </a:p>
          <a:p>
            <a:pPr>
              <a:spcBef>
                <a:spcPts val="500"/>
              </a:spcBef>
            </a:pPr>
            <a:r>
              <a:rPr sz="1300">
                <a:solidFill>
                  <a:srgbClr val="0B2A4A"/>
                </a:solidFill>
                <a:latin typeface="Calibri"/>
              </a:rPr>
              <a:t>The image-only MLP beats Module 1's own ViT head (0.581): the ViT features are better than its classifier suggested.</a:t>
            </a:r>
          </a:p>
          <a:p>
            <a:pPr>
              <a:spcBef>
                <a:spcPts val="500"/>
              </a:spcBef>
            </a:pPr>
            <a:r>
              <a:rPr sz="1300">
                <a:solidFill>
                  <a:srgbClr val="0B2A4A"/>
                </a:solidFill>
                <a:latin typeface="Calibri"/>
              </a:rPr>
              <a:t>Adding 5 numbers to 384 image numbers added redundancy rather than new information.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5 · OUTPUTS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Output 4 - AI-proposed designs for 5G NR n78</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17 / 21</a:t>
            </a:r>
          </a:p>
        </p:txBody>
      </p:sp>
      <p:pic>
        <p:nvPicPr>
          <p:cNvPr id="6" name="Picture 5" descr="nsga2_pareto_n78.png"/>
          <p:cNvPicPr>
            <a:picLocks noChangeAspect="1"/>
          </p:cNvPicPr>
          <p:nvPr/>
        </p:nvPicPr>
        <p:blipFill>
          <a:blip r:embed="rId2"/>
          <a:stretch>
            <a:fillRect/>
          </a:stretch>
        </p:blipFill>
        <p:spPr>
          <a:xfrm>
            <a:off x="548640" y="1325880"/>
            <a:ext cx="4491193" cy="3017520"/>
          </a:xfrm>
          <a:prstGeom prst="rect">
            <a:avLst/>
          </a:prstGeom>
        </p:spPr>
      </p:pic>
      <p:sp>
        <p:nvSpPr>
          <p:cNvPr id="7" name="Rounded Rectangle 6"/>
          <p:cNvSpPr/>
          <p:nvPr/>
        </p:nvSpPr>
        <p:spPr>
          <a:xfrm>
            <a:off x="5166360" y="1371600"/>
            <a:ext cx="3200400" cy="21031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1444752"/>
            <a:ext cx="2926080" cy="365760"/>
          </a:xfrm>
          <a:prstGeom prst="rect">
            <a:avLst/>
          </a:prstGeom>
          <a:noFill/>
        </p:spPr>
        <p:txBody>
          <a:bodyPr wrap="square" anchor="t" lIns="45720" rIns="45720">
            <a:spAutoFit/>
          </a:bodyPr>
          <a:lstStyle/>
          <a:p>
            <a:pPr algn="l"/>
            <a:r>
              <a:rPr sz="1500" b="1">
                <a:solidFill>
                  <a:srgbClr val="2F6FAE"/>
                </a:solidFill>
                <a:latin typeface="Calibri"/>
              </a:rPr>
              <a:t>Search set-up</a:t>
            </a:r>
          </a:p>
        </p:txBody>
      </p:sp>
      <p:sp>
        <p:nvSpPr>
          <p:cNvPr id="9" name="TextBox 8"/>
          <p:cNvSpPr txBox="1"/>
          <p:nvPr/>
        </p:nvSpPr>
        <p:spPr>
          <a:xfrm>
            <a:off x="5303520" y="1810512"/>
            <a:ext cx="2926080" cy="1600200"/>
          </a:xfrm>
          <a:prstGeom prst="rect">
            <a:avLst/>
          </a:prstGeom>
          <a:noFill/>
        </p:spPr>
        <p:txBody>
          <a:bodyPr wrap="square" anchor="t" lIns="45720" rIns="45720">
            <a:spAutoFit/>
          </a:bodyPr>
          <a:lstStyle/>
          <a:p>
            <a:pPr algn="l"/>
            <a:r>
              <a:rPr sz="1200" b="0">
                <a:solidFill>
                  <a:srgbClr val="0B2A4A"/>
                </a:solidFill>
                <a:latin typeface="Calibri"/>
              </a:rPr>
              <a:t>Variables: L, W/L, feed position. Goals: deepest match, widest band, smallest area. Constraint: predicted resonance in 3.3–3.8 GHz. 100 candidates × 80 generations.</a:t>
            </a:r>
          </a:p>
        </p:txBody>
      </p:sp>
      <p:graphicFrame>
        <p:nvGraphicFramePr>
          <p:cNvPr id="10" name="Table 9"/>
          <p:cNvGraphicFramePr>
            <a:graphicFrameLocks noGrp="1"/>
          </p:cNvGraphicFramePr>
          <p:nvPr/>
        </p:nvGraphicFramePr>
        <p:xfrm>
          <a:off x="548640" y="4526280"/>
          <a:ext cx="7818120" cy="1389888"/>
        </p:xfrm>
        <a:graphic>
          <a:graphicData uri="http://schemas.openxmlformats.org/drawingml/2006/table">
            <a:tbl>
              <a:tblPr firstRow="1" bandRow="1">
                <a:tableStyleId>{5C22544A-7EE6-4342-B048-85BDC9FD1C3A}</a:tableStyleId>
              </a:tblPr>
              <a:tblGrid>
                <a:gridCol w="2651760"/>
                <a:gridCol w="1463040"/>
                <a:gridCol w="1234440"/>
                <a:gridCol w="1188720"/>
                <a:gridCol w="1280160"/>
              </a:tblGrid>
              <a:tr h="347472">
                <a:tc>
                  <a:txBody>
                    <a:bodyPr/>
                    <a:lstStyle/>
                    <a:p>
                      <a:pPr algn="l"/>
                      <a:r>
                        <a:rPr sz="1200" b="1">
                          <a:solidFill>
                            <a:srgbClr val="FFFFFF"/>
                          </a:solidFill>
                          <a:latin typeface="Calibri"/>
                        </a:rPr>
                        <a:t>Proposal</a:t>
                      </a:r>
                    </a:p>
                  </a:txBody>
                  <a:tcPr marT="22000" marB="22000" marL="60000" marR="60000" anchor="ctr">
                    <a:solidFill>
                      <a:srgbClr val="0B2A4A"/>
                    </a:solidFill>
                  </a:tcPr>
                </a:tc>
                <a:tc>
                  <a:txBody>
                    <a:bodyPr/>
                    <a:lstStyle/>
                    <a:p>
                      <a:pPr algn="ctr"/>
                      <a:r>
                        <a:rPr sz="1200" b="1">
                          <a:solidFill>
                            <a:srgbClr val="FFFFFF"/>
                          </a:solidFill>
                          <a:latin typeface="Calibri"/>
                        </a:rPr>
                        <a:t>L × W (mm)</a:t>
                      </a:r>
                    </a:p>
                  </a:txBody>
                  <a:tcPr marT="22000" marB="22000" marL="60000" marR="60000" anchor="ctr">
                    <a:solidFill>
                      <a:srgbClr val="0B2A4A"/>
                    </a:solidFill>
                  </a:tcPr>
                </a:tc>
                <a:tc>
                  <a:txBody>
                    <a:bodyPr/>
                    <a:lstStyle/>
                    <a:p>
                      <a:pPr algn="ctr"/>
                      <a:r>
                        <a:rPr sz="1200" b="1">
                          <a:solidFill>
                            <a:srgbClr val="FFFFFF"/>
                          </a:solidFill>
                          <a:latin typeface="Calibri"/>
                        </a:rPr>
                        <a:t>f_res (GHz)</a:t>
                      </a:r>
                    </a:p>
                  </a:txBody>
                  <a:tcPr marT="22000" marB="22000" marL="60000" marR="60000" anchor="ctr">
                    <a:solidFill>
                      <a:srgbClr val="0B2A4A"/>
                    </a:solidFill>
                  </a:tcPr>
                </a:tc>
                <a:tc>
                  <a:txBody>
                    <a:bodyPr/>
                    <a:lstStyle/>
                    <a:p>
                      <a:pPr algn="ctr"/>
                      <a:r>
                        <a:rPr sz="1200" b="1">
                          <a:solidFill>
                            <a:srgbClr val="FFFFFF"/>
                          </a:solidFill>
                          <a:latin typeface="Calibri"/>
                        </a:rPr>
                        <a:t>S11 (dB)</a:t>
                      </a:r>
                    </a:p>
                  </a:txBody>
                  <a:tcPr marT="22000" marB="22000" marL="60000" marR="60000" anchor="ctr">
                    <a:solidFill>
                      <a:srgbClr val="0B2A4A"/>
                    </a:solidFill>
                  </a:tcPr>
                </a:tc>
                <a:tc>
                  <a:txBody>
                    <a:bodyPr/>
                    <a:lstStyle/>
                    <a:p>
                      <a:pPr algn="ctr"/>
                      <a:r>
                        <a:rPr sz="1200" b="1">
                          <a:solidFill>
                            <a:srgbClr val="FFFFFF"/>
                          </a:solidFill>
                          <a:latin typeface="Calibri"/>
                        </a:rPr>
                        <a:t>BW (MHz)</a:t>
                      </a:r>
                    </a:p>
                  </a:txBody>
                  <a:tcPr marT="22000" marB="22000" marL="60000" marR="60000" anchor="ctr">
                    <a:solidFill>
                      <a:srgbClr val="0B2A4A"/>
                    </a:solidFill>
                  </a:tcPr>
                </a:tc>
              </a:tr>
              <a:tr h="347472">
                <a:tc>
                  <a:txBody>
                    <a:bodyPr/>
                    <a:lstStyle/>
                    <a:p>
                      <a:pPr algn="l"/>
                      <a:r>
                        <a:rPr sz="1200" b="0">
                          <a:solidFill>
                            <a:srgbClr val="0B2A4A"/>
                          </a:solidFill>
                          <a:latin typeface="Calibri"/>
                        </a:rPr>
                        <a:t>N78-001 (smallest)</a:t>
                      </a:r>
                    </a:p>
                  </a:txBody>
                  <a:tcPr marT="22000" marB="22000" marL="60000" marR="60000" anchor="ctr">
                    <a:solidFill>
                      <a:srgbClr val="EAF2FA"/>
                    </a:solidFill>
                  </a:tcPr>
                </a:tc>
                <a:tc>
                  <a:txBody>
                    <a:bodyPr/>
                    <a:lstStyle/>
                    <a:p>
                      <a:pPr algn="ctr"/>
                      <a:r>
                        <a:rPr sz="1200" b="0">
                          <a:solidFill>
                            <a:srgbClr val="0B2A4A"/>
                          </a:solidFill>
                          <a:latin typeface="Calibri"/>
                        </a:rPr>
                        <a:t>19.3 × 15.5</a:t>
                      </a:r>
                    </a:p>
                  </a:txBody>
                  <a:tcPr marT="22000" marB="22000" marL="60000" marR="60000" anchor="ctr">
                    <a:solidFill>
                      <a:srgbClr val="EAF2FA"/>
                    </a:solidFill>
                  </a:tcPr>
                </a:tc>
                <a:tc>
                  <a:txBody>
                    <a:bodyPr/>
                    <a:lstStyle/>
                    <a:p>
                      <a:pPr algn="ctr"/>
                      <a:r>
                        <a:rPr sz="1200" b="0">
                          <a:solidFill>
                            <a:srgbClr val="0B2A4A"/>
                          </a:solidFill>
                          <a:latin typeface="Calibri"/>
                        </a:rPr>
                        <a:t>3.79</a:t>
                      </a:r>
                    </a:p>
                  </a:txBody>
                  <a:tcPr marT="22000" marB="22000" marL="60000" marR="60000" anchor="ctr">
                    <a:solidFill>
                      <a:srgbClr val="EAF2FA"/>
                    </a:solidFill>
                  </a:tcPr>
                </a:tc>
                <a:tc>
                  <a:txBody>
                    <a:bodyPr/>
                    <a:lstStyle/>
                    <a:p>
                      <a:pPr algn="ctr"/>
                      <a:r>
                        <a:rPr sz="1200" b="0">
                          <a:solidFill>
                            <a:srgbClr val="0B2A4A"/>
                          </a:solidFill>
                          <a:latin typeface="Calibri"/>
                        </a:rPr>
                        <a:t>-26.6</a:t>
                      </a:r>
                    </a:p>
                  </a:txBody>
                  <a:tcPr marT="22000" marB="22000" marL="60000" marR="60000" anchor="ctr">
                    <a:solidFill>
                      <a:srgbClr val="EAF2FA"/>
                    </a:solidFill>
                  </a:tcPr>
                </a:tc>
                <a:tc>
                  <a:txBody>
                    <a:bodyPr/>
                    <a:lstStyle/>
                    <a:p>
                      <a:pPr algn="ctr"/>
                      <a:r>
                        <a:rPr sz="1200" b="0">
                          <a:solidFill>
                            <a:srgbClr val="0B2A4A"/>
                          </a:solidFill>
                          <a:latin typeface="Calibri"/>
                        </a:rPr>
                        <a:t>64</a:t>
                      </a:r>
                    </a:p>
                  </a:txBody>
                  <a:tcPr marT="22000" marB="22000" marL="60000" marR="60000" anchor="ctr">
                    <a:solidFill>
                      <a:srgbClr val="EAF2FA"/>
                    </a:solidFill>
                  </a:tcPr>
                </a:tc>
              </a:tr>
              <a:tr h="347472">
                <a:tc>
                  <a:txBody>
                    <a:bodyPr/>
                    <a:lstStyle/>
                    <a:p>
                      <a:pPr algn="l"/>
                      <a:r>
                        <a:rPr sz="1200" b="0">
                          <a:solidFill>
                            <a:srgbClr val="0B2A4A"/>
                          </a:solidFill>
                          <a:latin typeface="Calibri"/>
                        </a:rPr>
                        <a:t>N78-066 (widest band)</a:t>
                      </a:r>
                    </a:p>
                  </a:txBody>
                  <a:tcPr marT="22000" marB="22000" marL="60000" marR="60000" anchor="ctr">
                    <a:solidFill>
                      <a:srgbClr val="FFFFFF"/>
                    </a:solidFill>
                  </a:tcPr>
                </a:tc>
                <a:tc>
                  <a:txBody>
                    <a:bodyPr/>
                    <a:lstStyle/>
                    <a:p>
                      <a:pPr algn="ctr"/>
                      <a:r>
                        <a:rPr sz="1200" b="0">
                          <a:solidFill>
                            <a:srgbClr val="0B2A4A"/>
                          </a:solidFill>
                          <a:latin typeface="Calibri"/>
                        </a:rPr>
                        <a:t>22.1 × 23.1</a:t>
                      </a:r>
                    </a:p>
                  </a:txBody>
                  <a:tcPr marT="22000" marB="22000" marL="60000" marR="60000" anchor="ctr">
                    <a:solidFill>
                      <a:srgbClr val="FFFFFF"/>
                    </a:solidFill>
                  </a:tcPr>
                </a:tc>
                <a:tc>
                  <a:txBody>
                    <a:bodyPr/>
                    <a:lstStyle/>
                    <a:p>
                      <a:pPr algn="ctr"/>
                      <a:r>
                        <a:rPr sz="1200" b="0">
                          <a:solidFill>
                            <a:srgbClr val="0B2A4A"/>
                          </a:solidFill>
                          <a:latin typeface="Calibri"/>
                        </a:rPr>
                        <a:t>3.72</a:t>
                      </a:r>
                    </a:p>
                  </a:txBody>
                  <a:tcPr marT="22000" marB="22000" marL="60000" marR="60000" anchor="ctr">
                    <a:solidFill>
                      <a:srgbClr val="FFFFFF"/>
                    </a:solidFill>
                  </a:tcPr>
                </a:tc>
                <a:tc>
                  <a:txBody>
                    <a:bodyPr/>
                    <a:lstStyle/>
                    <a:p>
                      <a:pPr algn="ctr"/>
                      <a:r>
                        <a:rPr sz="1200" b="0">
                          <a:solidFill>
                            <a:srgbClr val="0B2A4A"/>
                          </a:solidFill>
                          <a:latin typeface="Calibri"/>
                        </a:rPr>
                        <a:t>-22.0</a:t>
                      </a:r>
                    </a:p>
                  </a:txBody>
                  <a:tcPr marT="22000" marB="22000" marL="60000" marR="60000" anchor="ctr">
                    <a:solidFill>
                      <a:srgbClr val="FFFFFF"/>
                    </a:solidFill>
                  </a:tcPr>
                </a:tc>
                <a:tc>
                  <a:txBody>
                    <a:bodyPr/>
                    <a:lstStyle/>
                    <a:p>
                      <a:pPr algn="ctr"/>
                      <a:r>
                        <a:rPr sz="1200" b="0">
                          <a:solidFill>
                            <a:srgbClr val="0B2A4A"/>
                          </a:solidFill>
                          <a:latin typeface="Calibri"/>
                        </a:rPr>
                        <a:t>103</a:t>
                      </a:r>
                    </a:p>
                  </a:txBody>
                  <a:tcPr marT="22000" marB="22000" marL="60000" marR="60000" anchor="ctr">
                    <a:solidFill>
                      <a:srgbClr val="FFFFFF"/>
                    </a:solidFill>
                  </a:tcPr>
                </a:tc>
              </a:tr>
              <a:tr h="347472">
                <a:tc>
                  <a:txBody>
                    <a:bodyPr/>
                    <a:lstStyle/>
                    <a:p>
                      <a:pPr algn="l"/>
                      <a:r>
                        <a:rPr sz="1200" b="0">
                          <a:solidFill>
                            <a:srgbClr val="0B2A4A"/>
                          </a:solidFill>
                          <a:latin typeface="Calibri"/>
                        </a:rPr>
                        <a:t>N78-098 (deepest match)</a:t>
                      </a:r>
                    </a:p>
                  </a:txBody>
                  <a:tcPr marT="22000" marB="22000" marL="60000" marR="60000" anchor="ctr">
                    <a:solidFill>
                      <a:srgbClr val="EAF2FA"/>
                    </a:solidFill>
                  </a:tcPr>
                </a:tc>
                <a:tc>
                  <a:txBody>
                    <a:bodyPr/>
                    <a:lstStyle/>
                    <a:p>
                      <a:pPr algn="ctr"/>
                      <a:r>
                        <a:rPr sz="1200" b="0">
                          <a:solidFill>
                            <a:srgbClr val="0B2A4A"/>
                          </a:solidFill>
                          <a:latin typeface="Calibri"/>
                        </a:rPr>
                        <a:t>40.7 × 67.1</a:t>
                      </a:r>
                    </a:p>
                  </a:txBody>
                  <a:tcPr marT="22000" marB="22000" marL="60000" marR="60000" anchor="ctr">
                    <a:solidFill>
                      <a:srgbClr val="EAF2FA"/>
                    </a:solidFill>
                  </a:tcPr>
                </a:tc>
                <a:tc>
                  <a:txBody>
                    <a:bodyPr/>
                    <a:lstStyle/>
                    <a:p>
                      <a:pPr algn="ctr"/>
                      <a:r>
                        <a:rPr sz="1200" b="0">
                          <a:solidFill>
                            <a:srgbClr val="0B2A4A"/>
                          </a:solidFill>
                          <a:latin typeface="Calibri"/>
                        </a:rPr>
                        <a:t>3.68</a:t>
                      </a:r>
                    </a:p>
                  </a:txBody>
                  <a:tcPr marT="22000" marB="22000" marL="60000" marR="60000" anchor="ctr">
                    <a:solidFill>
                      <a:srgbClr val="EAF2FA"/>
                    </a:solidFill>
                  </a:tcPr>
                </a:tc>
                <a:tc>
                  <a:txBody>
                    <a:bodyPr/>
                    <a:lstStyle/>
                    <a:p>
                      <a:pPr algn="ctr"/>
                      <a:r>
                        <a:rPr sz="1200" b="0">
                          <a:solidFill>
                            <a:srgbClr val="0B2A4A"/>
                          </a:solidFill>
                          <a:latin typeface="Calibri"/>
                        </a:rPr>
                        <a:t>-34.6</a:t>
                      </a:r>
                    </a:p>
                  </a:txBody>
                  <a:tcPr marT="22000" marB="22000" marL="60000" marR="60000" anchor="ctr">
                    <a:solidFill>
                      <a:srgbClr val="EAF2FA"/>
                    </a:solidFill>
                  </a:tcPr>
                </a:tc>
                <a:tc>
                  <a:txBody>
                    <a:bodyPr/>
                    <a:lstStyle/>
                    <a:p>
                      <a:pPr algn="ctr"/>
                      <a:r>
                        <a:rPr sz="1200" b="0">
                          <a:solidFill>
                            <a:srgbClr val="0B2A4A"/>
                          </a:solidFill>
                          <a:latin typeface="Calibri"/>
                        </a:rPr>
                        <a:t>51</a:t>
                      </a:r>
                    </a:p>
                  </a:txBody>
                  <a:tcPr marT="22000" marB="22000" marL="60000" marR="60000" anchor="ctr">
                    <a:solidFill>
                      <a:srgbClr val="EAF2FA"/>
                    </a:solidFill>
                  </a:tcPr>
                </a:tc>
              </a:tr>
            </a:tbl>
          </a:graphicData>
        </a:graphic>
      </p:graphicFrame>
      <p:sp>
        <p:nvSpPr>
          <p:cNvPr id="11" name="Note bubble"/>
          <p:cNvSpPr/>
          <p:nvPr/>
        </p:nvSpPr>
        <p:spPr>
          <a:xfrm>
            <a:off x="8641080" y="1417320"/>
            <a:ext cx="3017520" cy="3566160"/>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NSGA-II found 100 trade-off designs, from 299 to 2754 mm².</a:t>
            </a:r>
          </a:p>
          <a:p>
            <a:pPr>
              <a:spcBef>
                <a:spcPts val="500"/>
              </a:spcBef>
            </a:pPr>
            <a:r>
              <a:rPr sz="1300">
                <a:solidFill>
                  <a:srgbClr val="0B2A4A"/>
                </a:solidFill>
                <a:latin typeface="Calibri"/>
              </a:rPr>
              <a:t>Each dot is a compromise: smaller area costs bandwidth or match depth.</a:t>
            </a:r>
          </a:p>
          <a:p>
            <a:pPr>
              <a:spcBef>
                <a:spcPts val="500"/>
              </a:spcBef>
            </a:pPr>
            <a:r>
              <a:rPr sz="1300">
                <a:solidFill>
                  <a:srgbClr val="0B2A4A"/>
                </a:solidFill>
                <a:latin typeface="Calibri"/>
              </a:rPr>
              <a:t>All proposals sit close to simulated designs (median 0.08 SD) - interpolations, not miracles.</a:t>
            </a:r>
          </a:p>
          <a:p>
            <a:pPr>
              <a:spcBef>
                <a:spcPts val="500"/>
              </a:spcBef>
            </a:pPr>
            <a:r>
              <a:rPr sz="1300">
                <a:solidFill>
                  <a:srgbClr val="0B2A4A"/>
                </a:solidFill>
                <a:latin typeface="Calibri"/>
              </a:rPr>
              <a:t>These are predictions only: NOT simulated. They are a shortlist for HFSS.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6 · VALUE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What this means for engineers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18 / 21</a:t>
            </a:r>
          </a:p>
        </p:txBody>
      </p:sp>
      <p:graphicFrame>
        <p:nvGraphicFramePr>
          <p:cNvPr id="6" name="Table 5"/>
          <p:cNvGraphicFramePr>
            <a:graphicFrameLocks noGrp="1"/>
          </p:cNvGraphicFramePr>
          <p:nvPr/>
        </p:nvGraphicFramePr>
        <p:xfrm>
          <a:off x="548640" y="1371600"/>
          <a:ext cx="7818120" cy="3840480"/>
        </p:xfrm>
        <a:graphic>
          <a:graphicData uri="http://schemas.openxmlformats.org/drawingml/2006/table">
            <a:tbl>
              <a:tblPr firstRow="1" bandRow="1">
                <a:tableStyleId>{5C22544A-7EE6-4342-B048-85BDC9FD1C3A}</a:tableStyleId>
              </a:tblPr>
              <a:tblGrid>
                <a:gridCol w="1828800"/>
                <a:gridCol w="2880360"/>
                <a:gridCol w="3108960"/>
              </a:tblGrid>
              <a:tr h="548640">
                <a:tc>
                  <a:txBody>
                    <a:bodyPr/>
                    <a:lstStyle/>
                    <a:p>
                      <a:pPr algn="l"/>
                      <a:r>
                        <a:rPr sz="1200" b="1">
                          <a:solidFill>
                            <a:srgbClr val="FFFFFF"/>
                          </a:solidFill>
                          <a:latin typeface="Calibri"/>
                        </a:rPr>
                        <a:t>Aspect</a:t>
                      </a:r>
                    </a:p>
                  </a:txBody>
                  <a:tcPr marT="22000" marB="22000" marL="60000" marR="60000" anchor="ctr">
                    <a:solidFill>
                      <a:srgbClr val="0B2A4A"/>
                    </a:solidFill>
                  </a:tcPr>
                </a:tc>
                <a:tc>
                  <a:txBody>
                    <a:bodyPr/>
                    <a:lstStyle/>
                    <a:p>
                      <a:pPr algn="l"/>
                      <a:r>
                        <a:rPr sz="1200" b="1">
                          <a:solidFill>
                            <a:srgbClr val="FFFFFF"/>
                          </a:solidFill>
                          <a:latin typeface="Calibri"/>
                        </a:rPr>
                        <a:t>Conventional (full-wave only)</a:t>
                      </a:r>
                    </a:p>
                  </a:txBody>
                  <a:tcPr marT="22000" marB="22000" marL="60000" marR="60000" anchor="ctr">
                    <a:solidFill>
                      <a:srgbClr val="0B2A4A"/>
                    </a:solidFill>
                  </a:tcPr>
                </a:tc>
                <a:tc>
                  <a:txBody>
                    <a:bodyPr/>
                    <a:lstStyle/>
                    <a:p>
                      <a:pPr algn="l"/>
                      <a:r>
                        <a:rPr sz="1200" b="1">
                          <a:solidFill>
                            <a:srgbClr val="FFFFFF"/>
                          </a:solidFill>
                          <a:latin typeface="Calibri"/>
                        </a:rPr>
                        <a:t>With the AI surrogate (Module 2)</a:t>
                      </a:r>
                    </a:p>
                  </a:txBody>
                  <a:tcPr marT="22000" marB="22000" marL="60000" marR="60000" anchor="ctr">
                    <a:solidFill>
                      <a:srgbClr val="0B2A4A"/>
                    </a:solidFill>
                  </a:tcPr>
                </a:tc>
              </a:tr>
              <a:tr h="548640">
                <a:tc>
                  <a:txBody>
                    <a:bodyPr/>
                    <a:lstStyle/>
                    <a:p>
                      <a:pPr algn="l"/>
                      <a:r>
                        <a:rPr sz="1200" b="1">
                          <a:solidFill>
                            <a:srgbClr val="0B2A4A"/>
                          </a:solidFill>
                          <a:latin typeface="Calibri"/>
                        </a:rPr>
                        <a:t>Time per candidate</a:t>
                      </a:r>
                    </a:p>
                  </a:txBody>
                  <a:tcPr marT="22000" marB="22000" marL="60000" marR="60000" anchor="ctr">
                    <a:solidFill>
                      <a:srgbClr val="EAF2FA"/>
                    </a:solidFill>
                  </a:tcPr>
                </a:tc>
                <a:tc>
                  <a:txBody>
                    <a:bodyPr/>
                    <a:lstStyle/>
                    <a:p>
                      <a:pPr algn="l"/>
                      <a:r>
                        <a:rPr sz="1200" b="0">
                          <a:solidFill>
                            <a:srgbClr val="0B2A4A"/>
                          </a:solidFill>
                          <a:latin typeface="Calibri"/>
                        </a:rPr>
                        <a:t>minutes to hours of solver time (typical)</a:t>
                      </a:r>
                    </a:p>
                  </a:txBody>
                  <a:tcPr marT="22000" marB="22000" marL="60000" marR="60000" anchor="ctr">
                    <a:solidFill>
                      <a:srgbClr val="EAF2FA"/>
                    </a:solidFill>
                  </a:tcPr>
                </a:tc>
                <a:tc>
                  <a:txBody>
                    <a:bodyPr/>
                    <a:lstStyle/>
                    <a:p>
                      <a:pPr algn="l"/>
                      <a:r>
                        <a:rPr sz="1200" b="0">
                          <a:solidFill>
                            <a:srgbClr val="0B2A4A"/>
                          </a:solidFill>
                          <a:latin typeface="Calibri"/>
                        </a:rPr>
                        <a:t>≈3 ms in a batch (measured)</a:t>
                      </a:r>
                    </a:p>
                  </a:txBody>
                  <a:tcPr marT="22000" marB="22000" marL="60000" marR="60000" anchor="ctr">
                    <a:solidFill>
                      <a:srgbClr val="EAF2FA"/>
                    </a:solidFill>
                  </a:tcPr>
                </a:tc>
              </a:tr>
              <a:tr h="548640">
                <a:tc>
                  <a:txBody>
                    <a:bodyPr/>
                    <a:lstStyle/>
                    <a:p>
                      <a:pPr algn="l"/>
                      <a:r>
                        <a:rPr sz="1200" b="1">
                          <a:solidFill>
                            <a:srgbClr val="0B2A4A"/>
                          </a:solidFill>
                          <a:latin typeface="Calibri"/>
                        </a:rPr>
                        <a:t>Design-space coverage</a:t>
                      </a:r>
                    </a:p>
                  </a:txBody>
                  <a:tcPr marT="22000" marB="22000" marL="60000" marR="60000" anchor="ctr">
                    <a:solidFill>
                      <a:srgbClr val="FFFFFF"/>
                    </a:solidFill>
                  </a:tcPr>
                </a:tc>
                <a:tc>
                  <a:txBody>
                    <a:bodyPr/>
                    <a:lstStyle/>
                    <a:p>
                      <a:pPr algn="l"/>
                      <a:r>
                        <a:rPr sz="1200" b="0">
                          <a:solidFill>
                            <a:srgbClr val="0B2A4A"/>
                          </a:solidFill>
                          <a:latin typeface="Calibri"/>
                        </a:rPr>
                        <a:t>a few dozen hand-picked runs</a:t>
                      </a:r>
                    </a:p>
                  </a:txBody>
                  <a:tcPr marT="22000" marB="22000" marL="60000" marR="60000" anchor="ctr">
                    <a:solidFill>
                      <a:srgbClr val="FFFFFF"/>
                    </a:solidFill>
                  </a:tcPr>
                </a:tc>
                <a:tc>
                  <a:txBody>
                    <a:bodyPr/>
                    <a:lstStyle/>
                    <a:p>
                      <a:pPr algn="l"/>
                      <a:r>
                        <a:rPr sz="1200" b="0">
                          <a:solidFill>
                            <a:srgbClr val="0B2A4A"/>
                          </a:solidFill>
                          <a:latin typeface="Calibri"/>
                        </a:rPr>
                        <a:t>thousands of candidates screened, Pareto trade-offs</a:t>
                      </a:r>
                    </a:p>
                  </a:txBody>
                  <a:tcPr marT="22000" marB="22000" marL="60000" marR="60000" anchor="ctr">
                    <a:solidFill>
                      <a:srgbClr val="FFFFFF"/>
                    </a:solidFill>
                  </a:tcPr>
                </a:tc>
              </a:tr>
              <a:tr h="548640">
                <a:tc>
                  <a:txBody>
                    <a:bodyPr/>
                    <a:lstStyle/>
                    <a:p>
                      <a:pPr algn="l"/>
                      <a:r>
                        <a:rPr sz="1200" b="1">
                          <a:solidFill>
                            <a:srgbClr val="0B2A4A"/>
                          </a:solidFill>
                          <a:latin typeface="Calibri"/>
                        </a:rPr>
                        <a:t>Insight</a:t>
                      </a:r>
                    </a:p>
                  </a:txBody>
                  <a:tcPr marT="22000" marB="22000" marL="60000" marR="60000" anchor="ctr">
                    <a:solidFill>
                      <a:srgbClr val="EAF2FA"/>
                    </a:solidFill>
                  </a:tcPr>
                </a:tc>
                <a:tc>
                  <a:txBody>
                    <a:bodyPr/>
                    <a:lstStyle/>
                    <a:p>
                      <a:pPr algn="l"/>
                      <a:r>
                        <a:rPr sz="1200" b="0">
                          <a:solidFill>
                            <a:srgbClr val="0B2A4A"/>
                          </a:solidFill>
                          <a:latin typeface="Calibri"/>
                        </a:rPr>
                        <a:t>engineer reads plots one by one</a:t>
                      </a:r>
                    </a:p>
                  </a:txBody>
                  <a:tcPr marT="22000" marB="22000" marL="60000" marR="60000" anchor="ctr">
                    <a:solidFill>
                      <a:srgbClr val="EAF2FA"/>
                    </a:solidFill>
                  </a:tcPr>
                </a:tc>
                <a:tc>
                  <a:txBody>
                    <a:bodyPr/>
                    <a:lstStyle/>
                    <a:p>
                      <a:pPr algn="l"/>
                      <a:r>
                        <a:rPr sz="1200" b="0">
                          <a:solidFill>
                            <a:srgbClr val="0B2A4A"/>
                          </a:solidFill>
                          <a:latin typeface="Calibri"/>
                        </a:rPr>
                        <a:t>feature importance + plain-language summaries</a:t>
                      </a:r>
                    </a:p>
                  </a:txBody>
                  <a:tcPr marT="22000" marB="22000" marL="60000" marR="60000" anchor="ctr">
                    <a:solidFill>
                      <a:srgbClr val="EAF2FA"/>
                    </a:solidFill>
                  </a:tcPr>
                </a:tc>
              </a:tr>
              <a:tr h="548640">
                <a:tc>
                  <a:txBody>
                    <a:bodyPr/>
                    <a:lstStyle/>
                    <a:p>
                      <a:pPr algn="l"/>
                      <a:r>
                        <a:rPr sz="1200" b="1">
                          <a:solidFill>
                            <a:srgbClr val="0B2A4A"/>
                          </a:solidFill>
                          <a:latin typeface="Calibri"/>
                        </a:rPr>
                        <a:t>Accuracy</a:t>
                      </a:r>
                    </a:p>
                  </a:txBody>
                  <a:tcPr marT="22000" marB="22000" marL="60000" marR="60000" anchor="ctr">
                    <a:solidFill>
                      <a:srgbClr val="FFFFFF"/>
                    </a:solidFill>
                  </a:tcPr>
                </a:tc>
                <a:tc>
                  <a:txBody>
                    <a:bodyPr/>
                    <a:lstStyle/>
                    <a:p>
                      <a:pPr algn="l"/>
                      <a:r>
                        <a:rPr sz="1200" b="0">
                          <a:solidFill>
                            <a:srgbClr val="0B2A4A"/>
                          </a:solidFill>
                          <a:latin typeface="Calibri"/>
                        </a:rPr>
                        <a:t>physics-exact within the model</a:t>
                      </a:r>
                    </a:p>
                  </a:txBody>
                  <a:tcPr marT="22000" marB="22000" marL="60000" marR="60000" anchor="ctr">
                    <a:solidFill>
                      <a:srgbClr val="FFFFFF"/>
                    </a:solidFill>
                  </a:tcPr>
                </a:tc>
                <a:tc>
                  <a:txBody>
                    <a:bodyPr/>
                    <a:lstStyle/>
                    <a:p>
                      <a:pPr algn="l"/>
                      <a:r>
                        <a:rPr sz="1200" b="0">
                          <a:solidFill>
                            <a:srgbClr val="0B2A4A"/>
                          </a:solidFill>
                          <a:latin typeface="Calibri"/>
                        </a:rPr>
                        <a:t>good for resonance / bandwidth, weaker for S11 depth</a:t>
                      </a:r>
                    </a:p>
                  </a:txBody>
                  <a:tcPr marT="22000" marB="22000" marL="60000" marR="60000" anchor="ctr">
                    <a:solidFill>
                      <a:srgbClr val="FFFFFF"/>
                    </a:solidFill>
                  </a:tcPr>
                </a:tc>
              </a:tr>
              <a:tr h="548640">
                <a:tc>
                  <a:txBody>
                    <a:bodyPr/>
                    <a:lstStyle/>
                    <a:p>
                      <a:pPr algn="l"/>
                      <a:r>
                        <a:rPr sz="1200" b="1">
                          <a:solidFill>
                            <a:srgbClr val="0B2A4A"/>
                          </a:solidFill>
                          <a:latin typeface="Calibri"/>
                        </a:rPr>
                        <a:t>Trust boundary</a:t>
                      </a:r>
                    </a:p>
                  </a:txBody>
                  <a:tcPr marT="22000" marB="22000" marL="60000" marR="60000" anchor="ctr">
                    <a:solidFill>
                      <a:srgbClr val="EAF2FA"/>
                    </a:solidFill>
                  </a:tcPr>
                </a:tc>
                <a:tc>
                  <a:txBody>
                    <a:bodyPr/>
                    <a:lstStyle/>
                    <a:p>
                      <a:pPr algn="l"/>
                      <a:r>
                        <a:rPr sz="1200" b="0">
                          <a:solidFill>
                            <a:srgbClr val="0B2A4A"/>
                          </a:solidFill>
                          <a:latin typeface="Calibri"/>
                        </a:rPr>
                        <a:t>valid everywhere it is meshed</a:t>
                      </a:r>
                    </a:p>
                  </a:txBody>
                  <a:tcPr marT="22000" marB="22000" marL="60000" marR="60000" anchor="ctr">
                    <a:solidFill>
                      <a:srgbClr val="EAF2FA"/>
                    </a:solidFill>
                  </a:tcPr>
                </a:tc>
                <a:tc>
                  <a:txBody>
                    <a:bodyPr/>
                    <a:lstStyle/>
                    <a:p>
                      <a:pPr algn="l"/>
                      <a:r>
                        <a:rPr sz="1200" b="0">
                          <a:solidFill>
                            <a:srgbClr val="0B2A4A"/>
                          </a:solidFill>
                          <a:latin typeface="Calibri"/>
                        </a:rPr>
                        <a:t>only inside the training range (OOD drops sharply)</a:t>
                      </a:r>
                    </a:p>
                  </a:txBody>
                  <a:tcPr marT="22000" marB="22000" marL="60000" marR="60000" anchor="ctr">
                    <a:solidFill>
                      <a:srgbClr val="EAF2FA"/>
                    </a:solidFill>
                  </a:tcPr>
                </a:tc>
              </a:tr>
              <a:tr h="548640">
                <a:tc>
                  <a:txBody>
                    <a:bodyPr/>
                    <a:lstStyle/>
                    <a:p>
                      <a:pPr algn="l"/>
                      <a:r>
                        <a:rPr sz="1200" b="1">
                          <a:solidFill>
                            <a:srgbClr val="0B2A4A"/>
                          </a:solidFill>
                          <a:latin typeface="Calibri"/>
                        </a:rPr>
                        <a:t>Role</a:t>
                      </a:r>
                    </a:p>
                  </a:txBody>
                  <a:tcPr marT="22000" marB="22000" marL="60000" marR="60000" anchor="ctr">
                    <a:solidFill>
                      <a:srgbClr val="FFFFFF"/>
                    </a:solidFill>
                  </a:tcPr>
                </a:tc>
                <a:tc>
                  <a:txBody>
                    <a:bodyPr/>
                    <a:lstStyle/>
                    <a:p>
                      <a:pPr algn="l"/>
                      <a:r>
                        <a:rPr sz="1200" b="0">
                          <a:solidFill>
                            <a:srgbClr val="0B2A4A"/>
                          </a:solidFill>
                          <a:latin typeface="Calibri"/>
                        </a:rPr>
                        <a:t>final verification</a:t>
                      </a:r>
                    </a:p>
                  </a:txBody>
                  <a:tcPr marT="22000" marB="22000" marL="60000" marR="60000" anchor="ctr">
                    <a:solidFill>
                      <a:srgbClr val="FFFFFF"/>
                    </a:solidFill>
                  </a:tcPr>
                </a:tc>
                <a:tc>
                  <a:txBody>
                    <a:bodyPr/>
                    <a:lstStyle/>
                    <a:p>
                      <a:pPr algn="l"/>
                      <a:r>
                        <a:rPr sz="1200" b="0">
                          <a:solidFill>
                            <a:srgbClr val="0B2A4A"/>
                          </a:solidFill>
                          <a:latin typeface="Calibri"/>
                        </a:rPr>
                        <a:t>screening and shortlisting before verification</a:t>
                      </a:r>
                    </a:p>
                  </a:txBody>
                  <a:tcPr marT="22000" marB="22000" marL="60000" marR="60000" anchor="ctr">
                    <a:solidFill>
                      <a:srgbClr val="FFFFFF"/>
                    </a:solidFill>
                  </a:tcPr>
                </a:tc>
              </a:tr>
            </a:tbl>
          </a:graphicData>
        </a:graphic>
      </p:graphicFrame>
      <p:sp>
        <p:nvSpPr>
          <p:cNvPr id="7" name="Note bubble"/>
          <p:cNvSpPr/>
          <p:nvPr/>
        </p:nvSpPr>
        <p:spPr>
          <a:xfrm>
            <a:off x="8641080" y="1417320"/>
            <a:ext cx="3017520" cy="4014215"/>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AI changes where the engineer spends time: less waiting for sweeps, more judging a ranked shortlist.</a:t>
            </a:r>
          </a:p>
          <a:p>
            <a:pPr>
              <a:spcBef>
                <a:spcPts val="500"/>
              </a:spcBef>
            </a:pPr>
            <a:r>
              <a:rPr sz="1300">
                <a:solidFill>
                  <a:srgbClr val="0B2A4A"/>
                </a:solidFill>
                <a:latin typeface="Calibri"/>
              </a:rPr>
              <a:t>It complements, not replaces, HFSS - every promising design is still simulated and measured.</a:t>
            </a:r>
          </a:p>
          <a:p>
            <a:pPr>
              <a:spcBef>
                <a:spcPts val="500"/>
              </a:spcBef>
            </a:pPr>
            <a:r>
              <a:rPr sz="1300">
                <a:solidFill>
                  <a:srgbClr val="0B2A4A"/>
                </a:solidFill>
                <a:latin typeface="Calibri"/>
              </a:rPr>
              <a:t>The out-of-distribution test shows engineers exactly when not to trust the surrogate.</a:t>
            </a:r>
          </a:p>
          <a:p>
            <a:pPr>
              <a:spcBef>
                <a:spcPts val="500"/>
              </a:spcBef>
            </a:pPr>
            <a:r>
              <a:rPr sz="1300">
                <a:solidFill>
                  <a:srgbClr val="0B2A4A"/>
                </a:solidFill>
                <a:latin typeface="Calibri"/>
              </a:rPr>
              <a:t>Text summaries make results readable for non-specialists and reports.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6 · VALUE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Outcomes and limitations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19 / 21</a:t>
            </a:r>
          </a:p>
        </p:txBody>
      </p:sp>
      <p:graphicFrame>
        <p:nvGraphicFramePr>
          <p:cNvPr id="6" name="Table 5"/>
          <p:cNvGraphicFramePr>
            <a:graphicFrameLocks noGrp="1"/>
          </p:cNvGraphicFramePr>
          <p:nvPr/>
        </p:nvGraphicFramePr>
        <p:xfrm>
          <a:off x="548640" y="1371600"/>
          <a:ext cx="7818120" cy="2011680"/>
        </p:xfrm>
        <a:graphic>
          <a:graphicData uri="http://schemas.openxmlformats.org/drawingml/2006/table">
            <a:tbl>
              <a:tblPr firstRow="1" bandRow="1">
                <a:tableStyleId>{5C22544A-7EE6-4342-B048-85BDC9FD1C3A}</a:tableStyleId>
              </a:tblPr>
              <a:tblGrid>
                <a:gridCol w="640080"/>
                <a:gridCol w="5532120"/>
                <a:gridCol w="1645920"/>
              </a:tblGrid>
              <a:tr h="402336">
                <a:tc>
                  <a:txBody>
                    <a:bodyPr/>
                    <a:lstStyle/>
                    <a:p>
                      <a:pPr algn="l"/>
                      <a:r>
                        <a:rPr sz="1200" b="1">
                          <a:solidFill>
                            <a:srgbClr val="FFFFFF"/>
                          </a:solidFill>
                          <a:latin typeface="Calibri"/>
                        </a:rPr>
                        <a:t>ID</a:t>
                      </a:r>
                    </a:p>
                  </a:txBody>
                  <a:tcPr marT="22000" marB="22000" marL="60000" marR="60000" anchor="ctr">
                    <a:solidFill>
                      <a:srgbClr val="0B2A4A"/>
                    </a:solidFill>
                  </a:tcPr>
                </a:tc>
                <a:tc>
                  <a:txBody>
                    <a:bodyPr/>
                    <a:lstStyle/>
                    <a:p>
                      <a:pPr algn="l"/>
                      <a:r>
                        <a:rPr sz="1200" b="1">
                          <a:solidFill>
                            <a:srgbClr val="FFFFFF"/>
                          </a:solidFill>
                          <a:latin typeface="Calibri"/>
                        </a:rPr>
                        <a:t>Statement</a:t>
                      </a:r>
                    </a:p>
                  </a:txBody>
                  <a:tcPr marT="22000" marB="22000" marL="60000" marR="60000" anchor="ctr">
                    <a:solidFill>
                      <a:srgbClr val="0B2A4A"/>
                    </a:solidFill>
                  </a:tcPr>
                </a:tc>
                <a:tc>
                  <a:txBody>
                    <a:bodyPr/>
                    <a:lstStyle/>
                    <a:p>
                      <a:pPr algn="l"/>
                      <a:r>
                        <a:rPr sz="1200" b="1">
                          <a:solidFill>
                            <a:srgbClr val="FFFFFF"/>
                          </a:solidFill>
                          <a:latin typeface="Calibri"/>
                        </a:rPr>
                        <a:t>Outcome</a:t>
                      </a:r>
                    </a:p>
                  </a:txBody>
                  <a:tcPr marT="22000" marB="22000" marL="60000" marR="60000" anchor="ctr">
                    <a:solidFill>
                      <a:srgbClr val="0B2A4A"/>
                    </a:solidFill>
                  </a:tcPr>
                </a:tc>
              </a:tr>
              <a:tr h="402336">
                <a:tc>
                  <a:txBody>
                    <a:bodyPr/>
                    <a:lstStyle/>
                    <a:p>
                      <a:pPr algn="l"/>
                      <a:r>
                        <a:rPr sz="1200" b="0">
                          <a:solidFill>
                            <a:srgbClr val="0B2A4A"/>
                          </a:solidFill>
                          <a:latin typeface="Calibri"/>
                        </a:rPr>
                        <a:t>E1</a:t>
                      </a:r>
                    </a:p>
                  </a:txBody>
                  <a:tcPr marT="22000" marB="22000" marL="60000" marR="60000" anchor="ctr">
                    <a:solidFill>
                      <a:srgbClr val="EAF2FA"/>
                    </a:solidFill>
                  </a:tcPr>
                </a:tc>
                <a:tc>
                  <a:txBody>
                    <a:bodyPr/>
                    <a:lstStyle/>
                    <a:p>
                      <a:pPr algn="l"/>
                      <a:r>
                        <a:rPr sz="1200" b="0">
                          <a:solidFill>
                            <a:srgbClr val="0B2A4A"/>
                          </a:solidFill>
                          <a:latin typeface="Calibri"/>
                        </a:rPr>
                        <a:t>Surrogate beats the mean baseline on every patch target (test MAE)</a:t>
                      </a:r>
                    </a:p>
                  </a:txBody>
                  <a:tcPr marT="22000" marB="22000" marL="60000" marR="60000" anchor="ctr">
                    <a:solidFill>
                      <a:srgbClr val="EAF2FA"/>
                    </a:solidFill>
                  </a:tcPr>
                </a:tc>
                <a:tc>
                  <a:txBody>
                    <a:bodyPr/>
                    <a:lstStyle/>
                    <a:p>
                      <a:pPr algn="l"/>
                      <a:r>
                        <a:rPr sz="1200" b="0">
                          <a:solidFill>
                            <a:srgbClr val="0B2A4A"/>
                          </a:solidFill>
                          <a:latin typeface="Calibri"/>
                        </a:rPr>
                        <a:t>Met</a:t>
                      </a:r>
                    </a:p>
                  </a:txBody>
                  <a:tcPr marT="22000" marB="22000" marL="60000" marR="60000" anchor="ctr">
                    <a:solidFill>
                      <a:srgbClr val="EAF2FA"/>
                    </a:solidFill>
                  </a:tcPr>
                </a:tc>
              </a:tr>
              <a:tr h="402336">
                <a:tc>
                  <a:txBody>
                    <a:bodyPr/>
                    <a:lstStyle/>
                    <a:p>
                      <a:pPr algn="l"/>
                      <a:r>
                        <a:rPr sz="1200" b="0">
                          <a:solidFill>
                            <a:srgbClr val="0B2A4A"/>
                          </a:solidFill>
                          <a:latin typeface="Calibri"/>
                        </a:rPr>
                        <a:t>E2</a:t>
                      </a:r>
                    </a:p>
                  </a:txBody>
                  <a:tcPr marT="22000" marB="22000" marL="60000" marR="60000" anchor="ctr">
                    <a:solidFill>
                      <a:srgbClr val="FFFFFF"/>
                    </a:solidFill>
                  </a:tcPr>
                </a:tc>
                <a:tc>
                  <a:txBody>
                    <a:bodyPr/>
                    <a:lstStyle/>
                    <a:p>
                      <a:pPr algn="l"/>
                      <a:r>
                        <a:rPr sz="1200" b="0">
                          <a:solidFill>
                            <a:srgbClr val="0B2A4A"/>
                          </a:solidFill>
                          <a:latin typeface="Calibri"/>
                        </a:rPr>
                        <a:t>Geometry + frequency beats frequency-only (Mendeley, GroupKFold)</a:t>
                      </a:r>
                    </a:p>
                  </a:txBody>
                  <a:tcPr marT="22000" marB="22000" marL="60000" marR="60000" anchor="ctr">
                    <a:solidFill>
                      <a:srgbClr val="FFFFFF"/>
                    </a:solidFill>
                  </a:tcPr>
                </a:tc>
                <a:tc>
                  <a:txBody>
                    <a:bodyPr/>
                    <a:lstStyle/>
                    <a:p>
                      <a:pPr algn="l"/>
                      <a:r>
                        <a:rPr sz="1200" b="0">
                          <a:solidFill>
                            <a:srgbClr val="0B2A4A"/>
                          </a:solidFill>
                          <a:latin typeface="Calibri"/>
                        </a:rPr>
                        <a:t>Met</a:t>
                      </a:r>
                    </a:p>
                  </a:txBody>
                  <a:tcPr marT="22000" marB="22000" marL="60000" marR="60000" anchor="ctr">
                    <a:solidFill>
                      <a:srgbClr val="FFFFFF"/>
                    </a:solidFill>
                  </a:tcPr>
                </a:tc>
              </a:tr>
              <a:tr h="402336">
                <a:tc>
                  <a:txBody>
                    <a:bodyPr/>
                    <a:lstStyle/>
                    <a:p>
                      <a:pPr algn="l"/>
                      <a:r>
                        <a:rPr sz="1200" b="0">
                          <a:solidFill>
                            <a:srgbClr val="0B2A4A"/>
                          </a:solidFill>
                          <a:latin typeface="Calibri"/>
                        </a:rPr>
                        <a:t>H6</a:t>
                      </a:r>
                    </a:p>
                  </a:txBody>
                  <a:tcPr marT="22000" marB="22000" marL="60000" marR="60000" anchor="ctr">
                    <a:solidFill>
                      <a:srgbClr val="EAF2FA"/>
                    </a:solidFill>
                  </a:tcPr>
                </a:tc>
                <a:tc>
                  <a:txBody>
                    <a:bodyPr/>
                    <a:lstStyle/>
                    <a:p>
                      <a:pPr algn="l"/>
                      <a:r>
                        <a:rPr sz="1200" b="0">
                          <a:solidFill>
                            <a:srgbClr val="0B2A4A"/>
                          </a:solidFill>
                          <a:latin typeface="Calibri"/>
                        </a:rPr>
                        <a:t>Fusion (ViT embedding + numeric) &gt; image-only (pre-registered)</a:t>
                      </a:r>
                    </a:p>
                  </a:txBody>
                  <a:tcPr marT="22000" marB="22000" marL="60000" marR="60000" anchor="ctr">
                    <a:solidFill>
                      <a:srgbClr val="EAF2FA"/>
                    </a:solidFill>
                  </a:tcPr>
                </a:tc>
                <a:tc>
                  <a:txBody>
                    <a:bodyPr/>
                    <a:lstStyle/>
                    <a:p>
                      <a:pPr algn="l"/>
                      <a:r>
                        <a:rPr sz="1200" b="0">
                          <a:solidFill>
                            <a:srgbClr val="0B2A4A"/>
                          </a:solidFill>
                          <a:latin typeface="Calibri"/>
                        </a:rPr>
                        <a:t>Not supported</a:t>
                      </a:r>
                    </a:p>
                  </a:txBody>
                  <a:tcPr marT="22000" marB="22000" marL="60000" marR="60000" anchor="ctr">
                    <a:solidFill>
                      <a:srgbClr val="EAF2FA"/>
                    </a:solidFill>
                  </a:tcPr>
                </a:tc>
              </a:tr>
              <a:tr h="402336">
                <a:tc>
                  <a:txBody>
                    <a:bodyPr/>
                    <a:lstStyle/>
                    <a:p>
                      <a:pPr algn="l"/>
                      <a:r>
                        <a:rPr sz="1200" b="0">
                          <a:solidFill>
                            <a:srgbClr val="0B2A4A"/>
                          </a:solidFill>
                          <a:latin typeface="Calibri"/>
                        </a:rPr>
                        <a:t>E3</a:t>
                      </a:r>
                    </a:p>
                  </a:txBody>
                  <a:tcPr marT="22000" marB="22000" marL="60000" marR="60000" anchor="ctr">
                    <a:solidFill>
                      <a:srgbClr val="FFFFFF"/>
                    </a:solidFill>
                  </a:tcPr>
                </a:tc>
                <a:tc>
                  <a:txBody>
                    <a:bodyPr/>
                    <a:lstStyle/>
                    <a:p>
                      <a:pPr algn="l"/>
                      <a:r>
                        <a:rPr sz="1200" b="0">
                          <a:solidFill>
                            <a:srgbClr val="0B2A4A"/>
                          </a:solidFill>
                          <a:latin typeface="Calibri"/>
                        </a:rPr>
                        <a:t>NSGA-II returns feasible n78 proposals inside the training ranges</a:t>
                      </a:r>
                    </a:p>
                  </a:txBody>
                  <a:tcPr marT="22000" marB="22000" marL="60000" marR="60000" anchor="ctr">
                    <a:solidFill>
                      <a:srgbClr val="FFFFFF"/>
                    </a:solidFill>
                  </a:tcPr>
                </a:tc>
                <a:tc>
                  <a:txBody>
                    <a:bodyPr/>
                    <a:lstStyle/>
                    <a:p>
                      <a:pPr algn="l"/>
                      <a:r>
                        <a:rPr sz="1200" b="0">
                          <a:solidFill>
                            <a:srgbClr val="0B2A4A"/>
                          </a:solidFill>
                          <a:latin typeface="Calibri"/>
                        </a:rPr>
                        <a:t>Met</a:t>
                      </a:r>
                    </a:p>
                  </a:txBody>
                  <a:tcPr marT="22000" marB="22000" marL="60000" marR="60000" anchor="ctr">
                    <a:solidFill>
                      <a:srgbClr val="FFFFFF"/>
                    </a:solidFill>
                  </a:tcPr>
                </a:tc>
              </a:tr>
            </a:tbl>
          </a:graphicData>
        </a:graphic>
      </p:graphicFrame>
      <p:sp>
        <p:nvSpPr>
          <p:cNvPr id="7" name="TextBox 6"/>
          <p:cNvSpPr txBox="1"/>
          <p:nvPr/>
        </p:nvSpPr>
        <p:spPr>
          <a:xfrm>
            <a:off x="548640" y="3611880"/>
            <a:ext cx="7818120" cy="2377440"/>
          </a:xfrm>
          <a:prstGeom prst="rect">
            <a:avLst/>
          </a:prstGeom>
          <a:noFill/>
        </p:spPr>
        <p:txBody>
          <a:bodyPr wrap="square">
            <a:spAutoFit/>
          </a:bodyPr>
          <a:lstStyle/>
          <a:p>
            <a:pPr>
              <a:spcAft>
                <a:spcPts val="400"/>
              </a:spcAft>
            </a:pPr>
            <a:r>
              <a:rPr sz="1400">
                <a:solidFill>
                  <a:srgbClr val="2F6FAE"/>
                </a:solidFill>
                <a:latin typeface="Calibri"/>
              </a:rPr>
              <a:t>▪  </a:t>
            </a:r>
            <a:r>
              <a:rPr sz="1400" b="0">
                <a:solidFill>
                  <a:srgbClr val="0B2A4A"/>
                </a:solidFill>
                <a:latin typeface="Calibri"/>
              </a:rPr>
              <a:t>No HFSS: all evidence is openEMS or Mendeley simulation, no measurements</a:t>
            </a:r>
          </a:p>
          <a:p>
            <a:pPr>
              <a:spcAft>
                <a:spcPts val="400"/>
              </a:spcAft>
            </a:pPr>
            <a:r>
              <a:rPr sz="1400">
                <a:solidFill>
                  <a:srgbClr val="2F6FAE"/>
                </a:solidFill>
                <a:latin typeface="Calibri"/>
              </a:rPr>
              <a:t>▪  </a:t>
            </a:r>
            <a:r>
              <a:rPr sz="1400" b="0">
                <a:solidFill>
                  <a:srgbClr val="0B2A4A"/>
                </a:solidFill>
                <a:latin typeface="Calibri"/>
              </a:rPr>
              <a:t>Patch data have no slots / DGS; Mendeley varies one dimension at a time</a:t>
            </a:r>
          </a:p>
          <a:p>
            <a:pPr>
              <a:spcAft>
                <a:spcPts val="400"/>
              </a:spcAft>
            </a:pPr>
            <a:r>
              <a:rPr sz="1400">
                <a:solidFill>
                  <a:srgbClr val="2F6FAE"/>
                </a:solidFill>
                <a:latin typeface="Calibri"/>
              </a:rPr>
              <a:t>▪  </a:t>
            </a:r>
            <a:r>
              <a:rPr sz="1400" b="0">
                <a:solidFill>
                  <a:srgbClr val="0B2A4A"/>
                </a:solidFill>
                <a:latin typeface="Calibri"/>
              </a:rPr>
              <a:t>Surrogates do not extrapolate; S11 depth only moderately predicted</a:t>
            </a:r>
          </a:p>
          <a:p>
            <a:pPr>
              <a:spcAft>
                <a:spcPts val="400"/>
              </a:spcAft>
            </a:pPr>
            <a:r>
              <a:rPr sz="1400">
                <a:solidFill>
                  <a:srgbClr val="2F6FAE"/>
                </a:solidFill>
                <a:latin typeface="Calibri"/>
              </a:rPr>
              <a:t>▪  </a:t>
            </a:r>
            <a:r>
              <a:rPr sz="1400" b="0">
                <a:solidFill>
                  <a:srgbClr val="0B2A4A"/>
                </a:solidFill>
                <a:latin typeface="Calibri"/>
              </a:rPr>
              <a:t>Fusion: one embedding run, one seed; NSGA-II proposals unverified</a:t>
            </a:r>
          </a:p>
        </p:txBody>
      </p:sp>
      <p:sp>
        <p:nvSpPr>
          <p:cNvPr id="8" name="Note bubble"/>
          <p:cNvSpPr/>
          <p:nvPr/>
        </p:nvSpPr>
        <p:spPr>
          <a:xfrm>
            <a:off x="8641080" y="1417320"/>
            <a:ext cx="3017520" cy="3035808"/>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E1-E3 are the planned evaluation criteria; H6 was pre-registered before any fusion result existed.</a:t>
            </a:r>
          </a:p>
          <a:p>
            <a:pPr>
              <a:spcBef>
                <a:spcPts val="500"/>
              </a:spcBef>
            </a:pPr>
            <a:r>
              <a:rPr sz="1300">
                <a:solidFill>
                  <a:srgbClr val="0B2A4A"/>
                </a:solidFill>
                <a:latin typeface="Calibri"/>
              </a:rPr>
              <a:t>Three criteria met, one hypothesis not supported - reported as found, not adjusted.</a:t>
            </a:r>
          </a:p>
          <a:p>
            <a:pPr>
              <a:spcBef>
                <a:spcPts val="500"/>
              </a:spcBef>
            </a:pPr>
            <a:r>
              <a:rPr sz="1300">
                <a:solidFill>
                  <a:srgbClr val="0B2A4A"/>
                </a:solidFill>
                <a:latin typeface="Calibri"/>
              </a:rPr>
              <a:t>The limitations define the next step: a proper HFSS hybrid-slotted DGS dataset.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2A4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CFE2F3"/>
                </a:solidFill>
                <a:latin typeface="Calibri"/>
              </a:rPr>
              <a:t>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FFFFFF"/>
                </a:solidFill>
                <a:latin typeface="Calibri"/>
              </a:rPr>
              <a:t>Conclusion and next steps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CFE2F3"/>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CFE2F3"/>
                </a:solidFill>
                <a:latin typeface="Calibri"/>
              </a:rPr>
              <a:t>20 / 21</a:t>
            </a:r>
          </a:p>
        </p:txBody>
      </p:sp>
      <p:sp>
        <p:nvSpPr>
          <p:cNvPr id="6" name="Rounded Rectangle 5"/>
          <p:cNvSpPr/>
          <p:nvPr/>
        </p:nvSpPr>
        <p:spPr>
          <a:xfrm>
            <a:off x="548640" y="1417320"/>
            <a:ext cx="3520440" cy="310896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27048"/>
            <a:ext cx="3200400" cy="365760"/>
          </a:xfrm>
          <a:prstGeom prst="rect">
            <a:avLst/>
          </a:prstGeom>
          <a:noFill/>
        </p:spPr>
        <p:txBody>
          <a:bodyPr wrap="square" anchor="t" lIns="45720" rIns="45720">
            <a:spAutoFit/>
          </a:bodyPr>
          <a:lstStyle/>
          <a:p>
            <a:pPr algn="l"/>
            <a:r>
              <a:rPr sz="1800" b="1">
                <a:solidFill>
                  <a:srgbClr val="FFFFFF"/>
                </a:solidFill>
                <a:latin typeface="Calibri"/>
              </a:rPr>
              <a:t>What was achieved</a:t>
            </a:r>
          </a:p>
        </p:txBody>
      </p:sp>
      <p:sp>
        <p:nvSpPr>
          <p:cNvPr id="8" name="TextBox 7"/>
          <p:cNvSpPr txBox="1"/>
          <p:nvPr/>
        </p:nvSpPr>
        <p:spPr>
          <a:xfrm>
            <a:off x="731520" y="1965960"/>
            <a:ext cx="3200400" cy="251460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Working 7-stage numerical-text pipeline</a:t>
            </a:r>
          </a:p>
          <a:p>
            <a:pPr>
              <a:spcAft>
                <a:spcPts val="600"/>
              </a:spcAft>
            </a:pPr>
            <a:r>
              <a:rPr sz="1500">
                <a:solidFill>
                  <a:srgbClr val="2F6FAE"/>
                </a:solidFill>
                <a:latin typeface="Calibri"/>
              </a:rPr>
              <a:t>▪  </a:t>
            </a:r>
            <a:r>
              <a:rPr sz="1500" b="0">
                <a:solidFill>
                  <a:srgbClr val="FFFFFF"/>
                </a:solidFill>
                <a:latin typeface="Calibri"/>
              </a:rPr>
              <a:t>Accurate resonance and bandwidth surrogates</a:t>
            </a:r>
          </a:p>
          <a:p>
            <a:pPr>
              <a:spcAft>
                <a:spcPts val="600"/>
              </a:spcAft>
            </a:pPr>
            <a:r>
              <a:rPr sz="1500">
                <a:solidFill>
                  <a:srgbClr val="2F6FAE"/>
                </a:solidFill>
                <a:latin typeface="Calibri"/>
              </a:rPr>
              <a:t>▪  </a:t>
            </a:r>
            <a:r>
              <a:rPr sz="1500" b="0">
                <a:solidFill>
                  <a:srgbClr val="FFFFFF"/>
                </a:solidFill>
                <a:latin typeface="Calibri"/>
              </a:rPr>
              <a:t>Readable, traceable engineering summaries</a:t>
            </a:r>
          </a:p>
          <a:p>
            <a:pPr>
              <a:spcAft>
                <a:spcPts val="600"/>
              </a:spcAft>
            </a:pPr>
            <a:r>
              <a:rPr sz="1500">
                <a:solidFill>
                  <a:srgbClr val="2F6FAE"/>
                </a:solidFill>
                <a:latin typeface="Calibri"/>
              </a:rPr>
              <a:t>▪  </a:t>
            </a:r>
            <a:r>
              <a:rPr sz="1500" b="0">
                <a:solidFill>
                  <a:srgbClr val="FFFFFF"/>
                </a:solidFill>
                <a:latin typeface="Calibri"/>
              </a:rPr>
              <a:t>100 n78 design proposals</a:t>
            </a:r>
          </a:p>
        </p:txBody>
      </p:sp>
      <p:sp>
        <p:nvSpPr>
          <p:cNvPr id="9" name="Rounded Rectangle 8"/>
          <p:cNvSpPr/>
          <p:nvPr/>
        </p:nvSpPr>
        <p:spPr>
          <a:xfrm>
            <a:off x="4297679" y="1417320"/>
            <a:ext cx="3520440" cy="310896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527048"/>
            <a:ext cx="3200400" cy="365760"/>
          </a:xfrm>
          <a:prstGeom prst="rect">
            <a:avLst/>
          </a:prstGeom>
          <a:noFill/>
        </p:spPr>
        <p:txBody>
          <a:bodyPr wrap="square" anchor="t" lIns="45720" rIns="45720">
            <a:spAutoFit/>
          </a:bodyPr>
          <a:lstStyle/>
          <a:p>
            <a:pPr algn="l"/>
            <a:r>
              <a:rPr sz="1800" b="1">
                <a:solidFill>
                  <a:srgbClr val="FFFFFF"/>
                </a:solidFill>
                <a:latin typeface="Calibri"/>
              </a:rPr>
              <a:t>What it shows</a:t>
            </a:r>
          </a:p>
        </p:txBody>
      </p:sp>
      <p:sp>
        <p:nvSpPr>
          <p:cNvPr id="11" name="TextBox 10"/>
          <p:cNvSpPr txBox="1"/>
          <p:nvPr/>
        </p:nvSpPr>
        <p:spPr>
          <a:xfrm>
            <a:off x="4480559" y="1965960"/>
            <a:ext cx="3200400" cy="251460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AI screens designs in milliseconds</a:t>
            </a:r>
          </a:p>
          <a:p>
            <a:pPr>
              <a:spcAft>
                <a:spcPts val="600"/>
              </a:spcAft>
            </a:pPr>
            <a:r>
              <a:rPr sz="1500">
                <a:solidFill>
                  <a:srgbClr val="2F6FAE"/>
                </a:solidFill>
                <a:latin typeface="Calibri"/>
              </a:rPr>
              <a:t>▪  </a:t>
            </a:r>
            <a:r>
              <a:rPr sz="1500" b="0">
                <a:solidFill>
                  <a:srgbClr val="FFFFFF"/>
                </a:solidFill>
                <a:latin typeface="Calibri"/>
              </a:rPr>
              <a:t>Geometry features carry the physics</a:t>
            </a:r>
          </a:p>
          <a:p>
            <a:pPr>
              <a:spcAft>
                <a:spcPts val="600"/>
              </a:spcAft>
            </a:pPr>
            <a:r>
              <a:rPr sz="1500">
                <a:solidFill>
                  <a:srgbClr val="2F6FAE"/>
                </a:solidFill>
                <a:latin typeface="Calibri"/>
              </a:rPr>
              <a:t>▪  </a:t>
            </a:r>
            <a:r>
              <a:rPr sz="1500" b="0">
                <a:solidFill>
                  <a:srgbClr val="FFFFFF"/>
                </a:solidFill>
                <a:latin typeface="Calibri"/>
              </a:rPr>
              <a:t>ViT features help more than raw numbers</a:t>
            </a:r>
          </a:p>
          <a:p>
            <a:pPr>
              <a:spcAft>
                <a:spcPts val="600"/>
              </a:spcAft>
            </a:pPr>
            <a:r>
              <a:rPr sz="1500">
                <a:solidFill>
                  <a:srgbClr val="2F6FAE"/>
                </a:solidFill>
                <a:latin typeface="Calibri"/>
              </a:rPr>
              <a:t>▪  </a:t>
            </a:r>
            <a:r>
              <a:rPr sz="1500" b="0">
                <a:solidFill>
                  <a:srgbClr val="FFFFFF"/>
                </a:solidFill>
                <a:latin typeface="Calibri"/>
              </a:rPr>
              <a:t>Trust ends at the training range</a:t>
            </a:r>
          </a:p>
        </p:txBody>
      </p:sp>
      <p:sp>
        <p:nvSpPr>
          <p:cNvPr id="12" name="Rounded Rectangle 11"/>
          <p:cNvSpPr/>
          <p:nvPr/>
        </p:nvSpPr>
        <p:spPr>
          <a:xfrm>
            <a:off x="8046719" y="1417320"/>
            <a:ext cx="3520440" cy="310896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1527048"/>
            <a:ext cx="3200400" cy="365760"/>
          </a:xfrm>
          <a:prstGeom prst="rect">
            <a:avLst/>
          </a:prstGeom>
          <a:noFill/>
        </p:spPr>
        <p:txBody>
          <a:bodyPr wrap="square" anchor="t" lIns="45720" rIns="45720">
            <a:spAutoFit/>
          </a:bodyPr>
          <a:lstStyle/>
          <a:p>
            <a:pPr algn="l"/>
            <a:r>
              <a:rPr sz="1800" b="1">
                <a:solidFill>
                  <a:srgbClr val="FFFFFF"/>
                </a:solidFill>
                <a:latin typeface="Calibri"/>
              </a:rPr>
              <a:t>Next steps</a:t>
            </a:r>
          </a:p>
        </p:txBody>
      </p:sp>
      <p:sp>
        <p:nvSpPr>
          <p:cNvPr id="14" name="TextBox 13"/>
          <p:cNvSpPr txBox="1"/>
          <p:nvPr/>
        </p:nvSpPr>
        <p:spPr>
          <a:xfrm>
            <a:off x="8229599" y="1965960"/>
            <a:ext cx="3200400" cy="251460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Space-filling HFSS DGS sweep (PyAEDT)</a:t>
            </a:r>
          </a:p>
          <a:p>
            <a:pPr>
              <a:spcAft>
                <a:spcPts val="600"/>
              </a:spcAft>
            </a:pPr>
            <a:r>
              <a:rPr sz="1500">
                <a:solidFill>
                  <a:srgbClr val="2F6FAE"/>
                </a:solidFill>
                <a:latin typeface="Calibri"/>
              </a:rPr>
              <a:t>▪  </a:t>
            </a:r>
            <a:r>
              <a:rPr sz="1500" b="0">
                <a:solidFill>
                  <a:srgbClr val="FFFFFF"/>
                </a:solidFill>
                <a:latin typeface="Calibri"/>
              </a:rPr>
              <a:t>Uncertainty-aware surrogate</a:t>
            </a:r>
          </a:p>
          <a:p>
            <a:pPr>
              <a:spcAft>
                <a:spcPts val="600"/>
              </a:spcAft>
            </a:pPr>
            <a:r>
              <a:rPr sz="1500">
                <a:solidFill>
                  <a:srgbClr val="2F6FAE"/>
                </a:solidFill>
                <a:latin typeface="Calibri"/>
              </a:rPr>
              <a:t>▪  </a:t>
            </a:r>
            <a:r>
              <a:rPr sz="1500" b="0">
                <a:solidFill>
                  <a:srgbClr val="FFFFFF"/>
                </a:solidFill>
                <a:latin typeface="Calibri"/>
              </a:rPr>
              <a:t>Re-simulate the Pareto shortlist</a:t>
            </a:r>
          </a:p>
          <a:p>
            <a:pPr>
              <a:spcAft>
                <a:spcPts val="600"/>
              </a:spcAft>
            </a:pPr>
            <a:r>
              <a:rPr sz="1500">
                <a:solidFill>
                  <a:srgbClr val="2F6FAE"/>
                </a:solidFill>
                <a:latin typeface="Calibri"/>
              </a:rPr>
              <a:t>▪  </a:t>
            </a:r>
            <a:r>
              <a:rPr sz="1500" b="0">
                <a:solidFill>
                  <a:srgbClr val="FFFFFF"/>
                </a:solidFill>
                <a:latin typeface="Calibri"/>
              </a:rPr>
              <a:t>Fabricate and measure the best</a:t>
            </a:r>
          </a:p>
        </p:txBody>
      </p:sp>
      <p:sp>
        <p:nvSpPr>
          <p:cNvPr id="15" name="Rounded Rectangle 14"/>
          <p:cNvSpPr/>
          <p:nvPr/>
        </p:nvSpPr>
        <p:spPr>
          <a:xfrm>
            <a:off x="548640" y="4800600"/>
            <a:ext cx="1110996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873752"/>
            <a:ext cx="10698480" cy="1005840"/>
          </a:xfrm>
          <a:prstGeom prst="rect">
            <a:avLst/>
          </a:prstGeom>
          <a:noFill/>
        </p:spPr>
        <p:txBody>
          <a:bodyPr wrap="square" anchor="t" lIns="45720" rIns="45720">
            <a:spAutoFit/>
          </a:bodyPr>
          <a:lstStyle/>
          <a:p>
            <a:pPr algn="l"/>
            <a:r>
              <a:rPr sz="1400" b="1">
                <a:solidFill>
                  <a:srgbClr val="0B2A4A"/>
                </a:solidFill>
                <a:latin typeface="Calibri"/>
              </a:rPr>
              <a:t>Module 2 code, data, tests and outputs: </a:t>
            </a:r>
            <a:r>
              <a:rPr sz="1400" b="0">
                <a:solidFill>
                  <a:srgbClr val="2F6FAE"/>
                </a:solidFill>
                <a:latin typeface="Calibri"/>
              </a:rPr>
              <a:t>https://github.com/rathiabeth-sudo/902---Module-2</a:t>
            </a:r>
          </a:p>
          <a:p>
            <a:pPr algn="l"/>
            <a:r>
              <a:rPr sz="1400" b="1">
                <a:solidFill>
                  <a:srgbClr val="0B2A4A"/>
                </a:solidFill>
                <a:latin typeface="Calibri"/>
              </a:rPr>
              <a:t>Module 1 (Vision Transformer): </a:t>
            </a:r>
            <a:r>
              <a:rPr sz="1400" b="0">
                <a:solidFill>
                  <a:srgbClr val="2F6FAE"/>
                </a:solidFill>
                <a:latin typeface="Calibri"/>
              </a:rPr>
              <a:t>https://github.com/rathiabeth-sudo/901---module-1</a:t>
            </a:r>
          </a:p>
          <a:p>
            <a:pPr algn="l"/>
            <a:r>
              <a:rPr sz="1400" b="1">
                <a:solidFill>
                  <a:srgbClr val="0B2A4A"/>
                </a:solidFill>
                <a:latin typeface="Calibri"/>
              </a:rPr>
              <a:t>Tests: </a:t>
            </a:r>
            <a:r>
              <a:rPr sz="1400" b="0">
                <a:solidFill>
                  <a:srgbClr val="0B2A4A"/>
                </a:solidFill>
                <a:latin typeface="Calibri"/>
              </a:rPr>
              <a:t>10 passed in 2.71s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45720" rIns="45720">
            <a:spAutoFit/>
          </a:bodyPr>
          <a:lstStyle/>
          <a:p>
            <a:pPr algn="l"/>
            <a:r>
              <a:rPr sz="1200" b="1">
                <a:solidFill>
                  <a:srgbClr val="2F6FAE"/>
                </a:solidFill>
                <a:latin typeface="Calibri"/>
              </a:rPr>
              <a:t>SOURCES · MODULE 2 · EXTENDED</a:t>
            </a:r>
          </a:p>
        </p:txBody>
      </p:sp>
      <p:sp>
        <p:nvSpPr>
          <p:cNvPr id="3" name="TextBox 2"/>
          <p:cNvSpPr txBox="1"/>
          <p:nvPr/>
        </p:nvSpPr>
        <p:spPr>
          <a:xfrm>
            <a:off x="548640" y="566928"/>
            <a:ext cx="11064240" cy="731520"/>
          </a:xfrm>
          <a:prstGeom prst="rect">
            <a:avLst/>
          </a:prstGeom>
          <a:noFill/>
        </p:spPr>
        <p:txBody>
          <a:bodyPr wrap="square" anchor="t" lIns="45720" rIns="45720">
            <a:spAutoFit/>
          </a:bodyPr>
          <a:lstStyle/>
          <a:p>
            <a:pPr algn="l"/>
            <a:r>
              <a:rPr sz="3000" b="1">
                <a:solidFill>
                  <a:srgbClr val="0B2A4A"/>
                </a:solidFill>
                <a:latin typeface="Calibri"/>
              </a:rPr>
              <a:t>References</a:t>
            </a:r>
          </a:p>
        </p:txBody>
      </p:sp>
      <p:sp>
        <p:nvSpPr>
          <p:cNvPr id="4" name="TextBox 3"/>
          <p:cNvSpPr txBox="1"/>
          <p:nvPr/>
        </p:nvSpPr>
        <p:spPr>
          <a:xfrm>
            <a:off x="548640" y="6473952"/>
            <a:ext cx="9601200" cy="274320"/>
          </a:xfrm>
          <a:prstGeom prst="rect">
            <a:avLst/>
          </a:prstGeom>
          <a:noFill/>
        </p:spPr>
        <p:txBody>
          <a:bodyPr wrap="square" anchor="t" lIns="45720" rIns="45720">
            <a:spAutoFit/>
          </a:bodyPr>
          <a:lstStyle/>
          <a:p>
            <a:pPr algn="l"/>
            <a:r>
              <a:rPr sz="1000" b="0">
                <a:solidFill>
                  <a:srgbClr val="5F6B76"/>
                </a:solidFill>
                <a:latin typeface="Calibri"/>
              </a:rPr>
              <a:t>Simulation evidence only (openEMS, Mendeley) · Ansys HFSS not run · AI proposals are not simulated</a:t>
            </a:r>
          </a:p>
        </p:txBody>
      </p:sp>
      <p:sp>
        <p:nvSpPr>
          <p:cNvPr id="5" name="TextBox 4"/>
          <p:cNvSpPr txBox="1"/>
          <p:nvPr/>
        </p:nvSpPr>
        <p:spPr>
          <a:xfrm>
            <a:off x="10820095" y="6473952"/>
            <a:ext cx="822960" cy="274320"/>
          </a:xfrm>
          <a:prstGeom prst="rect">
            <a:avLst/>
          </a:prstGeom>
          <a:noFill/>
        </p:spPr>
        <p:txBody>
          <a:bodyPr wrap="square" anchor="t" lIns="45720" rIns="45720">
            <a:spAutoFit/>
          </a:bodyPr>
          <a:lstStyle/>
          <a:p>
            <a:pPr algn="r"/>
            <a:r>
              <a:rPr sz="1000" b="0">
                <a:solidFill>
                  <a:srgbClr val="5F6B76"/>
                </a:solidFill>
                <a:latin typeface="Calibri"/>
              </a:rPr>
              <a:t>21 / 21</a:t>
            </a:r>
          </a:p>
        </p:txBody>
      </p:sp>
      <p:sp>
        <p:nvSpPr>
          <p:cNvPr id="6" name="TextBox 5"/>
          <p:cNvSpPr txBox="1"/>
          <p:nvPr/>
        </p:nvSpPr>
        <p:spPr>
          <a:xfrm>
            <a:off x="548640" y="1371600"/>
            <a:ext cx="7818120" cy="4754880"/>
          </a:xfrm>
          <a:prstGeom prst="rect">
            <a:avLst/>
          </a:prstGeom>
          <a:noFill/>
        </p:spPr>
        <p:txBody>
          <a:bodyPr wrap="square">
            <a:spAutoFit/>
          </a:bodyPr>
          <a:lstStyle/>
          <a:p>
            <a:pPr>
              <a:spcAft>
                <a:spcPts val="400"/>
              </a:spcAft>
            </a:pPr>
            <a:r>
              <a:rPr sz="1300">
                <a:solidFill>
                  <a:srgbClr val="2F6FAE"/>
                </a:solidFill>
                <a:latin typeface="Calibri"/>
              </a:rPr>
              <a:t>▪  </a:t>
            </a:r>
            <a:r>
              <a:rPr sz="1300" b="0">
                <a:solidFill>
                  <a:srgbClr val="0B2A4A"/>
                </a:solidFill>
                <a:latin typeface="Calibri"/>
              </a:rPr>
              <a:t>LaBash et al. (2025) Rectangular patch antenna frequency-response dataset, arXiv:2505.18188 (MIT)</a:t>
            </a:r>
          </a:p>
          <a:p>
            <a:pPr>
              <a:spcAft>
                <a:spcPts val="400"/>
              </a:spcAft>
            </a:pPr>
            <a:r>
              <a:rPr sz="1300">
                <a:solidFill>
                  <a:srgbClr val="2F6FAE"/>
                </a:solidFill>
                <a:latin typeface="Calibri"/>
              </a:rPr>
              <a:t>▪  </a:t>
            </a:r>
            <a:r>
              <a:rPr sz="1300" b="0">
                <a:solidFill>
                  <a:srgbClr val="0B2A4A"/>
                </a:solidFill>
                <a:latin typeface="Calibri"/>
              </a:rPr>
              <a:t>Mihad, Islam &amp; Sojib (2024) Antenna Parameters Dataset v2, Mendeley Data, doi:10.17632/3gxr2vvd9n.2 (CC BY 4.0)</a:t>
            </a:r>
          </a:p>
          <a:p>
            <a:pPr>
              <a:spcAft>
                <a:spcPts val="400"/>
              </a:spcAft>
            </a:pPr>
            <a:r>
              <a:rPr sz="1300">
                <a:solidFill>
                  <a:srgbClr val="2F6FAE"/>
                </a:solidFill>
                <a:latin typeface="Calibri"/>
              </a:rPr>
              <a:t>▪  </a:t>
            </a:r>
            <a:r>
              <a:rPr sz="1300" b="0">
                <a:solidFill>
                  <a:srgbClr val="0B2A4A"/>
                </a:solidFill>
                <a:latin typeface="Calibri"/>
              </a:rPr>
              <a:t>Balanis, C. A. (2016) Antenna Theory: Analysis and Design, 4th ed., Wiley</a:t>
            </a:r>
          </a:p>
          <a:p>
            <a:pPr>
              <a:spcAft>
                <a:spcPts val="400"/>
              </a:spcAft>
            </a:pPr>
            <a:r>
              <a:rPr sz="1300">
                <a:solidFill>
                  <a:srgbClr val="2F6FAE"/>
                </a:solidFill>
                <a:latin typeface="Calibri"/>
              </a:rPr>
              <a:t>▪  </a:t>
            </a:r>
            <a:r>
              <a:rPr sz="1300" b="0">
                <a:solidFill>
                  <a:srgbClr val="0B2A4A"/>
                </a:solidFill>
                <a:latin typeface="Calibri"/>
              </a:rPr>
              <a:t>3GPP TS 38.101-1 - NR user equipment radio transmission and reception, Range 1</a:t>
            </a:r>
          </a:p>
          <a:p>
            <a:pPr>
              <a:spcAft>
                <a:spcPts val="400"/>
              </a:spcAft>
            </a:pPr>
            <a:r>
              <a:rPr sz="1300">
                <a:solidFill>
                  <a:srgbClr val="2F6FAE"/>
                </a:solidFill>
                <a:latin typeface="Calibri"/>
              </a:rPr>
              <a:t>▪  </a:t>
            </a:r>
            <a:r>
              <a:rPr sz="1300" b="0">
                <a:solidFill>
                  <a:srgbClr val="0B2A4A"/>
                </a:solidFill>
                <a:latin typeface="Calibri"/>
              </a:rPr>
              <a:t>Breiman, L. (2001) Random forests, Machine Learning 45(1)</a:t>
            </a:r>
          </a:p>
          <a:p>
            <a:pPr>
              <a:spcAft>
                <a:spcPts val="400"/>
              </a:spcAft>
            </a:pPr>
            <a:r>
              <a:rPr sz="1300">
                <a:solidFill>
                  <a:srgbClr val="2F6FAE"/>
                </a:solidFill>
                <a:latin typeface="Calibri"/>
              </a:rPr>
              <a:t>▪  </a:t>
            </a:r>
            <a:r>
              <a:rPr sz="1300" b="0">
                <a:solidFill>
                  <a:srgbClr val="0B2A4A"/>
                </a:solidFill>
                <a:latin typeface="Calibri"/>
              </a:rPr>
              <a:t>Ke, G. et al. (2017) LightGBM: a highly efficient gradient boosting decision tree, NeurIPS</a:t>
            </a:r>
          </a:p>
          <a:p>
            <a:pPr>
              <a:spcAft>
                <a:spcPts val="400"/>
              </a:spcAft>
            </a:pPr>
            <a:r>
              <a:rPr sz="1300">
                <a:solidFill>
                  <a:srgbClr val="2F6FAE"/>
                </a:solidFill>
                <a:latin typeface="Calibri"/>
              </a:rPr>
              <a:t>▪  </a:t>
            </a:r>
            <a:r>
              <a:rPr sz="1300" b="0">
                <a:solidFill>
                  <a:srgbClr val="0B2A4A"/>
                </a:solidFill>
                <a:latin typeface="Calibri"/>
              </a:rPr>
              <a:t>Pedregosa, F. et al. (2011) Scikit-learn: machine learning in Python, JMLR 12</a:t>
            </a:r>
          </a:p>
          <a:p>
            <a:pPr>
              <a:spcAft>
                <a:spcPts val="400"/>
              </a:spcAft>
            </a:pPr>
            <a:r>
              <a:rPr sz="1300">
                <a:solidFill>
                  <a:srgbClr val="2F6FAE"/>
                </a:solidFill>
                <a:latin typeface="Calibri"/>
              </a:rPr>
              <a:t>▪  </a:t>
            </a:r>
            <a:r>
              <a:rPr sz="1300" b="0">
                <a:solidFill>
                  <a:srgbClr val="0B2A4A"/>
                </a:solidFill>
                <a:latin typeface="Calibri"/>
              </a:rPr>
              <a:t>Deb, K. et al. (2002) NSGA-II, IEEE Trans. Evolutionary Computation 6(2)</a:t>
            </a:r>
          </a:p>
          <a:p>
            <a:pPr>
              <a:spcAft>
                <a:spcPts val="400"/>
              </a:spcAft>
            </a:pPr>
            <a:r>
              <a:rPr sz="1300">
                <a:solidFill>
                  <a:srgbClr val="2F6FAE"/>
                </a:solidFill>
                <a:latin typeface="Calibri"/>
              </a:rPr>
              <a:t>▪  </a:t>
            </a:r>
            <a:r>
              <a:rPr sz="1300" b="0">
                <a:solidFill>
                  <a:srgbClr val="0B2A4A"/>
                </a:solidFill>
                <a:latin typeface="Calibri"/>
              </a:rPr>
              <a:t>Blank, J. &amp; Deb, K. (2020) pymoo: multi-objective optimization in Python, IEEE Access 8</a:t>
            </a:r>
          </a:p>
          <a:p>
            <a:pPr>
              <a:spcAft>
                <a:spcPts val="400"/>
              </a:spcAft>
            </a:pPr>
            <a:r>
              <a:rPr sz="1300">
                <a:solidFill>
                  <a:srgbClr val="2F6FAE"/>
                </a:solidFill>
                <a:latin typeface="Calibri"/>
              </a:rPr>
              <a:t>▪  </a:t>
            </a:r>
            <a:r>
              <a:rPr sz="1300" b="0">
                <a:solidFill>
                  <a:srgbClr val="0B2A4A"/>
                </a:solidFill>
                <a:latin typeface="Calibri"/>
              </a:rPr>
              <a:t>Dosovitskiy, A. et al. (2021) An image is worth 16x16 words (ViT), ICLR</a:t>
            </a:r>
          </a:p>
          <a:p>
            <a:pPr>
              <a:spcAft>
                <a:spcPts val="400"/>
              </a:spcAft>
            </a:pPr>
            <a:r>
              <a:rPr sz="1300">
                <a:solidFill>
                  <a:srgbClr val="2F6FAE"/>
                </a:solidFill>
                <a:latin typeface="Calibri"/>
              </a:rPr>
              <a:t>▪  </a:t>
            </a:r>
            <a:r>
              <a:rPr sz="1300" b="0">
                <a:solidFill>
                  <a:srgbClr val="0B2A4A"/>
                </a:solidFill>
                <a:latin typeface="Calibri"/>
              </a:rPr>
              <a:t>Reiter, E. &amp; Dale, R. (2000) Building Natural Language Generation Systems, Cambridge University Press</a:t>
            </a:r>
          </a:p>
        </p:txBody>
      </p:sp>
      <p:sp>
        <p:nvSpPr>
          <p:cNvPr id="7" name="Note bubble"/>
          <p:cNvSpPr/>
          <p:nvPr/>
        </p:nvSpPr>
        <p:spPr>
          <a:xfrm>
            <a:off x="8641080" y="1417320"/>
            <a:ext cx="3017520" cy="2811780"/>
          </a:xfrm>
          <a:prstGeom prst="wedgeRoundRectCallout">
            <a:avLst>
              <a:gd name="adj1" fmla="val -60000"/>
              <a:gd name="adj2" fmla="val -30000"/>
              <a:gd name="adj3" fmla="val 16667"/>
            </a:avLst>
          </a:prstGeom>
          <a:solidFill>
            <a:srgbClr val="FFF8E6"/>
          </a:solidFill>
          <a:ln w="15875">
            <a:solidFill>
              <a:srgbClr val="E0B45A"/>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a:lstStyle/>
          <a:p>
            <a:pPr algn="ctr"/>
            <a:r>
              <a:rPr sz="1400" b="1">
                <a:solidFill>
                  <a:srgbClr val="8A5A00"/>
                </a:solidFill>
                <a:latin typeface="Calibri"/>
              </a:rPr>
              <a:t>Note</a:t>
            </a:r>
          </a:p>
          <a:p>
            <a:pPr>
              <a:spcBef>
                <a:spcPts val="500"/>
              </a:spcBef>
            </a:pPr>
            <a:r>
              <a:rPr sz="1300">
                <a:solidFill>
                  <a:srgbClr val="0B2A4A"/>
                </a:solidFill>
                <a:latin typeface="Calibri"/>
              </a:rPr>
              <a:t>Datasets are cited with their licences, as their terms require.</a:t>
            </a:r>
          </a:p>
          <a:p>
            <a:pPr>
              <a:spcBef>
                <a:spcPts val="500"/>
              </a:spcBef>
            </a:pPr>
            <a:r>
              <a:rPr sz="1300">
                <a:solidFill>
                  <a:srgbClr val="0B2A4A"/>
                </a:solidFill>
                <a:latin typeface="Calibri"/>
              </a:rPr>
              <a:t>Reiter &amp; Dale describe the data-to-text pipeline (content selection, realisation) used for the summaries.</a:t>
            </a:r>
          </a:p>
          <a:p>
            <a:pPr>
              <a:spcBef>
                <a:spcPts val="500"/>
              </a:spcBef>
            </a:pPr>
            <a:r>
              <a:rPr sz="1300">
                <a:solidFill>
                  <a:srgbClr val="0B2A4A"/>
                </a:solidFill>
                <a:latin typeface="Calibri"/>
              </a:rPr>
              <a:t>Full reference list and DOIs are in the Module 2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