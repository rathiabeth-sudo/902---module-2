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is the numerical-text branch of the framework. It replaces the slow simulator by a fast surrogate for screening, writes short engineering summaries that only restate computed numbers, tests whether numbers add to Module 1's image features, and uses the surrogate in an NSGA-II search for the 5G n78 band. H6 was pre-registered with the Module 1 hypotheses; E1 to E3 are evaluation criteria from the analysis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patch data give full S11 curves, which are reduced to four targets. The first matched resonance is used because the deepest dip is often a higher-order mode, as in this example. The Mendeley dataset adds slots, substrate and gain and efficiency outputs, but 245 rows are physically impossible and were flagged by a documented rule. References: LaBash et al. 2025 (arXiv:2505.18188); Mihad, Islam and Sojib 2024 (doi:10.17632/3gxr2vvd9n.2).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candidate regressors are compared per target and the best on validation MAE is kept. A deterministic template turns predictions into a paragraph, so it cannot invent numbers. Fusion concatenates the ViT embedding from Module 1 with five numeric features. NSGA-II (Deb et al. 2002, pymoo) minimises predicted S11 and area and maximises bandwidth with the predicted resonance constrained to n78.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values come from saved metric files. Outcomes: E1 Met: all four targets; weakest s11_min_db (4.81 vs 7.36); E2 Met: S11_dB 0.533 vs 1.089; Gain 0.513 vs 1.096; Rad_eff 0.026 vs 0.047; H6 Not supported: 0.737 vs 0.775 (numeric-only 0.716); E3 Met: 100 proposals, median distance to nearest simulated design 0.08 SD (surrogate only, not simulated). Resonance follows patch length smoothly; matching depth depends sharply on feed impedance, so it is predicted only moderately. On the wider OOD patches the surrogates break down, which is why NSGA-II is bounded to the training ranges. The image-only MLP (0.775) beats Module 1's own ViT head (0.581).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shows that parameter-based surrogates are fast and accurate for resonance and bandwidth, weaker for matching depth, and unreliable outside their training range. The optimised designs are hypotheses for full-wave verification. References: Breiman (2001) random forests; Deb et al. (2002) NSGA-II; Blank and Deb (2020) pymoo; 3GPP TS 38.101-1.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FE2F3"/>
                </a:solidFill>
                <a:latin typeface="Calibri"/>
              </a:rPr>
              <a:t>MODULE 2 · NUMERICAL-TEXT SURROGATE, FUSION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Can antenna parameters stand in for slow sweeps?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CFE2F3"/>
                </a:solidFill>
                <a:latin typeface="Calibri"/>
              </a:rPr>
              <a:t>Proof of concept on public simulation data (openEMS, Mendeley) · Ansys HFSS not run · proposals not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CFE2F3"/>
                </a:solidFill>
                <a:latin typeface="Calibri"/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CFE2F3"/>
                </a:solidFill>
                <a:latin typeface="Calibri"/>
              </a:rPr>
              <a:t>Numerical-text surrogate modelling, multimodal fusion and NSGA-II optimisation for compact patch antennas (5G / 6G)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766560" cy="393192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Problem, gap and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Every design iteration of a slotted / DGS patch needs a slow full-wave run (HFSS)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A fast surrogate can screen thousands of candidates, if its errors are known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Gap: surrogates rarely report out-of-range behaviour, or explain outputs in plain text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Objective: predict resonance, S11, bandwidth, gain and efficiency; summarise them; fuse with ViT features; optimise for n78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Scope: HFSS unavailable → proof of concept on open simulations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40690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5087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Hypothesis and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659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1">
                <a:solidFill>
                  <a:srgbClr val="0B2A4A"/>
                </a:solidFill>
                <a:latin typeface="Calibri"/>
              </a:rPr>
              <a:t>H6 </a:t>
            </a:r>
            <a:r>
              <a:rPr sz="1500" b="0">
                <a:solidFill>
                  <a:srgbClr val="0B2A4A"/>
                </a:solidFill>
                <a:latin typeface="Calibri"/>
              </a:rPr>
              <a:t>(pre-registered): image + numeric fusion beats image-only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1">
                <a:solidFill>
                  <a:srgbClr val="0B2A4A"/>
                </a:solidFill>
                <a:latin typeface="Calibri"/>
              </a:rPr>
              <a:t>E1 </a:t>
            </a:r>
            <a:r>
              <a:rPr sz="1500" b="0">
                <a:solidFill>
                  <a:srgbClr val="0B2A4A"/>
                </a:solidFill>
                <a:latin typeface="Calibri"/>
              </a:rPr>
              <a:t>surrogate beats the mean baseline on every target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1">
                <a:solidFill>
                  <a:srgbClr val="0B2A4A"/>
                </a:solidFill>
                <a:latin typeface="Calibri"/>
              </a:rPr>
              <a:t>E2 </a:t>
            </a:r>
            <a:r>
              <a:rPr sz="1500" b="0">
                <a:solidFill>
                  <a:srgbClr val="0B2A4A"/>
                </a:solidFill>
                <a:latin typeface="Calibri"/>
              </a:rPr>
              <a:t>slot geometry adds to frequency (Mendeley)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1">
                <a:solidFill>
                  <a:srgbClr val="0B2A4A"/>
                </a:solidFill>
                <a:latin typeface="Calibri"/>
              </a:rPr>
              <a:t>E3 </a:t>
            </a:r>
            <a:r>
              <a:rPr sz="1500" b="0">
                <a:solidFill>
                  <a:srgbClr val="0B2A4A"/>
                </a:solidFill>
                <a:latin typeface="Calibri"/>
              </a:rPr>
              <a:t>NSGA-II finds feasible n78 designs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343400"/>
            <a:ext cx="3611880" cy="128016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407408"/>
            <a:ext cx="338328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5F6B76"/>
                </a:solidFill>
                <a:latin typeface="Calibri"/>
              </a:rPr>
              <a:t>Real generated summary</a:t>
            </a:r>
          </a:p>
          <a:p>
            <a:pPr algn="l"/>
            <a:r>
              <a:rPr sz="1200" b="0">
                <a:solidFill>
                  <a:srgbClr val="5F6B76"/>
                </a:solidFill>
                <a:latin typeface="Calibri"/>
              </a:rPr>
              <a:t>“Predicted first matched resonance 3.57 GHz, inside 5G NR n78 … Simulated reference 3.54 GHz … requires full-wave verification.”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F6FAE"/>
                </a:solidFill>
                <a:latin typeface="Calibri"/>
              </a:rPr>
              <a:t>MODULE 2 · NUMERICAL-TEXT SURROGATE, FUSION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Two simulation datasets, targets extracted from 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Proof of concept on public simulation data (openEMS, Mendeley) · Ansys HFSS not run · proposals not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Calibri"/>
              </a:rPr>
              <a:t>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0B2A4A"/>
                </a:solidFill>
                <a:latin typeface="Calibri"/>
              </a:rPr>
              <a:t>2,051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F6B76"/>
                </a:solidFill>
                <a:latin typeface="Calibri"/>
              </a:rPr>
              <a:t>openEMS patch designs
Hugging Face · 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36192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0B2A4A"/>
                </a:solidFill>
                <a:latin typeface="Calibri"/>
              </a:rPr>
              <a:t>103 ×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F6B76"/>
                </a:solidFill>
                <a:latin typeface="Calibri"/>
              </a:rPr>
              <a:t>dual-slot designs × frequencies
Mendeley v2 · CC BY 4.0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36192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0B2A4A"/>
                </a:solidFill>
                <a:latin typeface="Calibri"/>
              </a:rPr>
              <a:t>245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F6B76"/>
                </a:solidFill>
                <a:latin typeface="Calibri"/>
              </a:rPr>
              <a:t>implausible solver rows
flagged by a fixed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6304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536192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0B2A4A"/>
                </a:solidFill>
                <a:latin typeface="Calibri"/>
              </a:rPr>
              <a:t>70 / 15 /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F6B76"/>
                </a:solidFill>
                <a:latin typeface="Calibri"/>
              </a:rPr>
              <a:t>1,220 · 262 · 262 + 307 OOD
split shared with Module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0B2A4A"/>
                </a:solidFill>
                <a:latin typeface="Calibri"/>
              </a:rPr>
              <a:t>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Targets: </a:t>
            </a:r>
            <a:r>
              <a:rPr sz="1400" b="0">
                <a:solidFill>
                  <a:srgbClr val="0B2A4A"/>
                </a:solidFill>
                <a:latin typeface="Calibri"/>
              </a:rPr>
              <a:t>first matched resonance, S11 min, S11 at resonance, −10 dB bandwidth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Mendeley: </a:t>
            </a:r>
            <a:r>
              <a:rPr sz="1400" b="0">
                <a:solidFill>
                  <a:srgbClr val="0B2A4A"/>
                </a:solidFill>
                <a:latin typeface="Calibri"/>
              </a:rPr>
              <a:t>S11, gain, radiation efficiency at 16 frequencies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Cleaning: </a:t>
            </a:r>
            <a:r>
              <a:rPr sz="1400" b="0">
                <a:solidFill>
                  <a:srgbClr val="0B2A4A"/>
                </a:solidFill>
                <a:latin typeface="Calibri"/>
              </a:rPr>
              <a:t>efficiency &gt; 1, gain &gt; directivity, D &gt; 20 dBi → excluded from gain / efficiency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Leakage control: </a:t>
            </a:r>
            <a:r>
              <a:rPr sz="1400" b="0">
                <a:solidFill>
                  <a:srgbClr val="0B2A4A"/>
                </a:solidFill>
                <a:latin typeface="Calibri"/>
              </a:rPr>
              <a:t>locked manifests; GroupKFold keeps a design's frequencies together</a:t>
            </a:r>
          </a:p>
        </p:txBody>
      </p:sp>
      <p:pic>
        <p:nvPicPr>
          <p:cNvPr id="20" name="Picture 19" descr="s11_target_ex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108960"/>
            <a:ext cx="5760720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F6FAE"/>
                </a:solidFill>
                <a:latin typeface="Calibri"/>
              </a:rPr>
              <a:t>MODULE 2 · NUMERICAL-TEXT SURROGATE, FUSION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Surrogate, text, fusion and NSGA-II in one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Proof of concept on public simulation data (openEMS, Mendeley) · Ansys HFSS not run · proposals not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Calibri"/>
              </a:rPr>
              <a:t>3 / 5</a:t>
            </a:r>
          </a:p>
        </p:txBody>
      </p:sp>
      <p:pic>
        <p:nvPicPr>
          <p:cNvPr id="6" name="Picture 5" descr="module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412480" cy="425784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89720" y="1371600"/>
            <a:ext cx="2468880" cy="434340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463040"/>
            <a:ext cx="2240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Key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874519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0">
                <a:solidFill>
                  <a:srgbClr val="0B2A4A"/>
                </a:solidFill>
                <a:latin typeface="Calibri"/>
              </a:rPr>
              <a:t>Random forest (400 trees) vs ridge vs gradient boosting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0">
                <a:solidFill>
                  <a:srgbClr val="0B2A4A"/>
                </a:solidFill>
                <a:latin typeface="Calibri"/>
              </a:rPr>
              <a:t>Selected on validation MAE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0">
                <a:solidFill>
                  <a:srgbClr val="0B2A4A"/>
                </a:solidFill>
                <a:latin typeface="Calibri"/>
              </a:rPr>
              <a:t>Template text: numbers only, never invented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0">
                <a:solidFill>
                  <a:srgbClr val="0B2A4A"/>
                </a:solidFill>
                <a:latin typeface="Calibri"/>
              </a:rPr>
              <a:t>Fusion MLP: 384-d ViT + 5 numeric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0">
                <a:solidFill>
                  <a:srgbClr val="0B2A4A"/>
                </a:solidFill>
                <a:latin typeface="Calibri"/>
              </a:rPr>
              <a:t>NSGA-II: 100 × 80 gen, 3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Input from Module 1: </a:t>
            </a:r>
            <a:r>
              <a:rPr sz="1400" b="0">
                <a:solidFill>
                  <a:srgbClr val="0B2A4A"/>
                </a:solidFill>
                <a:latin typeface="Calibri"/>
              </a:rPr>
              <a:t>only the 384-d embedding per design (with SHA-256 provenance). Dashed boxes need HFSS.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2F6FAE"/>
                </a:solidFill>
                <a:latin typeface="Calibri"/>
              </a:rPr>
              <a:t>MODULE 2 · NUMERICAL-TEXT SURROGATE, FUSION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Resonance is easy, matching depth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6"/>
                </a:solidFill>
                <a:latin typeface="Calibri"/>
              </a:rPr>
              <a:t>Proof of concept on public simulation data (openEMS, Mendeley) · Ansys HFSS not run · proposals not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6"/>
                </a:solidFill>
                <a:latin typeface="Calibri"/>
              </a:rPr>
              <a:t>4 /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66928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 (random forest)</a:t>
                      </a:r>
                    </a:p>
                  </a:txBody>
                  <a:tcPr marT="25000" marB="25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R²</a:t>
                      </a:r>
                    </a:p>
                  </a:txBody>
                  <a:tcPr marT="25000" marB="25000"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OOD R²</a:t>
                      </a:r>
                    </a:p>
                  </a:txBody>
                  <a:tcPr marT="25000" marB="25000" anchor="ctr"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First matched resonance (GHz)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Minimum S11 (dB)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S11 at resonance (dB)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-1.54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−10 dB bandwidth (MHz)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-3.72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Mendeley S11 (grouped CV)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Mendeley Gain (grouped CV)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5000" marB="25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Mendeley Radiation efficiency (grouped CV)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B2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T="25000" marB="25000" anchor="ctr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251960"/>
            <a:ext cx="5669280" cy="1508760"/>
          </a:xfrm>
          <a:prstGeom prst="roundRect">
            <a:avLst>
              <a:gd name="adj" fmla="val 6000"/>
            </a:avLst>
          </a:prstGeom>
          <a:solidFill>
            <a:srgbClr val="EAF2FA"/>
          </a:solidFill>
          <a:ln w="12700">
            <a:solidFill>
              <a:srgbClr val="C9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15968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E1, E2 met: </a:t>
            </a:r>
            <a:r>
              <a:rPr sz="1400" b="0">
                <a:solidFill>
                  <a:srgbClr val="0B2A4A"/>
                </a:solidFill>
                <a:latin typeface="Calibri"/>
              </a:rPr>
              <a:t>geometry halves the frequency-only error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H6 not supported: </a:t>
            </a:r>
            <a:r>
              <a:rPr sz="1400" b="0">
                <a:solidFill>
                  <a:srgbClr val="0B2A4A"/>
                </a:solidFill>
                <a:latin typeface="Calibri"/>
              </a:rPr>
              <a:t>fusion 0.737 &lt; image-only 0.775 (numeric 0.716)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E3 met: </a:t>
            </a:r>
            <a:r>
              <a:rPr sz="1400" b="0">
                <a:solidFill>
                  <a:srgbClr val="0B2A4A"/>
                </a:solidFill>
                <a:latin typeface="Calibri"/>
              </a:rPr>
              <a:t>100 n78 proposals, 299–2754 mm², not simulated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F6FAE"/>
                </a:solidFill>
                <a:latin typeface="Calibri"/>
              </a:rPr>
              <a:t>▪  </a:t>
            </a:r>
            <a:r>
              <a:rPr sz="1400" b="1">
                <a:solidFill>
                  <a:srgbClr val="0B2A4A"/>
                </a:solidFill>
                <a:latin typeface="Calibri"/>
              </a:rPr>
              <a:t>Caveat: </a:t>
            </a:r>
            <a:r>
              <a:rPr sz="1400" b="0">
                <a:solidFill>
                  <a:srgbClr val="0B2A4A"/>
                </a:solidFill>
                <a:latin typeface="Calibri"/>
              </a:rPr>
              <a:t>surrogates fail outside the training range (OOD)</a:t>
            </a:r>
          </a:p>
        </p:txBody>
      </p:sp>
      <p:pic>
        <p:nvPicPr>
          <p:cNvPr id="9" name="Picture 8" descr="numerical_parity_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5212080" cy="1320394"/>
          </a:xfrm>
          <a:prstGeom prst="rect">
            <a:avLst/>
          </a:prstGeom>
        </p:spPr>
      </p:pic>
      <p:pic>
        <p:nvPicPr>
          <p:cNvPr id="10" name="Picture 9" descr="nsga2_pareto_n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880360"/>
            <a:ext cx="4695338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FE2F3"/>
                </a:solidFill>
                <a:latin typeface="Calibri"/>
              </a:rPr>
              <a:t>MODULE 2 · NUMERICAL-TEXT SURROGATE, FUSION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traceable surrogate pipeline, ready for HFSS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CFE2F3"/>
                </a:solidFill>
                <a:latin typeface="Calibri"/>
              </a:rPr>
              <a:t>Proof of concept on public simulation data (openEMS, Mendeley) · Ansys HFSS not run · proposals not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CFE2F3"/>
                </a:solidFill>
                <a:latin typeface="Calibri"/>
              </a:rPr>
              <a:t>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31546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Executed surrogate, text, fusion and NSGA-II pipeline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Every summary number traceable to a model or simulation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OOD test exposes where surrogates cannot be trusted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Embeddings show Module 1's features are strong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520440" cy="31546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72768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No slots / DGS in the patch data; Mendeley is one-at-a-time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Simulation only; no HFSS, no measurement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Matching-depth R² only about 0.5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Proposals unverified and close to existing designs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520440" cy="3154680"/>
          </a:xfrm>
          <a:prstGeom prst="roundRect">
            <a:avLst>
              <a:gd name="adj" fmla="val 6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572768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Next: HFSS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Space-filling DGS sweep via PyAEDT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Uncertainty-aware surrogate for NSGA-II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Re-simulate proposals; active learning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F6FAE"/>
                </a:solidFill>
                <a:latin typeface="Calibri"/>
              </a:rPr>
              <a:t>▪  </a:t>
            </a:r>
            <a:r>
              <a:rPr sz="1500" b="0">
                <a:solidFill>
                  <a:srgbClr val="FFFFFF"/>
                </a:solidFill>
                <a:latin typeface="Calibri"/>
              </a:rPr>
              <a:t>Fabricate and measure a shortlist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Deliverables: </a:t>
            </a:r>
            <a:r>
              <a:rPr sz="1400" b="0">
                <a:solidFill>
                  <a:srgbClr val="0B2A4A"/>
                </a:solidFill>
                <a:latin typeface="Calibri"/>
              </a:rPr>
              <a:t>code, configs, 10 passing tests, data and model cards, Word/PDF/LaTeX report, this deck, poster</a:t>
            </a:r>
          </a:p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GitHub: </a:t>
            </a:r>
            <a:r>
              <a:rPr sz="1400" b="0">
                <a:solidFill>
                  <a:srgbClr val="2F6FAE"/>
                </a:solidFill>
                <a:latin typeface="Calibri"/>
              </a:rPr>
              <a:t>https://github.com/rathiabeth/module2-numerical-surrogate-antenna-design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